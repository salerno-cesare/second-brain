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6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B28049-0CE1-478C-435F-841E6FC8A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3FD5775-CFC2-EFAA-1A7B-D7814B3518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B697D4A-24F5-21A9-4B43-3ED2C8A45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389A-1097-459A-822F-8C5035E7C08A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9556E20-5D8B-7C8A-BF9B-D0AE35861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4BAEFC4-12D8-3AED-4F0B-63BF1362C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7D2DB-0F63-4322-8002-6A9240F8DF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715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F35006-6BBE-02F6-3168-300C4CE8D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1F0C6E-D2AD-E3D1-67C4-39EB327A1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CEDB0FD-DB26-479F-CED7-3511DD959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389A-1097-459A-822F-8C5035E7C08A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B045F5B-EC16-0CEB-5A31-D8997E743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047F997-FEE9-02A5-2BA7-7E5079AAA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7D2DB-0F63-4322-8002-6A9240F8DF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996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EF6FAF-0058-C2FB-8D89-2FBA93042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BE6B868-7F1B-726D-467C-805CDE236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676716-5BD0-9DB7-74C5-6844A082D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389A-1097-459A-822F-8C5035E7C08A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876877F-CDF2-2C2F-70ED-3B7C9CD66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6E7AD79-5990-9E98-B9E1-36BA636AD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7D2DB-0F63-4322-8002-6A9240F8DF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7103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9F1475-86C0-1903-D9CA-3E6BEA012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27844F-29D3-C633-A47C-1617A37EC0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1B63B01-9966-2822-B307-A24F554C0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F30DCE3-4BAB-72DB-806A-3CB2C53B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389A-1097-459A-822F-8C5035E7C08A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AFCB646-AB79-378B-4BC3-5C9481A3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D3C998D-573C-9146-81C2-B74E339AD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7D2DB-0F63-4322-8002-6A9240F8DF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2072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F3608A-8AC1-CC1F-9F9A-5B572E9F7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5B4B75C-8805-798F-9BE4-F406E9D8D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361BD24-77A0-10B5-39CD-D016D16BA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395BF48-E477-4893-C7E6-89483565D6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0321FCC-CE27-A9CF-AC12-4B269D6E0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3EC7F0C-7E1C-EF86-E8FB-1ADFCBC48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389A-1097-459A-822F-8C5035E7C08A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03A39AF-66CF-819C-5CAE-074D79538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15EFC34-29F5-5788-1689-EC4F92944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7D2DB-0F63-4322-8002-6A9240F8DF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530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DCB9FA-8051-5A17-FBDB-5348DAEB2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90993DD-0259-397C-3574-541C85592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389A-1097-459A-822F-8C5035E7C08A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DE351C8-7231-10ED-4F3C-BA58F2C6C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51EBCC4-5E14-E7D3-35E6-CE793F9E1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7D2DB-0F63-4322-8002-6A9240F8DF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9310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E274933-F698-44CE-35B1-B33FCCD71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389A-1097-459A-822F-8C5035E7C08A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ECBFBC6-644A-B108-66D9-EAFCF5B81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0E775CB-CE36-5ABE-BE7E-B19855E9F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7D2DB-0F63-4322-8002-6A9240F8DF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381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1BF626-7722-E25A-35F5-8BE63CA86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0DD4A83-6261-0875-240C-AED0CFA36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F910573-CA4A-A1FB-E80C-3B2543162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7131C2D-EEA4-03B1-02D8-EAC1DABF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389A-1097-459A-822F-8C5035E7C08A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1228A2D-C5D0-BEE7-B2FD-3B73E545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F877E2E-5AEC-B12C-7FCC-A42F8EA65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7D2DB-0F63-4322-8002-6A9240F8DF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8987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C9569A-4DFC-9625-7FD5-1CE7BFCAC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17B7C5B-C16D-1606-0ABD-6A4665ABD1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6EF7D08-20E0-F05C-F8F8-F7E8E14A6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8C7B6B3-5481-2335-D962-F789591E0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389A-1097-459A-822F-8C5035E7C08A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DC3C340-BA60-71A3-CD39-645BF97B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01C17C2-B896-9700-2BC4-2D98A23E7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7D2DB-0F63-4322-8002-6A9240F8DF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5962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242160-CD01-95A6-D3A0-2AF946167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A01B4ED-4F91-41C7-9CCD-E0A0469F31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EBD269E-A5F9-A4C0-1288-A9FE782C1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389A-1097-459A-822F-8C5035E7C08A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32CA80F-62F5-75FC-2FCD-48084E458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C979AAD-9B94-79DD-C15B-8AF29D325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7D2DB-0F63-4322-8002-6A9240F8DF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3266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EAFDEF1-7F3F-FCC3-5652-37A0135EC1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55095E6-423C-2F81-4949-BB3F945C9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59852B3-F41C-CA76-2E83-2EC598A83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389A-1097-459A-822F-8C5035E7C08A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5BF218-EC50-87E2-B36E-594BCCE34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FC1CE1E-5857-AC6E-F1D6-2E2ADD572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7D2DB-0F63-4322-8002-6A9240F8DF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3703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FF49CF3-A188-AD4D-777B-FD158E5FF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75EB122-2CDE-3BAF-76A1-1BB8504B0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8BD5A9-973B-125A-027A-A166E1158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00389A-1097-459A-822F-8C5035E7C08A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E527265-70E2-9553-A52C-6C0CD46C82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EC27AE5-9ED8-32B8-3A18-CF9FBC571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F7D2DB-0F63-4322-8002-6A9240F8DF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3954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96605741-E702-6F25-1E0D-03507CC24897}"/>
              </a:ext>
            </a:extLst>
          </p:cNvPr>
          <p:cNvSpPr txBox="1"/>
          <p:nvPr/>
        </p:nvSpPr>
        <p:spPr>
          <a:xfrm>
            <a:off x="323850" y="2762250"/>
            <a:ext cx="480060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OPEN INNOVATION PRACTICES (Q13 </a:t>
            </a:r>
            <a:r>
              <a:rPr lang="it-IT" i="1" dirty="0"/>
              <a:t>to be </a:t>
            </a:r>
            <a:r>
              <a:rPr lang="it-IT" i="1" dirty="0" err="1"/>
              <a:t>reversed</a:t>
            </a:r>
            <a:r>
              <a:rPr lang="it-IT" dirty="0"/>
              <a:t>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87678A1-2A9B-8723-BAD7-CCD3917F2DE4}"/>
              </a:ext>
            </a:extLst>
          </p:cNvPr>
          <p:cNvSpPr txBox="1"/>
          <p:nvPr/>
        </p:nvSpPr>
        <p:spPr>
          <a:xfrm>
            <a:off x="323849" y="3933825"/>
            <a:ext cx="480060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INNOVATIVENESS (Q12)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34559B4-5AA5-5FC9-C42B-36DC02215C16}"/>
              </a:ext>
            </a:extLst>
          </p:cNvPr>
          <p:cNvSpPr txBox="1"/>
          <p:nvPr/>
        </p:nvSpPr>
        <p:spPr>
          <a:xfrm>
            <a:off x="8534400" y="3933825"/>
            <a:ext cx="28956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REVENUE GROWTH (Q4_2)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948AFDB-6639-C141-4625-84B1055DFBA3}"/>
              </a:ext>
            </a:extLst>
          </p:cNvPr>
          <p:cNvSpPr txBox="1"/>
          <p:nvPr/>
        </p:nvSpPr>
        <p:spPr>
          <a:xfrm>
            <a:off x="323850" y="4828401"/>
            <a:ext cx="4800601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TECHNOLOGICAL RESOURCES (Q14)</a:t>
            </a:r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ADVANCED ICT (AI, CYBER, CLOUD)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INDUSTRY 5.0 (ROBOTICS, IOT, BLOCKCHAIN,NANOMICROELETTRONICA)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GREEN TECHNOLOGIES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7B3B10B-4BC3-6829-F817-9E1EB97C45C8}"/>
              </a:ext>
            </a:extLst>
          </p:cNvPr>
          <p:cNvSpPr txBox="1"/>
          <p:nvPr/>
        </p:nvSpPr>
        <p:spPr>
          <a:xfrm>
            <a:off x="3419475" y="142875"/>
            <a:ext cx="535305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ANALYSIS CONDUCTED ONLY ON 311 STARTUPS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5B364CDA-9DF5-A665-6DAD-74C605437659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5124451" y="3085416"/>
            <a:ext cx="3409949" cy="10330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E238933C-BEEC-A899-D7C1-07B603BA251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124450" y="4118491"/>
            <a:ext cx="34099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2CCC109E-892C-5ABB-B77D-226C9A1A66B0}"/>
              </a:ext>
            </a:extLst>
          </p:cNvPr>
          <p:cNvCxnSpPr>
            <a:cxnSpLocks/>
            <a:stCxn id="19" idx="3"/>
            <a:endCxn id="6" idx="1"/>
          </p:cNvCxnSpPr>
          <p:nvPr/>
        </p:nvCxnSpPr>
        <p:spPr>
          <a:xfrm flipV="1">
            <a:off x="4419600" y="4118491"/>
            <a:ext cx="4114800" cy="1433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3821CE26-3B78-2DE2-6633-A58E49F71D2B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4991100" y="4299554"/>
            <a:ext cx="3676650" cy="16682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ttangolo 18">
            <a:extLst>
              <a:ext uri="{FF2B5EF4-FFF2-40B4-BE49-F238E27FC236}">
                <a16:creationId xmlns:a16="http://schemas.microsoft.com/office/drawing/2014/main" id="{77C0B991-8741-AF16-76D7-9A962257AA98}"/>
              </a:ext>
            </a:extLst>
          </p:cNvPr>
          <p:cNvSpPr/>
          <p:nvPr/>
        </p:nvSpPr>
        <p:spPr>
          <a:xfrm>
            <a:off x="638175" y="5427792"/>
            <a:ext cx="3781425" cy="2491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DB4771BB-6C69-1D31-207C-C9FE0D08FE51}"/>
              </a:ext>
            </a:extLst>
          </p:cNvPr>
          <p:cNvSpPr/>
          <p:nvPr/>
        </p:nvSpPr>
        <p:spPr>
          <a:xfrm>
            <a:off x="638175" y="5733409"/>
            <a:ext cx="4352925" cy="4687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6CA056F0-B6B6-7959-779E-37083E561ED1}"/>
              </a:ext>
            </a:extLst>
          </p:cNvPr>
          <p:cNvSpPr/>
          <p:nvPr/>
        </p:nvSpPr>
        <p:spPr>
          <a:xfrm>
            <a:off x="638175" y="6258653"/>
            <a:ext cx="3781425" cy="3050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639AA8DD-15F9-C520-1712-6B285E926FFF}"/>
              </a:ext>
            </a:extLst>
          </p:cNvPr>
          <p:cNvCxnSpPr>
            <a:cxnSpLocks/>
            <a:stCxn id="21" idx="3"/>
            <a:endCxn id="6" idx="2"/>
          </p:cNvCxnSpPr>
          <p:nvPr/>
        </p:nvCxnSpPr>
        <p:spPr>
          <a:xfrm flipV="1">
            <a:off x="4419600" y="4303157"/>
            <a:ext cx="5562600" cy="2108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459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573DE667-B182-FC43-F979-55AD3138B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232" y="947391"/>
            <a:ext cx="6525536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184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FB71AA14-D26F-F031-618E-330DDCE95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716" y="1749036"/>
            <a:ext cx="7125694" cy="2314898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62DC5194-6700-5960-3023-4D3DDE0CA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945" y="273745"/>
            <a:ext cx="5239481" cy="1171739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63925899-7D5D-3F7D-C342-8ADC377D3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77619"/>
            <a:ext cx="12192000" cy="1469487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2D70672C-68DD-CB1F-B000-0718EFA132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292" y="586824"/>
            <a:ext cx="4058216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731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CF6D8776-68F9-2119-1F07-DFBA774A9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968" y="694943"/>
            <a:ext cx="7078063" cy="5468113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34B09DC7-08AA-75C5-15E0-8AFAA165D2B1}"/>
              </a:ext>
            </a:extLst>
          </p:cNvPr>
          <p:cNvSpPr txBox="1"/>
          <p:nvPr/>
        </p:nvSpPr>
        <p:spPr>
          <a:xfrm>
            <a:off x="6096000" y="1530220"/>
            <a:ext cx="1918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NON SIGNIFICATIVA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6B83811-D97F-2E4C-018D-82FC4AEB1A0B}"/>
              </a:ext>
            </a:extLst>
          </p:cNvPr>
          <p:cNvSpPr txBox="1"/>
          <p:nvPr/>
        </p:nvSpPr>
        <p:spPr>
          <a:xfrm>
            <a:off x="5203372" y="2485052"/>
            <a:ext cx="1918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B050"/>
                </a:solidFill>
              </a:rPr>
              <a:t>POSITIVAMENTE SIGNIFICATIVA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92952AE-40CF-B026-3969-0F786BAA619F}"/>
              </a:ext>
            </a:extLst>
          </p:cNvPr>
          <p:cNvSpPr txBox="1"/>
          <p:nvPr/>
        </p:nvSpPr>
        <p:spPr>
          <a:xfrm>
            <a:off x="5812972" y="4358284"/>
            <a:ext cx="1918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FFC000"/>
                </a:solidFill>
              </a:rPr>
              <a:t>NEGATIVAMENTE SIGNIFICATIVA</a:t>
            </a:r>
          </a:p>
        </p:txBody>
      </p:sp>
    </p:spTree>
    <p:extLst>
      <p:ext uri="{BB962C8B-B14F-4D97-AF65-F5344CB8AC3E}">
        <p14:creationId xmlns:p14="http://schemas.microsoft.com/office/powerpoint/2010/main" val="16548186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57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 GIGLIO</dc:creator>
  <cp:lastModifiedBy>CARLO GIGLIO</cp:lastModifiedBy>
  <cp:revision>8</cp:revision>
  <dcterms:created xsi:type="dcterms:W3CDTF">2026-02-03T23:37:54Z</dcterms:created>
  <dcterms:modified xsi:type="dcterms:W3CDTF">2026-05-26T22:38:34Z</dcterms:modified>
</cp:coreProperties>
</file>