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75" r:id="rId4"/>
    <p:sldMasterId id="2147484182" r:id="rId5"/>
    <p:sldMasterId id="2147484251" r:id="rId6"/>
  </p:sldMasterIdLst>
  <p:notesMasterIdLst>
    <p:notesMasterId r:id="rId18"/>
  </p:notesMasterIdLst>
  <p:handoutMasterIdLst>
    <p:handoutMasterId r:id="rId19"/>
  </p:handoutMasterIdLst>
  <p:sldIdLst>
    <p:sldId id="256" r:id="rId7"/>
    <p:sldId id="257" r:id="rId8"/>
    <p:sldId id="258" r:id="rId9"/>
    <p:sldId id="259" r:id="rId10"/>
    <p:sldId id="260" r:id="rId11"/>
    <p:sldId id="261" r:id="rId12"/>
    <p:sldId id="266" r:id="rId13"/>
    <p:sldId id="264" r:id="rId14"/>
    <p:sldId id="265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5" orient="horz" pos="3984" userDrawn="1">
          <p15:clr>
            <a:srgbClr val="A4A3A4"/>
          </p15:clr>
        </p15:guide>
        <p15:guide id="6" orient="horz" pos="18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  <p15:guide id="8" orient="horz" pos="19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95404C-A7BE-FC70-EE89-EBE36D82CF8E}" name="Renschi Marais" initials="RM" userId="S::renschi.marais@global.ntt::befb9f5c-78bf-4e8d-a329-fcef54fe93f4" providerId="AD"/>
  <p188:author id="{C6EAA887-68B4-5E96-11E6-5DB70CE6BCF9}" name="Melissa Davidson" initials="MD" userId="S::melissa.davidson@global.ntt::90ab4fa7-413d-4469-8f01-6d10a7ee0b31" providerId="AD"/>
  <p188:author id="{50799EA2-0F81-D86B-14DA-20F47A76FAF5}" name="Henrietta Lacey-Gutsell" initials="HL" userId="70b1f3bbeff9bb74" providerId="Windows Live"/>
  <p188:author id="{553198A8-AE1E-AD66-F4A6-3FED38F96F75}" name="Ellen Hassett Cahill" initials="EH" userId="S::259272@NTTDATA.COM::f846f2b2-854b-45df-bd03-b20186d9fba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094"/>
    <a:srgbClr val="050D24"/>
    <a:srgbClr val="E5E5E5"/>
    <a:srgbClr val="19A3FC"/>
    <a:srgbClr val="000000"/>
    <a:srgbClr val="FFFFFF"/>
    <a:srgbClr val="0072BC"/>
    <a:srgbClr val="009AA4"/>
    <a:srgbClr val="007076"/>
    <a:srgbClr val="2E4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45E2D-FE17-40A7-839D-52160D4A882D}" v="5" dt="2026-07-29T16:18:18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1837"/>
        <p:guide pos="3840"/>
        <p:guide pos="240"/>
        <p:guide pos="7440"/>
        <p:guide orient="horz" pos="3984"/>
        <p:guide orient="horz" pos="182"/>
        <p:guide orient="horz" pos="864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MUSMANNO" userId="e5f53ad3-e5e2-4f6c-826c-f2124de6d8f0" providerId="ADAL" clId="{B7A41415-7B14-4626-A9DF-4F23A07B893D}"/>
    <pc:docChg chg="undo custSel addSld delSld modSld sldOrd modMainMaster addSection delSection modSection">
      <pc:chgData name="FRANCESCO MUSMANNO" userId="e5f53ad3-e5e2-4f6c-826c-f2124de6d8f0" providerId="ADAL" clId="{B7A41415-7B14-4626-A9DF-4F23A07B893D}" dt="2026-07-03T10:52:55.337" v="10371" actId="108"/>
      <pc:docMkLst>
        <pc:docMk/>
      </pc:docMkLst>
      <pc:sldMasterChg chg="addSldLayout">
        <pc:chgData name="FRANCESCO MUSMANNO" userId="e5f53ad3-e5e2-4f6c-826c-f2124de6d8f0" providerId="ADAL" clId="{B7A41415-7B14-4626-A9DF-4F23A07B893D}" dt="2026-07-03T10:32:54.886" v="10053"/>
        <pc:sldMasterMkLst>
          <pc:docMk/>
          <pc:sldMasterMk cId="674052129" sldId="2147484182"/>
        </pc:sldMasterMkLst>
        <pc:sldLayoutChg chg="add">
          <pc:chgData name="FRANCESCO MUSMANNO" userId="e5f53ad3-e5e2-4f6c-826c-f2124de6d8f0" providerId="ADAL" clId="{B7A41415-7B14-4626-A9DF-4F23A07B893D}" dt="2026-07-03T10:32:54.886" v="10053"/>
          <pc:sldLayoutMkLst>
            <pc:docMk/>
            <pc:sldMasterMk cId="674052129" sldId="2147484182"/>
            <pc:sldLayoutMk cId="1888250806" sldId="2147484249"/>
          </pc:sldLayoutMkLst>
        </pc:sldLayoutChg>
      </pc:sldMasterChg>
    </pc:docChg>
  </pc:docChgLst>
  <pc:docChgLst>
    <pc:chgData name="De Maestri, Riccardo" userId="56fdb4e5-66d0-4011-8588-f4194f0c73f2" providerId="ADAL" clId="{22B24015-B47D-4ADF-BF9B-312B8220BC17}"/>
    <pc:docChg chg="custSel mod addSld delSld modSld sldOrd">
      <pc:chgData name="De Maestri, Riccardo" userId="56fdb4e5-66d0-4011-8588-f4194f0c73f2" providerId="ADAL" clId="{22B24015-B47D-4ADF-BF9B-312B8220BC17}" dt="2026-07-29T16:19:30.796" v="12" actId="478"/>
      <pc:docMkLst>
        <pc:docMk/>
      </pc:docMkLst>
      <pc:sldChg chg="ord">
        <pc:chgData name="De Maestri, Riccardo" userId="56fdb4e5-66d0-4011-8588-f4194f0c73f2" providerId="ADAL" clId="{22B24015-B47D-4ADF-BF9B-312B8220BC17}" dt="2026-07-29T16:13:27.382" v="7"/>
        <pc:sldMkLst>
          <pc:docMk/>
          <pc:sldMk cId="0" sldId="262"/>
        </pc:sldMkLst>
      </pc:sldChg>
      <pc:sldChg chg="delSp add mod setBg">
        <pc:chgData name="De Maestri, Riccardo" userId="56fdb4e5-66d0-4011-8588-f4194f0c73f2" providerId="ADAL" clId="{22B24015-B47D-4ADF-BF9B-312B8220BC17}" dt="2026-07-29T16:19:30.796" v="12" actId="478"/>
        <pc:sldMkLst>
          <pc:docMk/>
          <pc:sldMk cId="0" sldId="264"/>
        </pc:sldMkLst>
        <pc:picChg chg="del">
          <ac:chgData name="De Maestri, Riccardo" userId="56fdb4e5-66d0-4011-8588-f4194f0c73f2" providerId="ADAL" clId="{22B24015-B47D-4ADF-BF9B-312B8220BC17}" dt="2026-07-29T16:19:30.796" v="12" actId="478"/>
          <ac:picMkLst>
            <pc:docMk/>
            <pc:sldMk cId="0" sldId="264"/>
            <ac:picMk id="28" creationId="{9734DDCD-E917-930B-34B4-D9B85CBFA56F}"/>
          </ac:picMkLst>
        </pc:picChg>
      </pc:sldChg>
      <pc:sldChg chg="add del setBg">
        <pc:chgData name="De Maestri, Riccardo" userId="56fdb4e5-66d0-4011-8588-f4194f0c73f2" providerId="ADAL" clId="{22B24015-B47D-4ADF-BF9B-312B8220BC17}" dt="2026-07-29T16:12:15.664" v="5"/>
        <pc:sldMkLst>
          <pc:docMk/>
          <pc:sldMk cId="0" sldId="265"/>
        </pc:sldMkLst>
      </pc:sldChg>
      <pc:sldChg chg="delSp add mod ord setBg">
        <pc:chgData name="De Maestri, Riccardo" userId="56fdb4e5-66d0-4011-8588-f4194f0c73f2" providerId="ADAL" clId="{22B24015-B47D-4ADF-BF9B-312B8220BC17}" dt="2026-07-29T16:18:38.739" v="11" actId="478"/>
        <pc:sldMkLst>
          <pc:docMk/>
          <pc:sldMk cId="0" sldId="266"/>
        </pc:sldMkLst>
        <pc:picChg chg="del">
          <ac:chgData name="De Maestri, Riccardo" userId="56fdb4e5-66d0-4011-8588-f4194f0c73f2" providerId="ADAL" clId="{22B24015-B47D-4ADF-BF9B-312B8220BC17}" dt="2026-07-29T16:18:38.739" v="11" actId="478"/>
          <ac:picMkLst>
            <pc:docMk/>
            <pc:sldMk cId="0" sldId="266"/>
            <ac:picMk id="11" creationId="{00000000-0000-0000-0000-000000000000}"/>
          </ac:picMkLst>
        </pc:picChg>
      </pc:sldChg>
    </pc:docChg>
  </pc:docChgLst>
  <pc:docChgLst>
    <pc:chgData name="CESARE SALERNO" userId="22e026cd-c4e1-4231-8421-045c06cc7edf" providerId="ADAL" clId="{99F8FF1A-A72A-4619-A85F-6E0162BE768F}"/>
    <pc:docChg chg="custSel addSld delSld modSld delMainMaster">
      <pc:chgData name="CESARE SALERNO" userId="22e026cd-c4e1-4231-8421-045c06cc7edf" providerId="ADAL" clId="{99F8FF1A-A72A-4619-A85F-6E0162BE768F}" dt="2026-07-28T07:23:18.493" v="5" actId="20577"/>
      <pc:docMkLst>
        <pc:docMk/>
      </pc:docMkLst>
      <pc:sldChg chg="modSp mod">
        <pc:chgData name="CESARE SALERNO" userId="22e026cd-c4e1-4231-8421-045c06cc7edf" providerId="ADAL" clId="{99F8FF1A-A72A-4619-A85F-6E0162BE768F}" dt="2026-07-28T07:23:18.493" v="5" actId="20577"/>
        <pc:sldMkLst>
          <pc:docMk/>
          <pc:sldMk cId="0" sldId="261"/>
        </pc:sldMkLst>
        <pc:spChg chg="mod">
          <ac:chgData name="CESARE SALERNO" userId="22e026cd-c4e1-4231-8421-045c06cc7edf" providerId="ADAL" clId="{99F8FF1A-A72A-4619-A85F-6E0162BE768F}" dt="2026-07-28T07:23:18.493" v="5" actId="20577"/>
          <ac:spMkLst>
            <pc:docMk/>
            <pc:sldMk cId="0" sldId="261"/>
            <ac:spMk id="2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5F3CF2-0D2F-62EB-F9FA-5289929439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D0CDA-4A74-7373-1A98-BA772C315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BF9E0-02C4-234E-AF12-F32F5E61E023}" type="datetimeFigureOut">
              <a:rPr lang="en-US" smtClean="0">
                <a:latin typeface="Arial" panose="020B0604020202020204" pitchFamily="34" charset="0"/>
              </a:rPr>
              <a:t>7/29/2026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38906-40BE-6961-6268-E0C407BC82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C8528-A8AA-EDCA-B140-81A4C4FD12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23CE-3F45-1C4A-8C37-B8E64C81DE38}" type="slidenum">
              <a:rPr lang="en-US" smtClean="0">
                <a:latin typeface="Arial" panose="020B0604020202020204" pitchFamily="34" charset="0"/>
              </a:rPr>
              <a:t>‹N›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460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BACC3CC-056C-4C7B-97E3-8A853401A333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ABF52DC-EC59-4DE1-BAC7-23B3848E6B8A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3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 noProof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/>
              <a:t>Click to add image.</a:t>
            </a:r>
            <a:br>
              <a:rPr lang="en-US" noProof="0"/>
            </a:br>
            <a:r>
              <a:rPr lang="en-US" noProof="0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6CF4C396-FB7A-4611-B9A9-DD62A7F1A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0574" y="3733800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3BAD1A6-AE36-4EC7-E8E9-E68CE84F067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/>
          <a:p>
            <a:r>
              <a:rPr lang="en-US" noProof="0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6B8D68FD-3EFC-86B8-83A6-942558B1B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639E6271-C556-3CDE-4CA2-0E42C3B98DE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382000" y="3049200"/>
            <a:ext cx="34290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C3DAC39C-CF8E-2F9C-ACD8-8D0BDB2310D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3518"/>
            <a:ext cx="206588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280347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ackground, Full Innovation Curve on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C066D7D-0D2A-E525-7A09-B865124FD3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352800"/>
            <a:ext cx="12192000" cy="35052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 marL="914400" indent="0">
              <a:buNone/>
              <a:defRPr>
                <a:noFill/>
              </a:defRPr>
            </a:lvl3pPr>
            <a:lvl4pPr marL="1371600" indent="0">
              <a:buNone/>
              <a:defRPr>
                <a:noFill/>
              </a:defRPr>
            </a:lvl4pPr>
            <a:lvl5pPr marL="1828800" indent="0">
              <a:buNone/>
              <a:defRPr>
                <a:noFill/>
              </a:defRPr>
            </a:lvl5pPr>
          </a:lstStyle>
          <a:p>
            <a:pPr lvl="0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4ED725C-5701-90B3-92A2-BAE98517DD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352800"/>
            <a:ext cx="12192000" cy="3509682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lIns="0" tIns="0" rIns="0" bIns="0" anchor="ctr"/>
          <a:lstStyle>
            <a:lvl1pPr marL="0" indent="0" algn="ctr">
              <a:buFontTx/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</a:t>
            </a:r>
            <a:br>
              <a:rPr lang="en-US"/>
            </a:br>
            <a:r>
              <a:rPr lang="en-US"/>
              <a:t>Then Reorder: Send to back</a:t>
            </a:r>
          </a:p>
        </p:txBody>
      </p:sp>
      <p:sp>
        <p:nvSpPr>
          <p:cNvPr id="2" name="Innovation Curve Over">
            <a:extLst>
              <a:ext uri="{FF2B5EF4-FFF2-40B4-BE49-F238E27FC236}">
                <a16:creationId xmlns:a16="http://schemas.microsoft.com/office/drawing/2014/main" id="{9B37F7D8-7643-FEC4-6844-838554ED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067800" y="3733800"/>
            <a:ext cx="2741663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FFBA20BF-6E67-EA95-53B0-F188DED3EBC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81000" y="3049200"/>
            <a:ext cx="1315720" cy="304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F84AF061-2BD7-B395-13B3-8F8BF41722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2438400"/>
            <a:ext cx="11430000" cy="60960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enter the subtitle text</a:t>
            </a:r>
          </a:p>
        </p:txBody>
      </p:sp>
      <p:sp>
        <p:nvSpPr>
          <p:cNvPr id="7" name="MainTitle">
            <a:extLst>
              <a:ext uri="{FF2B5EF4-FFF2-40B4-BE49-F238E27FC236}">
                <a16:creationId xmlns:a16="http://schemas.microsoft.com/office/drawing/2014/main" id="{ABB14F8B-3974-9BD2-A151-F10E66DC4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1066800"/>
            <a:ext cx="114300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1D3E7B21-42CE-65FE-E9DB-ABE96BDEB7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8458200" y="3049200"/>
            <a:ext cx="3352800" cy="304800"/>
          </a:xfrm>
        </p:spPr>
        <p:txBody>
          <a:bodyPr/>
          <a:lstStyle>
            <a:lvl1pPr algn="r">
              <a:defRPr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4" name="InformationType">
            <a:extLst>
              <a:ext uri="{FF2B5EF4-FFF2-40B4-BE49-F238E27FC236}">
                <a16:creationId xmlns:a16="http://schemas.microsoft.com/office/drawing/2014/main" id="{0D1C59CF-9752-86EF-EC48-38D7153FEE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63060" y="3048000"/>
            <a:ext cx="2065880" cy="300318"/>
          </a:xfrm>
          <a:prstGeom prst="rect">
            <a:avLst/>
          </a:prstGeom>
        </p:spPr>
        <p:txBody>
          <a:bodyPr anchor="ctr"/>
          <a:lstStyle>
            <a:lvl1pPr algn="ctr">
              <a:defRPr lang="en-US" sz="1200" b="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</p:spTree>
    <p:extLst>
      <p:ext uri="{BB962C8B-B14F-4D97-AF65-F5344CB8AC3E}">
        <p14:creationId xmlns:p14="http://schemas.microsoft.com/office/powerpoint/2010/main" val="184188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3C075-3634-BEB1-AB31-623AD293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57D48-2016-6562-8C30-A2CF18ED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A231-5EDC-C1A1-4ABB-BC6DA52F4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402-4AF5-E408-D3B7-C9118371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B1DA6-2C96-66B0-2A4C-85DA505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79F26-3C27-4303-6B8D-77E75E532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21A092-B787-801E-8664-20954CF680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1143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3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562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6817-B6CF-A2DE-966F-DB9281D305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829AD-F282-6D19-1BDE-62A372EE4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672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BCA8BAD-045F-5449-26C8-1CC7E5D921A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53400" y="1371600"/>
            <a:ext cx="3657600" cy="48768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FB687-132C-1CA9-8A9A-779EFBBC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9F7A9-35D1-1344-0A60-0E8C3F56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9646E-BBCC-2CA0-9416-FFBF3870D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A3CBC-D481-CBC2-5EFC-A4CAE034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60D39823-8059-4D49-BD26-6D32C31B8621}" type="slidenum">
              <a:rPr lang="en-US" smtClean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3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7" name="sub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114300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3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48400" y="1676400"/>
            <a:ext cx="5562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304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68FE96-3E29-F907-5227-E6C308DA1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71A1A39-1496-229F-4AC6-886D7CFB5B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672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ADFD2628-F803-8221-12EB-7198D350225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53400" y="1676400"/>
            <a:ext cx="3657600" cy="4572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5EA9222-DBBF-5953-8E15-DA10C04897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38200"/>
            <a:ext cx="11430000" cy="685800"/>
          </a:xfrm>
        </p:spPr>
        <p:txBody>
          <a:bodyPr>
            <a:noAutofit/>
          </a:bodyPr>
          <a:lstStyle>
            <a:lvl1pPr marL="0" indent="0">
              <a:buNone/>
              <a:defRPr lang="en-US" sz="2000" kern="1200" dirty="0" smtClean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2DF17-A1AB-7E8D-EC34-3A4A87B7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45720" rIns="0" bIns="45720" rtlCol="0" anchor="t">
            <a:noAutofit/>
          </a:bodyPr>
          <a:lstStyle>
            <a:lvl1pPr>
              <a:defRPr lang="en-US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3B26C9-4CC7-EA8C-EBD1-615FCBB4A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61E99-54BE-C3A5-B54E-49B9C722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NTT 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6319C-85FE-4494-FC99-C4DE72E7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/>
          <a:p>
            <a:pPr algn="ctr"/>
            <a:fld id="{60D39823-8059-4D49-BD26-6D32C31B8621}" type="slidenum">
              <a:rPr lang="en-US" smtClean="0"/>
              <a:pPr algn="ctr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2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FDE1F7-62EC-6D2E-396B-811A50532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539496"/>
            <a:ext cx="8305800" cy="557784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C1BD431-D4B4-298C-982D-B1EB3888F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365760"/>
            <a:ext cx="4284979" cy="1280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800">
                <a:solidFill>
                  <a:schemeClr val="bg2"/>
                </a:solidFill>
                <a:latin typeface="+mn-lt"/>
              </a:defRPr>
            </a:lvl2pPr>
            <a:lvl3pPr marL="914400" indent="0">
              <a:buNone/>
              <a:defRPr sz="800">
                <a:solidFill>
                  <a:schemeClr val="bg2"/>
                </a:solidFill>
                <a:latin typeface="+mn-lt"/>
              </a:defRPr>
            </a:lvl3pPr>
            <a:lvl4pPr marL="1371600" indent="0">
              <a:buNone/>
              <a:defRPr sz="800">
                <a:solidFill>
                  <a:schemeClr val="bg2"/>
                </a:solidFill>
                <a:latin typeface="+mn-lt"/>
              </a:defRPr>
            </a:lvl4pPr>
            <a:lvl5pPr marL="1828800" indent="0">
              <a:buNone/>
              <a:defRPr sz="8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Case study | Company | Region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4E3891F-6B5F-192A-B2B0-E4C4CF22FBC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1000" y="1295400"/>
            <a:ext cx="2743200" cy="48768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C01DE9E-5F31-F140-2E87-C0B1212E082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10000" y="5076970"/>
            <a:ext cx="5822138" cy="55490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1pPr>
            <a:lvl2pPr marL="4572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9144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3pPr>
            <a:lvl4pPr marL="13716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1828800" indent="0">
              <a:buNone/>
              <a:defRPr sz="900">
                <a:solidFill>
                  <a:schemeClr val="tx2"/>
                </a:solidFill>
                <a:latin typeface="Georgia" panose="02040502050405020303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1324C1C-4229-7DE2-097E-ED90CB5E44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0001" y="5729432"/>
            <a:ext cx="4800600" cy="131763"/>
          </a:xfrm>
          <a:prstGeom prst="rect">
            <a:avLst/>
          </a:prstGeom>
        </p:spPr>
        <p:txBody>
          <a:bodyPr l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chemeClr val="bg2"/>
                </a:solidFill>
              </a:defRPr>
            </a:lvl1pPr>
            <a:lvl2pPr marL="4572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2pPr>
            <a:lvl3pPr marL="9144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3pPr>
            <a:lvl4pPr marL="13716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4pPr>
            <a:lvl5pPr marL="182880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Arial Bold name, Arial Regular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7B176-3B35-FC26-E2B3-21D63E555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83ADEA99-682E-4231-A4C9-95AE759D37D5}" type="slidenum">
              <a:rPr lang="en-SG" smtClean="0"/>
              <a:pPr algn="ctr"/>
              <a:t>‹N›</a:t>
            </a:fld>
            <a:endParaRPr lang="en-SG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D37E874D-75E8-4A65-C90D-674F69527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</a:p>
        </p:txBody>
      </p:sp>
      <p:sp>
        <p:nvSpPr>
          <p:cNvPr id="5" name="Legal">
            <a:extLst>
              <a:ext uri="{FF2B5EF4-FFF2-40B4-BE49-F238E27FC236}">
                <a16:creationId xmlns:a16="http://schemas.microsoft.com/office/drawing/2014/main" id="{DB47B5C7-E0CF-2B9F-0F4C-261A16FD7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599" y="6400800"/>
            <a:ext cx="4114801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5AF3DAB-9739-B787-806C-58C158A4019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1000" y="539496"/>
            <a:ext cx="2743200" cy="557784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Client logo: Ensure no clipping occurs on insert</a:t>
            </a:r>
          </a:p>
        </p:txBody>
      </p:sp>
    </p:spTree>
    <p:extLst>
      <p:ext uri="{BB962C8B-B14F-4D97-AF65-F5344CB8AC3E}">
        <p14:creationId xmlns:p14="http://schemas.microsoft.com/office/powerpoint/2010/main" val="1888250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4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33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40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94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54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5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42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15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72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8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31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4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CE2E93-F0C6-496C-92F8-919FE5576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24601"/>
            <a:ext cx="12954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rgbClr val="050D24"/>
                </a:solidFill>
              </a:defRPr>
            </a:lvl1pPr>
          </a:lstStyle>
          <a:p>
            <a:r>
              <a:rPr lang="en-US" noProof="0"/>
              <a:t>February 2026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6F6F2F78-2ADE-918C-2B29-50DDCEC82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24600"/>
            <a:ext cx="41148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438400"/>
            <a:ext cx="495300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  <p:sp>
        <p:nvSpPr>
          <p:cNvPr id="6" name="NTT DATA Global Logo" descr="NTT DATA Global Logo">
            <a:extLst>
              <a:ext uri="{FF2B5EF4-FFF2-40B4-BE49-F238E27FC236}">
                <a16:creationId xmlns:a16="http://schemas.microsoft.com/office/drawing/2014/main" id="{9BB150AA-7E16-0669-0BE0-D2DE680F91CD}"/>
              </a:ext>
            </a:extLst>
          </p:cNvPr>
          <p:cNvSpPr/>
          <p:nvPr userDrawn="1"/>
        </p:nvSpPr>
        <p:spPr bwMode="black">
          <a:xfrm>
            <a:off x="402336" y="320040"/>
            <a:ext cx="1956816" cy="39872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b="0" i="0" kern="1200" dirty="0">
          <a:solidFill>
            <a:schemeClr val="bg1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20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B37B6-3DF4-34BD-D5E9-52EA5E80D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400800"/>
            <a:ext cx="9144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smtClean="0">
                <a:solidFill>
                  <a:schemeClr val="bg1"/>
                </a:solidFill>
              </a:defRPr>
            </a:lvl1pPr>
          </a:lstStyle>
          <a:p>
            <a:r>
              <a:rPr lang="en-US"/>
              <a:t>February 2026</a:t>
            </a:r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© 2026 NTT 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1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0"/>
            <a:endParaRPr lang="en-US" noProof="0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30919A-842B-324C-CCDA-7945A8CEB2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  <a:ln w="3175">
            <a:noFill/>
          </a:ln>
        </p:spPr>
        <p:txBody>
          <a:bodyPr anchor="ctr"/>
          <a:lstStyle>
            <a:lvl1pPr algn="ctr">
              <a:defRPr lang="en-US" sz="800" smtClean="0">
                <a:solidFill>
                  <a:schemeClr val="tx2"/>
                </a:solidFill>
              </a:defRPr>
            </a:lvl1pPr>
          </a:lstStyle>
          <a:p>
            <a:fld id="{60D39823-8059-4D49-BD26-6D32C31B8621}" type="slidenum">
              <a:rPr lang="en-US" noProof="0" smtClean="0"/>
              <a:pPr/>
              <a:t>‹N›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40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186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49" r:id="rId9"/>
    <p:sldLayoutId id="21474842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7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2" r:id="rId1"/>
    <p:sldLayoutId id="2147484253" r:id="rId2"/>
    <p:sldLayoutId id="2147484254" r:id="rId3"/>
    <p:sldLayoutId id="2147484255" r:id="rId4"/>
    <p:sldLayoutId id="2147484256" r:id="rId5"/>
    <p:sldLayoutId id="2147484257" r:id="rId6"/>
    <p:sldLayoutId id="2147484258" r:id="rId7"/>
    <p:sldLayoutId id="2147484259" r:id="rId8"/>
    <p:sldLayoutId id="2147484260" r:id="rId9"/>
    <p:sldLayoutId id="2147484261" r:id="rId10"/>
    <p:sldLayoutId id="214748426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164592" cy="685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4048" y="2377440"/>
            <a:ext cx="137160" cy="23774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6400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1F5FA8"/>
                </a:solidFill>
                <a:latin typeface="Calibri"/>
              </a:rPr>
              <a:t>PROPOSTA DI INTEGRAZIONE  •  LUGLIO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315200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3800" b="1" dirty="0">
                <a:solidFill>
                  <a:srgbClr val="0F3B66"/>
                </a:solidFill>
                <a:latin typeface="Calibri"/>
              </a:rPr>
              <a:t>Integrazione One Fiscale su TCF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57600"/>
            <a:ext cx="7315200" cy="2011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400" b="0" dirty="0">
                <a:solidFill>
                  <a:srgbClr val="1A1A1A"/>
                </a:solidFill>
                <a:latin typeface="Calibri"/>
              </a:rPr>
              <a:t>Estensione del Tax Control Framework con capacità AI di Wolters Kluwer One Fiscale: sei assistenti dedicati, orchestrati su FAB, per gap analysis, driver assistant, impact analysis, drafting, Q&amp;A contestuale e briefing periodici direttamente nell’ambiente TCF del cliente.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73152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200" b="1" dirty="0">
                <a:solidFill>
                  <a:srgbClr val="5A6672"/>
                </a:solidFill>
                <a:latin typeface="Calibri"/>
              </a:rPr>
              <a:t>Wolters Kluwer  ·  NTT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60807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20095" y="6080760"/>
            <a:ext cx="10972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600" b="1" dirty="0">
                <a:solidFill>
                  <a:srgbClr val="FFFFFF"/>
                </a:solidFill>
                <a:latin typeface="Calibri"/>
              </a:rPr>
              <a:t>NTT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Contesto e Sfida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Il Tax Control Framework deve evolvere per stare al passo con normativa e operatività fiscale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1428" y="137160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1428" y="13716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1428" y="1508760"/>
            <a:ext cx="3657600" cy="320040"/>
          </a:xfrm>
          <a:prstGeom prst="rect">
            <a:avLst/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27148" y="141732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Valorizzare la banca dati One Fiscale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8588" y="192024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One Fiscale è una base normativa qualificata e continuamente aggiornata: integrarla nel TCF rende ogni funzionalità immediatamente contestualizzata.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6188" y="137160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76188" y="13716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76188" y="1508760"/>
            <a:ext cx="3657600" cy="320040"/>
          </a:xfrm>
          <a:prstGeom prst="rect">
            <a:avLst/>
          </a:prstGeom>
          <a:solidFill>
            <a:srgbClr val="0F8A3A"/>
          </a:solidFill>
          <a:ln w="63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1908" y="141732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Opportunità di trasformazione operativa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3348" y="192024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Sei agenti AI dedicati abilitano il salto da compilazione documentale a supporto decisionale continuo, con drafting, briefing periodico e Q&amp;A contestuale sempre disponibili.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Framework fiscale sempre più articolato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Il TCF combina wizard secondo Ag. Entrate, RCM, fattispecie interpretative e strategia fiscale: mantenere allineamento e completezza è oneroso senza un supporto intelligente.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880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17880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7880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2452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Rischi non mappati e valutazioni soggettive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La configurazione di driver di probabilità e impatto è oggi manuale e discrezionale, esponendo il cliente a rischi non intercettati e a valutazioni disomogenee tra periodi.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37947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73568" y="37947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73568" y="3931920"/>
            <a:ext cx="3657600" cy="320040"/>
          </a:xfrm>
          <a:prstGeom prst="rect">
            <a:avLst/>
          </a:prstGeom>
          <a:solidFill>
            <a:srgbClr val="1F5FA8"/>
          </a:solidFill>
          <a:ln w="63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3840480"/>
            <a:ext cx="3566160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150" b="1" dirty="0">
                <a:solidFill>
                  <a:srgbClr val="FFFFFF"/>
                </a:solidFill>
                <a:latin typeface="Calibri"/>
              </a:rPr>
              <a:t>Novità normative da tradurre in azioni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343400"/>
            <a:ext cx="3383280" cy="1645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Ogni circolare o articolo di One Fiscale può impattare la RCM: serve un meccanismo automatico che colleghi la novità normativa ai rischi specifici del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2 /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Obiettivo &amp; Casi d’Uso in Dettaglio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Sei assistenti AI dedicati che coprono l’intero ciclo di vita del TCF — input, cosa fanno,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325880"/>
            <a:ext cx="11430000" cy="822960"/>
          </a:xfrm>
          <a:prstGeom prst="roundRect">
            <a:avLst>
              <a:gd name="adj" fmla="val 4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99032"/>
            <a:ext cx="18288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50" b="1" dirty="0">
                <a:solidFill>
                  <a:srgbClr val="E8F1FB"/>
                </a:solidFill>
                <a:latin typeface="Calibri"/>
              </a:rPr>
              <a:t>OBIETTIVO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73352"/>
            <a:ext cx="621792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Portare l’intelligenza di One Fiscale dentro il TCF, mantenendo i dati cliente in Azure e la banca dati fiscale nell’ecosistema WK.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488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6 agenti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645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45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Doppio indice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802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6802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API · One ID Legal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99598" y="1545336"/>
            <a:ext cx="1040130" cy="384048"/>
          </a:xfrm>
          <a:prstGeom prst="roundRect">
            <a:avLst>
              <a:gd name="adj" fmla="val 5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99598" y="1545336"/>
            <a:ext cx="1040130" cy="38404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00" b="1" dirty="0">
                <a:solidFill>
                  <a:srgbClr val="FFFFFF"/>
                </a:solidFill>
                <a:latin typeface="Calibri"/>
              </a:rPr>
              <a:t>EU · GDPR · AI 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75488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Gap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Confronta la RCM cliente con le linee guida Ag. Entrate (art. 25/11) e segnala rischi non mappati.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Wizard di compilazione TCF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Elenco strutturato di gap con riferimento normativo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61104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61104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4352544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Driver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Suggerisce driver, pesi e valori (basso/medio/alto) per probabilità e impatto coerenti con la metodologia cliente.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8264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Config. rischio + Tax Compliance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Set di driver proposti, con razionale motivato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286000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38160" y="2286000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29600" y="235000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286000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Impact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743200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Individua i rischi della RCM impattati da nuove norme, circolari e prassi e propone azioni di aggiornamento.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456432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3456432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Novità normative (One Fiscale · circolari)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785616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96528" y="3785616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Rischi impattati + delta di configurazione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84048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5488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Drafting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Propone driver, soglie di materialità e verifiche qualitative/quantitative per compilare la fattispecie.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Fattispecie in lavorazione (es. fusione cross-border)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Bozza strutturata con giustificazione normativa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61104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261104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Oval 53"/>
          <p:cNvSpPr/>
          <p:nvPr/>
        </p:nvSpPr>
        <p:spPr>
          <a:xfrm>
            <a:off x="4352544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8304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Q&amp;A Contestuale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98264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Risponde su corpus normativo One Fiscale e sul contesto cliente (documenti caricati), con citazioni tracciabili.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8264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19472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Domanda libera dell’utente TCF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98264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9472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Risposta discorsiva con fonti tracciabili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4270247"/>
            <a:ext cx="370332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38160" y="4270247"/>
            <a:ext cx="3703320" cy="40233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8229600" y="4334255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4270247"/>
            <a:ext cx="3154680" cy="4023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200" b="1" dirty="0">
                <a:solidFill>
                  <a:srgbClr val="FFFFFF"/>
                </a:solidFill>
                <a:latin typeface="Calibri"/>
              </a:rPr>
              <a:t>Periodic Briefing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727447"/>
            <a:ext cx="3429000" cy="7132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Estrae mensilmente le novità fiscali rilevanti filtrate sui processi e rischi specifici del cliente.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440679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96528" y="5440679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Config. cliente (processi · rischi · sottoscrizioni)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75320" y="5769863"/>
            <a:ext cx="502920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0F8A3A"/>
                </a:solidFill>
                <a:latin typeface="Calibri"/>
              </a:rPr>
              <a:t>OUT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96528" y="5769863"/>
            <a:ext cx="2907792" cy="329184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850" b="0" dirty="0">
                <a:solidFill>
                  <a:srgbClr val="5A6672"/>
                </a:solidFill>
                <a:latin typeface="Calibri"/>
              </a:rPr>
              <a:t>Report PDF con highlight e approfondimenti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3 / 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Architettura di Integrazione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TCF Application (Azure) ↔ Workspace One Fiscale (FAB · WK Legal) — ingestion &amp; trigger schedulati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417320"/>
            <a:ext cx="5029200" cy="4206240"/>
          </a:xfrm>
          <a:prstGeom prst="roundRect">
            <a:avLst>
              <a:gd name="adj" fmla="val 3000"/>
            </a:avLst>
          </a:prstGeom>
          <a:solidFill>
            <a:srgbClr val="F4F8FD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55080" y="1417320"/>
            <a:ext cx="5440680" cy="4206240"/>
          </a:xfrm>
          <a:prstGeom prst="roundRect">
            <a:avLst>
              <a:gd name="adj" fmla="val 3000"/>
            </a:avLst>
          </a:prstGeom>
          <a:solidFill>
            <a:srgbClr val="F3FBF6"/>
          </a:solidFill>
          <a:ln w="1905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4700016" cy="36576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700016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AZURE CLOUD  ·  Cliente TCF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19672" y="1508760"/>
            <a:ext cx="5111496" cy="36576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9672" y="1508760"/>
            <a:ext cx="5111496" cy="365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WK LEGAL ENVIRONMENT  ·  FAB  (Workspace One Fiscale)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DB TCF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3230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Database applicativo — RCM · driver · wizard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7228" y="201168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67228" y="210312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1F5FA8"/>
                </a:solidFill>
                <a:latin typeface="Calibri"/>
              </a:rPr>
              <a:t>Storage Documentale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6956" y="243230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Documenti privati cifrati del cliente TCF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3B66"/>
                </a:solidFill>
                <a:latin typeface="Calibri"/>
              </a:rPr>
              <a:t>TCF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3814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Web app cliente — wizard · RCM · fattispecie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7228" y="3017520"/>
            <a:ext cx="22814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67228" y="3108960"/>
            <a:ext cx="228142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3B66"/>
                </a:solidFill>
                <a:latin typeface="Calibri"/>
              </a:rPr>
              <a:t>Integration 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6956" y="3438144"/>
            <a:ext cx="206197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Gateway API — JSON · mTLS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06240"/>
            <a:ext cx="4700016" cy="1005840"/>
          </a:xfrm>
          <a:prstGeom prst="roundRect">
            <a:avLst>
              <a:gd name="adj" fmla="val 5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370832"/>
            <a:ext cx="4700016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FFFFFF"/>
                </a:solidFill>
                <a:latin typeface="Calibri"/>
              </a:rPr>
              <a:t>SCHEDULER JOB  (Azure)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4334256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FFFFFF"/>
                </a:solidFill>
                <a:latin typeface="Calibri"/>
              </a:rPr>
              <a:t>Job schedulato mensile che invoca il Periodic Briefing Agent per generare il 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2011680"/>
            <a:ext cx="248716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2103120"/>
            <a:ext cx="248716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8A3A"/>
                </a:solidFill>
                <a:latin typeface="Calibri"/>
              </a:rPr>
              <a:t>Indice TCF 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432304"/>
            <a:ext cx="226771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Documenti vettorizzati (aggiornati via ingestion)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011680"/>
            <a:ext cx="248716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2103120"/>
            <a:ext cx="2487168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100" b="1" dirty="0">
                <a:solidFill>
                  <a:srgbClr val="0F8A3A"/>
                </a:solidFill>
                <a:latin typeface="Calibri"/>
              </a:rPr>
              <a:t>Indice One Fiscale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2432304"/>
            <a:ext cx="2267712" cy="34747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1A1A1A"/>
                </a:solidFill>
                <a:latin typeface="Calibri"/>
              </a:rPr>
              <a:t>Banca dati normativa WK (aggiornata continuamente)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3017520"/>
            <a:ext cx="5111496" cy="822960"/>
          </a:xfrm>
          <a:prstGeom prst="roundRect">
            <a:avLst>
              <a:gd name="adj" fmla="val 6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3108960"/>
            <a:ext cx="5111496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Calibri"/>
              </a:rPr>
              <a:t>ORCHESTRATOR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3456432"/>
            <a:ext cx="5111496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50" b="0" dirty="0">
                <a:solidFill>
                  <a:srgbClr val="E8F1FB"/>
                </a:solidFill>
                <a:latin typeface="Calibri"/>
              </a:rPr>
              <a:t>Routing verso i 6 agenti · retrieval dai due indici · policy &amp; audit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9672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19672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FFFFFF"/>
                </a:solidFill>
                <a:latin typeface="Calibri"/>
              </a:rPr>
              <a:t>Periodic Briefing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3780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3780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Gap Analysis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47888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7888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Driver Assistant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11996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11996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Impact Analysis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76104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76104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Drafting Assistant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840212" y="4206240"/>
            <a:ext cx="790956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840212" y="4206240"/>
            <a:ext cx="790956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950" b="1" dirty="0">
                <a:solidFill>
                  <a:srgbClr val="0F3B66"/>
                </a:solidFill>
                <a:latin typeface="Calibri"/>
              </a:rPr>
              <a:t>Q&amp;A Contestuale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689354" y="2834640"/>
            <a:ext cx="0" cy="182880"/>
          </a:xfrm>
          <a:prstGeom prst="line">
            <a:avLst/>
          </a:prstGeom>
          <a:ln w="15240">
            <a:solidFill>
              <a:srgbClr val="5A6672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30068" y="3429000"/>
            <a:ext cx="137160" cy="0"/>
          </a:xfrm>
          <a:prstGeom prst="line">
            <a:avLst/>
          </a:prstGeom>
          <a:ln w="1524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830068" y="2834640"/>
            <a:ext cx="935659" cy="182880"/>
          </a:xfrm>
          <a:prstGeom prst="line">
            <a:avLst/>
          </a:prstGeom>
          <a:ln w="1524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763256" y="2834640"/>
            <a:ext cx="0" cy="182880"/>
          </a:xfrm>
          <a:prstGeom prst="line">
            <a:avLst/>
          </a:prstGeom>
          <a:ln w="13970">
            <a:solidFill>
              <a:srgbClr val="0F8A3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387584" y="2834640"/>
            <a:ext cx="0" cy="182880"/>
          </a:xfrm>
          <a:prstGeom prst="line">
            <a:avLst/>
          </a:prstGeom>
          <a:ln w="13970">
            <a:solidFill>
              <a:srgbClr val="0F8A3A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915150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779258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643366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507474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371582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235690" y="3840480"/>
            <a:ext cx="0" cy="365760"/>
          </a:xfrm>
          <a:prstGeom prst="line">
            <a:avLst/>
          </a:prstGeom>
          <a:ln w="11430">
            <a:solidFill>
              <a:srgbClr val="0F8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248656" y="3429000"/>
            <a:ext cx="1271016" cy="0"/>
          </a:xfrm>
          <a:prstGeom prst="line">
            <a:avLst/>
          </a:prstGeom>
          <a:ln w="38100">
            <a:solidFill>
              <a:srgbClr val="1F5FA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49824" y="3200400"/>
            <a:ext cx="86868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49824" y="3200400"/>
            <a:ext cx="868680" cy="457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850" b="1" dirty="0">
                <a:solidFill>
                  <a:srgbClr val="1F5FA8"/>
                </a:solidFill>
                <a:latin typeface="Calibri"/>
              </a:rPr>
              <a:t>HTTPS
mTLS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248656" y="2423160"/>
            <a:ext cx="1271016" cy="0"/>
          </a:xfrm>
          <a:prstGeom prst="line">
            <a:avLst/>
          </a:prstGeom>
          <a:ln w="20320">
            <a:solidFill>
              <a:srgbClr val="5A66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289804" y="2075688"/>
            <a:ext cx="118872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1" dirty="0">
                <a:solidFill>
                  <a:srgbClr val="5A6672"/>
                </a:solidFill>
                <a:latin typeface="Calibri"/>
              </a:rPr>
              <a:t>Ingestion Job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248656" y="4709160"/>
            <a:ext cx="1271016" cy="0"/>
          </a:xfrm>
          <a:prstGeom prst="line">
            <a:avLst/>
          </a:prstGeom>
          <a:ln w="22860">
            <a:solidFill>
              <a:srgbClr val="E07B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198364" y="4361688"/>
            <a:ext cx="13716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1" dirty="0">
                <a:solidFill>
                  <a:srgbClr val="E07B00"/>
                </a:solidFill>
                <a:latin typeface="Calibri"/>
              </a:rPr>
              <a:t>Monthly Trigger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5806440"/>
            <a:ext cx="11430000" cy="25603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850" b="0" dirty="0">
                <a:solidFill>
                  <a:srgbClr val="5A6672"/>
                </a:solidFill>
                <a:latin typeface="Calibri"/>
              </a:rPr>
              <a:t>Legenda:   ▬▬  HTTPS · mTLS bidirezionale        ▬ ▬  Ingestion (batch)        ▬ ▬  Monthly Trigger (scheduled)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4 / 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Accesso &amp; Governance dell’Identità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Un unico modello di identità coerente tra TCF e ambiente WK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56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70088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668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Modello di Identità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88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88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L’accesso ai servizi One Fiscale è basato su utenze One ID Legal come identità di riferimento, coerentemente con lo stack di autenticazione già adottato in ambito WK Legal.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Il TCF propaga l’identità dell’utente all’Orchestrator Agent tramite token firmato, mantenendo la tracciabilità puntuale di ogni chiamata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4136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716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Razionale della Scelta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136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136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Riutilizzare One ID Legal evita integrazioni SSO custom e centralizza la gestione delle abilitazioni sui servizi One Fiscale.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Il cliente TCF beneficia di onboarding rapido, revoca immediata e audit completo delle interazioni con gli assistenti AI.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7527" y="1554480"/>
            <a:ext cx="3657600" cy="466344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ln w="1016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81847" y="1828800"/>
            <a:ext cx="548640" cy="548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7647" y="1847088"/>
            <a:ext cx="24688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0F3B66"/>
                </a:solidFill>
                <a:latin typeface="Calibri"/>
              </a:rPr>
              <a:t>Prerequisiti di Accesso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1847" y="2560320"/>
            <a:ext cx="3108960" cy="27432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1847" y="2743200"/>
            <a:ext cx="3108960" cy="32918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Ogni utente TCF che utilizza le funzionalità AI deve essere censito in One ID Legal con profilo attivo e abilitato alla workspace One Fiscale.</a:t>
            </a:r>
          </a:p>
          <a:p>
            <a:pPr algn="l">
              <a:spcBef>
                <a:spcPts val="6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È richiesta una sottoscrizione a One Fiscale coerente con i casi d’uso previsti (banca dati, fattispecie, novità normative).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5 /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Proposta di Approccio – Proof of Concept (PoC)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Percorso in due fasi focalizzato sul solo caso d’uso Gap Analysis per validare l’integrazione TCF ↔ FAB One Fiscale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4048" y="1554480"/>
            <a:ext cx="11430000" cy="77724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45920"/>
            <a:ext cx="32004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E07B00"/>
                </a:solidFill>
                <a:latin typeface="Calibri"/>
              </a:rPr>
              <a:t>PREREQUISITO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1088136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Il cliente TCF fornisce un set di documenti di esempio (RCM, policy interne, linee guida) e un set di domande &amp; risposte attese da usare come benchmark di valutazione del caso d’uso Gap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251460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" y="251460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2834640"/>
            <a:ext cx="5532120" cy="4572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12648" y="2651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600" b="1" dirty="0">
                <a:solidFill>
                  <a:srgbClr val="1F5FA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14600"/>
            <a:ext cx="44348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FFFFFF"/>
                </a:solidFill>
                <a:latin typeface="Calibri"/>
              </a:rPr>
              <a:t>Fase 1 – Setup Integrazione &amp; Agente Gap Analysis su FAB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29000"/>
            <a:ext cx="498348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Configurazione workspace FAB dedicata al progetto TCF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Creazione del solo agente Gap Analysis con system prompt dedicato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Predisposizione connettore TCF ↔ FAB (One ID Legal, JSON I/O, HTTPS · mTLS)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Caricamento del set di documenti di esempio sull’indice TCF privato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029200"/>
            <a:ext cx="4983480" cy="502920"/>
          </a:xfrm>
          <a:prstGeom prst="roundRect">
            <a:avLst>
              <a:gd name="adj" fmla="val 1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5029200"/>
            <a:ext cx="4617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950" b="1" dirty="0">
                <a:solidFill>
                  <a:srgbClr val="0F3B66"/>
                </a:solidFill>
                <a:latin typeface="Calibri"/>
              </a:rPr>
              <a:t>Output → API Gap Analysis attiva e richiamabile dal backend TCF sul set di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1928" y="2514600"/>
            <a:ext cx="553212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1928" y="2514600"/>
            <a:ext cx="5532120" cy="777240"/>
          </a:xfrm>
          <a:prstGeom prst="roundRect">
            <a:avLst>
              <a:gd name="adj" fmla="val 8000"/>
            </a:avLst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81928" y="2834640"/>
            <a:ext cx="5532120" cy="45720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10528" y="265176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it-IT" sz="1600" b="1" dirty="0">
                <a:solidFill>
                  <a:srgbClr val="0F8A3A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514600"/>
            <a:ext cx="4434840" cy="7772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300" b="1" dirty="0">
                <a:solidFill>
                  <a:srgbClr val="FFFFFF"/>
                </a:solidFill>
                <a:latin typeface="Calibri"/>
              </a:rPr>
              <a:t>Fase 2 – Test end-to-end &amp; Confronto Risposte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429000"/>
            <a:ext cx="4983480" cy="1554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000" b="0" dirty="0">
                <a:solidFill>
                  <a:srgbClr val="1A1A1A"/>
                </a:solidFill>
                <a:latin typeface="Calibri"/>
              </a:rPr>
              <a:t>•  Esecuzione backend del set di domande sul caso d’uso Gap Analysis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Generazione delle risposte combinando One Fiscale + documenti cliente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Confronto tra le risposte dell’agente e le risposte attese fornite dal cliente</a:t>
            </a:r>
          </a:p>
          <a:p>
            <a:pPr algn="l">
              <a:spcBef>
                <a:spcPts val="400"/>
              </a:spcBef>
            </a:pPr>
            <a:r>
              <a:rPr lang="it-IT" sz="1000" b="0" dirty="0">
                <a:solidFill>
                  <a:srgbClr val="1A1A1A"/>
                </a:solidFill>
                <a:latin typeface="Calibri"/>
              </a:rPr>
              <a:t>•  Raccolta feedback strutturato: accuratezza, rilevanza, actionability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6248" y="5029200"/>
            <a:ext cx="4983480" cy="502920"/>
          </a:xfrm>
          <a:prstGeom prst="roundRect">
            <a:avLst>
              <a:gd name="adj" fmla="val 15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5029200"/>
            <a:ext cx="461772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950" b="1" dirty="0">
                <a:solidFill>
                  <a:srgbClr val="0F3B66"/>
                </a:solidFill>
                <a:latin typeface="Calibri"/>
              </a:rPr>
              <a:t>Output → Report di valutazione su Gap Analysis + roadmap di estensione agli altri 5 agenti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852160"/>
            <a:ext cx="11430000" cy="457200"/>
          </a:xfrm>
          <a:prstGeom prst="roundRect">
            <a:avLst>
              <a:gd name="adj" fmla="val 15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942260"/>
            <a:ext cx="11109960" cy="27699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it-IT" sz="1200" b="1" dirty="0">
                <a:solidFill>
                  <a:srgbClr val="FFFFFF"/>
                </a:solidFill>
                <a:latin typeface="Calibri"/>
              </a:rPr>
              <a:t>Durata complessiva:  8 settimane        Costo totale PoC: 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6 /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36000" y="354338"/>
            <a:ext cx="11520000" cy="0"/>
          </a:xfrm>
          <a:prstGeom prst="line">
            <a:avLst/>
          </a:prstGeom>
          <a:ln w="38100">
            <a:solidFill>
              <a:srgbClr val="00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9436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50">
                <a:solidFill>
                  <a:srgbClr val="909090"/>
                </a:solidFill>
                <a:latin typeface="Fira Sans"/>
              </a:rPr>
              <a:t>LA COLLABORAZIONE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Fira Sans"/>
              </a:rPr>
              <a:t>Il modello: RAG sul corpus One Fiscale, nessun addestramento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77840" cy="41148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Fira Sans"/>
              </a:rPr>
              <a:t>Cosa porta CCH TCF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394960" cy="2248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200000"/>
              </a:lnSpc>
              <a:spcAft>
                <a:spcPts val="400"/>
              </a:spcAft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Il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contesto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del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cliente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: RCM,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controlli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,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fattispecie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, TCM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caricato</a:t>
            </a:r>
            <a:endParaRPr sz="1400" dirty="0">
              <a:solidFill>
                <a:srgbClr val="000000"/>
              </a:solidFill>
              <a:latin typeface="Fira Sans"/>
            </a:endParaRPr>
          </a:p>
          <a:p>
            <a:pPr marL="228600" indent="-228600" algn="l">
              <a:lnSpc>
                <a:spcPct val="200000"/>
              </a:lnSpc>
              <a:spcAft>
                <a:spcPts val="400"/>
              </a:spcAft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Layer AI (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orchestratore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+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agenti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) e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applicazione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nella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piattaforma</a:t>
            </a:r>
            <a:endParaRPr sz="1400" dirty="0">
              <a:solidFill>
                <a:srgbClr val="000000"/>
              </a:solidFill>
              <a:latin typeface="Fira Sans"/>
            </a:endParaRPr>
          </a:p>
          <a:p>
            <a:pPr marL="228600" indent="-228600" algn="l">
              <a:lnSpc>
                <a:spcPct val="200000"/>
              </a:lnSpc>
              <a:spcAft>
                <a:spcPts val="400"/>
              </a:spcAft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Guardrail, audit log e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ripercorribilità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per la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certificazione</a:t>
            </a:r>
            <a:endParaRPr sz="1400" dirty="0">
              <a:solidFill>
                <a:srgbClr val="000000"/>
              </a:solidFill>
              <a:latin typeface="Fira Sans"/>
            </a:endParaRPr>
          </a:p>
          <a:p>
            <a:pPr marL="228600" indent="-228600" algn="l">
              <a:lnSpc>
                <a:spcPct val="200000"/>
              </a:lnSpc>
              <a:spcAft>
                <a:spcPts val="400"/>
              </a:spcAft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Canale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commerciale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Large Account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su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clienti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TCF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577840" cy="411480"/>
          </a:xfrm>
          <a:prstGeom prst="rect">
            <a:avLst/>
          </a:prstGeom>
          <a:solidFill>
            <a:srgbClr val="85B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Fira Sans"/>
              </a:rPr>
              <a:t>Cosa chiediamo a One Fiscale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394960" cy="2248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Accesso API ai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contenuti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a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granularità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fine (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articolo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/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paragrafo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)</a:t>
            </a:r>
          </a:p>
          <a:p>
            <a:pPr marL="342900" indent="-34290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400" dirty="0" err="1">
                <a:solidFill>
                  <a:srgbClr val="000000"/>
                </a:solidFill>
                <a:latin typeface="Fira Sans"/>
              </a:rPr>
              <a:t>Ricerca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sul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corpus (full-text;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semantica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se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disponibile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)</a:t>
            </a:r>
          </a:p>
          <a:p>
            <a:pPr marL="342900" indent="-34290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Feed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novità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strutturato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con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classificazione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tematica</a:t>
            </a:r>
            <a:endParaRPr sz="1400" dirty="0">
              <a:solidFill>
                <a:srgbClr val="000000"/>
              </a:solidFill>
              <a:latin typeface="Fira Sans"/>
            </a:endParaRPr>
          </a:p>
          <a:p>
            <a:pPr marL="342900" indent="-342900" algn="l">
              <a:lnSpc>
                <a:spcPct val="2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000000"/>
                </a:solidFill>
                <a:latin typeface="Fira Sans"/>
              </a:rPr>
              <a:t>Sandbox per il PoC, DPA e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clausola</a:t>
            </a:r>
            <a:r>
              <a:rPr sz="1400" dirty="0">
                <a:solidFill>
                  <a:srgbClr val="000000"/>
                </a:solidFill>
                <a:latin typeface="Fira Sans"/>
              </a:rPr>
              <a:t> di non </a:t>
            </a:r>
            <a:r>
              <a:rPr sz="1400" dirty="0" err="1">
                <a:solidFill>
                  <a:srgbClr val="000000"/>
                </a:solidFill>
                <a:latin typeface="Fira Sans"/>
              </a:rPr>
              <a:t>addestramento</a:t>
            </a:r>
            <a:endParaRPr sz="1400" dirty="0">
              <a:solidFill>
                <a:srgbClr val="000000"/>
              </a:solidFill>
              <a:latin typeface="Fir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2213" y="6446519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 dirty="0">
                <a:solidFill>
                  <a:srgbClr val="808080"/>
                </a:solidFill>
                <a:latin typeface="Fira Sans"/>
              </a:rPr>
              <a:t>Suite AI — Roadmap di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sviluppo</a:t>
            </a:r>
            <a:r>
              <a:rPr sz="800" b="0" i="0" dirty="0">
                <a:solidFill>
                  <a:srgbClr val="808080"/>
                </a:solidFill>
                <a:latin typeface="Fira Sans"/>
              </a:rPr>
              <a:t> — Uso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Interno</a:t>
            </a:r>
            <a:r>
              <a:rPr sz="800" b="0" i="0" dirty="0">
                <a:solidFill>
                  <a:srgbClr val="808080"/>
                </a:solidFill>
                <a:latin typeface="Fira Sans"/>
              </a:rPr>
              <a:t>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Riservato</a:t>
            </a:r>
            <a:endParaRPr sz="800" b="0" i="0" dirty="0">
              <a:solidFill>
                <a:srgbClr val="808080"/>
              </a:solidFill>
              <a:latin typeface="Fir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808080"/>
                </a:solidFill>
                <a:latin typeface="Fira Sans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36000" y="354338"/>
            <a:ext cx="11520000" cy="0"/>
          </a:xfrm>
          <a:prstGeom prst="line">
            <a:avLst/>
          </a:prstGeom>
          <a:ln w="38100">
            <a:solidFill>
              <a:srgbClr val="00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9436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 spc="150">
                <a:solidFill>
                  <a:srgbClr val="909090"/>
                </a:solidFill>
                <a:latin typeface="Fira Sans"/>
              </a:rPr>
              <a:t>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Fira Sans"/>
              </a:rPr>
              <a:t>Le milestone che scandiscono il percorso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74720"/>
            <a:ext cx="10360152" cy="0"/>
          </a:xfrm>
          <a:prstGeom prst="line">
            <a:avLst/>
          </a:prstGeom>
          <a:ln w="25400">
            <a:solidFill>
              <a:srgbClr val="007A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9808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Set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3749039"/>
            <a:ext cx="170627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 err="1">
                <a:solidFill>
                  <a:srgbClr val="000000"/>
                </a:solidFill>
                <a:latin typeface="Fira Sans"/>
              </a:rPr>
              <a:t>Chiusura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Discovery: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documento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tecnico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congiunto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CCH-L&amp;R</a:t>
            </a:r>
          </a:p>
        </p:txBody>
      </p:sp>
      <p:sp>
        <p:nvSpPr>
          <p:cNvPr id="9" name="Oval 8"/>
          <p:cNvSpPr/>
          <p:nvPr/>
        </p:nvSpPr>
        <p:spPr>
          <a:xfrm>
            <a:off x="2821838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9771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Ott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7930" y="3749039"/>
            <a:ext cx="1597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000000"/>
                </a:solidFill>
                <a:latin typeface="Fira Sans"/>
              </a:rPr>
              <a:t>Sandbox One Fiscale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disponibile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,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avvio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PoC</a:t>
            </a:r>
          </a:p>
        </p:txBody>
      </p:sp>
      <p:sp>
        <p:nvSpPr>
          <p:cNvPr id="12" name="Oval 11"/>
          <p:cNvSpPr/>
          <p:nvPr/>
        </p:nvSpPr>
        <p:spPr>
          <a:xfrm>
            <a:off x="4893868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9740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Dic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5150" y="3794759"/>
            <a:ext cx="1706270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 err="1">
                <a:solidFill>
                  <a:srgbClr val="000000"/>
                </a:solidFill>
                <a:latin typeface="Fira Sans"/>
              </a:rPr>
              <a:t>Esito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benchmark PoC: gate go/no-go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su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accuratezza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e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costi</a:t>
            </a:r>
            <a:endParaRPr sz="1100" b="0" i="0" dirty="0">
              <a:solidFill>
                <a:srgbClr val="000000"/>
              </a:solidFill>
              <a:latin typeface="Fira San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65899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1771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Giu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4787" y="3749039"/>
            <a:ext cx="170627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000000"/>
                </a:solidFill>
                <a:latin typeface="Fira Sans"/>
              </a:rPr>
              <a:t>MVP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completo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in staging (6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funzionalità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)</a:t>
            </a:r>
          </a:p>
        </p:txBody>
      </p:sp>
      <p:sp>
        <p:nvSpPr>
          <p:cNvPr id="18" name="Oval 17"/>
          <p:cNvSpPr/>
          <p:nvPr/>
        </p:nvSpPr>
        <p:spPr>
          <a:xfrm>
            <a:off x="9037929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3801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Set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3160" y="3794759"/>
            <a:ext cx="158739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 err="1">
                <a:solidFill>
                  <a:srgbClr val="000000"/>
                </a:solidFill>
                <a:latin typeface="Fira Sans"/>
              </a:rPr>
              <a:t>Chiusura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pilot: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adozione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e pricing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validati</a:t>
            </a:r>
            <a:endParaRPr sz="1100" b="0" i="0" dirty="0">
              <a:solidFill>
                <a:srgbClr val="000000"/>
              </a:solidFill>
              <a:latin typeface="Fira San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109960" y="3310128"/>
            <a:ext cx="329184" cy="329184"/>
          </a:xfrm>
          <a:prstGeom prst="ellipse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22815" y="265176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7AC3"/>
                </a:solidFill>
                <a:latin typeface="Fira Sans"/>
              </a:rPr>
              <a:t>Q4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8855" y="3794759"/>
            <a:ext cx="1387145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 dirty="0">
                <a:solidFill>
                  <a:srgbClr val="000000"/>
                </a:solidFill>
                <a:latin typeface="Fira Sans"/>
              </a:rPr>
              <a:t>General Availability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sul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parco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</a:t>
            </a:r>
            <a:r>
              <a:rPr sz="1100" b="0" i="0" dirty="0" err="1">
                <a:solidFill>
                  <a:srgbClr val="000000"/>
                </a:solidFill>
                <a:latin typeface="Fira Sans"/>
              </a:rPr>
              <a:t>clienti</a:t>
            </a:r>
            <a:r>
              <a:rPr sz="1100" b="0" i="0" dirty="0">
                <a:solidFill>
                  <a:srgbClr val="000000"/>
                </a:solidFill>
                <a:latin typeface="Fira Sans"/>
              </a:rPr>
              <a:t> TCF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808080"/>
                </a:solidFill>
                <a:latin typeface="Fira Sans"/>
              </a:rPr>
              <a:t>5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137E5A4-87F3-9E05-F1EB-795E13C2498C}"/>
              </a:ext>
            </a:extLst>
          </p:cNvPr>
          <p:cNvSpPr txBox="1"/>
          <p:nvPr/>
        </p:nvSpPr>
        <p:spPr>
          <a:xfrm>
            <a:off x="542213" y="6446519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 dirty="0">
                <a:solidFill>
                  <a:srgbClr val="808080"/>
                </a:solidFill>
                <a:latin typeface="Fira Sans"/>
              </a:rPr>
              <a:t>Suite AI — Roadmap di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sviluppo</a:t>
            </a:r>
            <a:r>
              <a:rPr sz="800" b="0" i="0" dirty="0">
                <a:solidFill>
                  <a:srgbClr val="808080"/>
                </a:solidFill>
                <a:latin typeface="Fira Sans"/>
              </a:rPr>
              <a:t> — Uso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Interno</a:t>
            </a:r>
            <a:r>
              <a:rPr sz="800" b="0" i="0" dirty="0">
                <a:solidFill>
                  <a:srgbClr val="808080"/>
                </a:solidFill>
                <a:latin typeface="Fira Sans"/>
              </a:rPr>
              <a:t> </a:t>
            </a:r>
            <a:r>
              <a:rPr sz="800" b="0" i="0" dirty="0" err="1">
                <a:solidFill>
                  <a:srgbClr val="808080"/>
                </a:solidFill>
                <a:latin typeface="Fira Sans"/>
              </a:rPr>
              <a:t>Riservato</a:t>
            </a:r>
            <a:endParaRPr sz="800" b="0" i="0" dirty="0">
              <a:solidFill>
                <a:srgbClr val="808080"/>
              </a:solidFill>
              <a:latin typeface="Fir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336000" y="354338"/>
            <a:ext cx="7623000" cy="0"/>
          </a:xfrm>
          <a:prstGeom prst="line">
            <a:avLst/>
          </a:prstGeom>
          <a:ln w="38100">
            <a:solidFill>
              <a:srgbClr val="E52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131038" y="354338"/>
            <a:ext cx="3726000" cy="0"/>
          </a:xfrm>
          <a:prstGeom prst="line">
            <a:avLst/>
          </a:prstGeom>
          <a:ln w="38100">
            <a:solidFill>
              <a:srgbClr val="85BC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150" normalizeH="0" baseline="0" noProof="0">
                <a:ln>
                  <a:noFill/>
                </a:ln>
                <a:solidFill>
                  <a:srgbClr val="EDEDED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PROSSIMI PASSI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Cosa serve per partire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La Discovery è il gate di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tutto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: senza le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risposte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tecniche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, tempi 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architettura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restano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ipotesi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"/>
              <a:ea typeface="+mn-ea"/>
              <a:cs typeface="+mn-cs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Il PoC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misura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accuratezza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costi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su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un set di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valutazione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condiviso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, prima di ogni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impegno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di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sviluppo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"/>
              <a:ea typeface="+mn-ea"/>
              <a:cs typeface="+mn-cs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Le date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presentate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sono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una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proposta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: le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validiamo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insieme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 in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2994660"/>
            <a:ext cx="3636264" cy="914400"/>
          </a:xfrm>
          <a:prstGeom prst="rect">
            <a:avLst/>
          </a:prstGeom>
          <a:solidFill>
            <a:srgbClr val="007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30861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360420"/>
            <a:ext cx="32705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Calendarizzare la Discovery tecnica (ago-set 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8912" y="2994660"/>
            <a:ext cx="3636264" cy="914400"/>
          </a:xfrm>
          <a:prstGeom prst="rect">
            <a:avLst/>
          </a:prstGeom>
          <a:solidFill>
            <a:srgbClr val="85B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31792" y="30861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1792" y="3360420"/>
            <a:ext cx="32705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Identificare il referente tecnico One Fiscale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8056" y="2994660"/>
            <a:ext cx="3636264" cy="914400"/>
          </a:xfrm>
          <a:prstGeom prst="rect">
            <a:avLst/>
          </a:prstGeom>
          <a:solidFill>
            <a:srgbClr val="E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50936" y="30861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0936" y="3360420"/>
            <a:ext cx="327050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Predisporre sandbox e condizioni di accesso per il PoC</a:t>
            </a:r>
          </a:p>
        </p:txBody>
      </p:sp>
      <p:pic>
        <p:nvPicPr>
          <p:cNvPr id="17" name="Picture 16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6080760"/>
            <a:ext cx="201168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EDEDED"/>
                </a:solidFill>
                <a:effectLst/>
                <a:uLnTx/>
                <a:uFillTx/>
                <a:latin typeface="Fira Sans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301752"/>
            <a:ext cx="1143000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400" b="1" dirty="0">
                <a:solidFill>
                  <a:srgbClr val="0F3B66"/>
                </a:solidFill>
                <a:latin typeface="Calibri"/>
              </a:rPr>
              <a:t>Modello Costi della Soluzione TCF + One Fiscale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41248"/>
            <a:ext cx="114300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300" b="0" dirty="0">
                <a:solidFill>
                  <a:srgbClr val="5A6672"/>
                </a:solidFill>
                <a:latin typeface="Calibri"/>
              </a:rPr>
              <a:t>Voci di costo identificate — valori economici da definire in fase di scoping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22960"/>
            <a:ext cx="1097280" cy="36576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417320"/>
            <a:ext cx="114300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0F3B66"/>
                </a:solidFill>
                <a:latin typeface="Calibri"/>
              </a:rPr>
              <a:t>COSTI DI PROGETTO NTT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09928"/>
            <a:ext cx="11430000" cy="18288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0F3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404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" y="1810512"/>
            <a:ext cx="91440" cy="192024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Sviluppo TCF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0F3B66"/>
                </a:solidFill>
                <a:latin typeface="Calibri"/>
              </a:rPr>
              <a:t>€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Sviluppo del connettore, adattamento wizard/RCM, integrazione UI e orchestrazione lato TCF per i casi d’uso.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500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500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92168" y="1810512"/>
            <a:ext cx="91440" cy="19202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648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Sviluppo Legal (FAB)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648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1F5FA8"/>
                </a:solidFill>
                <a:latin typeface="Calibri"/>
              </a:rPr>
              <a:t>€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648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Configurazione workspace FAB, creazione degli agenti, ingegneria dei system prompt e allineamento indici.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5968" y="1810512"/>
            <a:ext cx="3688080" cy="1920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0F8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25968" y="1810512"/>
            <a:ext cx="228600" cy="1920240"/>
          </a:xfrm>
          <a:prstGeom prst="roundRect">
            <a:avLst>
              <a:gd name="adj" fmla="val 20000"/>
            </a:avLst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63128" y="1810512"/>
            <a:ext cx="91440" cy="1920240"/>
          </a:xfrm>
          <a:prstGeom prst="rect">
            <a:avLst/>
          </a:prstGeom>
          <a:solidFill>
            <a:srgbClr val="0F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37448" y="1947672"/>
            <a:ext cx="31394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Manutenzione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7448" y="2313432"/>
            <a:ext cx="3139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0F8A3A"/>
                </a:solidFill>
                <a:latin typeface="Calibri"/>
              </a:rPr>
              <a:t>€ ? / anno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7448" y="2907792"/>
            <a:ext cx="313944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Manutenzione evolutiva, tuning dei prompt, aggiornamento dataset e monitoraggio qualità delle risposte.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886200"/>
            <a:ext cx="114300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00" b="1" dirty="0">
                <a:solidFill>
                  <a:srgbClr val="E07B00"/>
                </a:solidFill>
                <a:latin typeface="Calibri"/>
              </a:rPr>
              <a:t>COSTI PIATTAFORMA FAB · WK LEGAL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178808"/>
            <a:ext cx="11430000" cy="18288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84048" y="4279392"/>
            <a:ext cx="553212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84048" y="4279392"/>
            <a:ext cx="228600" cy="1691640"/>
          </a:xfrm>
          <a:prstGeom prst="roundRect">
            <a:avLst>
              <a:gd name="adj" fmla="val 2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21208" y="4279392"/>
            <a:ext cx="91440" cy="169164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4416552"/>
            <a:ext cx="4983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Costo Variabile per utilizzo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782312"/>
            <a:ext cx="4983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E07B00"/>
                </a:solidFill>
                <a:latin typeface="Calibri"/>
              </a:rPr>
              <a:t>€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376672"/>
            <a:ext cx="49834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Quota variabile in funzione del volume di chiamate agli agenti / token consumati.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279392"/>
            <a:ext cx="553212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81928" y="4279392"/>
            <a:ext cx="228600" cy="1691640"/>
          </a:xfrm>
          <a:prstGeom prst="roundRect">
            <a:avLst>
              <a:gd name="adj" fmla="val 20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19088" y="4279392"/>
            <a:ext cx="91440" cy="169164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93408" y="4416552"/>
            <a:ext cx="498348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1150" b="1" dirty="0">
                <a:solidFill>
                  <a:srgbClr val="5A6672"/>
                </a:solidFill>
                <a:latin typeface="Calibri"/>
              </a:rPr>
              <a:t>Costo fisso TCF Index FAB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4782312"/>
            <a:ext cx="4983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2200" b="1" dirty="0">
                <a:solidFill>
                  <a:srgbClr val="1F5FA8"/>
                </a:solidFill>
                <a:latin typeface="Calibri"/>
              </a:rPr>
              <a:t>€ ? / mese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376672"/>
            <a:ext cx="49834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50" b="0" dirty="0">
                <a:solidFill>
                  <a:srgbClr val="1A1A1A"/>
                </a:solidFill>
                <a:latin typeface="Calibri"/>
              </a:rPr>
              <a:t>Costo fisso di piattaforma per l’indice TCF Cliente dedicato sulla workspace FAB.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080760"/>
            <a:ext cx="11430000" cy="29260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Tutte le cifre sono da definire in fase di scoping contrattuale; escluso costi infrastrutturali Azure lato cliente.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" y="6446520"/>
            <a:ext cx="3657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it-IT" sz="900" b="0" dirty="0">
                <a:solidFill>
                  <a:srgbClr val="5A6672"/>
                </a:solidFill>
                <a:latin typeface="Calibri"/>
              </a:rPr>
              <a:t>© 2026 NTT DATA, Inc.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46520"/>
            <a:ext cx="13716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5A6672"/>
                </a:solidFill>
                <a:latin typeface="Calibri"/>
              </a:rPr>
              <a:t>7 / 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720840"/>
            <a:ext cx="11430000" cy="18288"/>
          </a:xfrm>
          <a:prstGeom prst="rect">
            <a:avLst/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solidFill>
            <a:srgbClr val="0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36576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194560"/>
            <a:ext cx="1143000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6000" b="1" dirty="0">
                <a:solidFill>
                  <a:srgbClr val="FFFFFF"/>
                </a:solidFill>
                <a:latin typeface="Calibri"/>
              </a:rP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566160"/>
            <a:ext cx="114300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2000" b="0" dirty="0">
                <a:solidFill>
                  <a:srgbClr val="FFFFFF"/>
                </a:solidFill>
                <a:latin typeface="Calibri"/>
              </a:rPr>
              <a:t>Integrazione One Fiscale su TCF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206240"/>
            <a:ext cx="114300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1300" b="0" dirty="0">
                <a:solidFill>
                  <a:srgbClr val="E8F1FB"/>
                </a:solidFill>
                <a:latin typeface="Calibri"/>
              </a:rPr>
              <a:t>Wolters Kluwer · NTT DATA – Luglio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649224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it-IT" sz="900" b="0" dirty="0">
                <a:solidFill>
                  <a:srgbClr val="E8F1FB"/>
                </a:solidFill>
                <a:latin typeface="Calibri"/>
              </a:rPr>
              <a:t>© 2026 NTT DATA, Inc.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735" y="608076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20095" y="6080760"/>
            <a:ext cx="1097280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lang="it-IT" sz="1600" b="1" dirty="0">
                <a:solidFill>
                  <a:srgbClr val="FFFFFF"/>
                </a:solidFill>
                <a:latin typeface="Calibri"/>
              </a:rPr>
              <a:t>NTT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 Covers - Partial Imag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7192D6A3-1225-40F5-AF57-6D44B1DCB40E}"/>
    </a:ext>
  </a:extLst>
</a:theme>
</file>

<file path=ppt/theme/theme2.xml><?xml version="1.0" encoding="utf-8"?>
<a:theme xmlns:a="http://schemas.openxmlformats.org/drawingml/2006/main" name="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NTT DATA_Inc_PowerPoint_Template.potx" id="{637C3609-3D5F-4C59-AE27-EE9CD6B09220}" vid="{18C1C4CD-636E-4D41-A29D-192E2144D9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D11DEA-153F-44F0-9AE9-2DDD60AC32F7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6ab99508-049d-47af-ae6f-c6d0631fa20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d29ea8-5e12-4c1d-b57f-8ae13a0788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07DAC9CC306A43B0EEB8DE80339185" ma:contentTypeVersion="10" ma:contentTypeDescription="Create a new document." ma:contentTypeScope="" ma:versionID="e13820e62a67a6ab11a7e72533a671b6">
  <xsd:schema xmlns:xsd="http://www.w3.org/2001/XMLSchema" xmlns:xs="http://www.w3.org/2001/XMLSchema" xmlns:p="http://schemas.microsoft.com/office/2006/metadata/properties" xmlns:ns2="43d29ea8-5e12-4c1d-b57f-8ae13a0788f8" targetNamespace="http://schemas.microsoft.com/office/2006/metadata/properties" ma:root="true" ma:fieldsID="c1f83d0835f26e552975c7b2333498ec" ns2:_="">
    <xsd:import namespace="43d29ea8-5e12-4c1d-b57f-8ae13a0788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29ea8-5e12-4c1d-b57f-8ae13a0788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FFB92-0B66-4B19-8B52-37427F84575C}">
  <ds:schemaRefs>
    <ds:schemaRef ds:uri="43d29ea8-5e12-4c1d-b57f-8ae13a0788f8"/>
    <ds:schemaRef ds:uri="e8cafdd4-4528-4476-ab16-00a5750ab81c"/>
    <ds:schemaRef ds:uri="f9e5c6ed-a414-487d-8643-813a0aafc40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881030-3065-4398-A86F-D475B50CD5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3D2197-B98F-43AF-B5B8-F29623158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d29ea8-5e12-4c1d-b57f-8ae13a0788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NTT DATA_Inc_PowerPoint_Template</Template>
  <TotalTime>12</TotalTime>
  <Words>1620</Words>
  <Application>Microsoft Office PowerPoint</Application>
  <PresentationFormat>Widescreen</PresentationFormat>
  <Paragraphs>210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3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Arial</vt:lpstr>
      <vt:lpstr>Calibri</vt:lpstr>
      <vt:lpstr>Fira Sans</vt:lpstr>
      <vt:lpstr>Georgia</vt:lpstr>
      <vt:lpstr>Light Covers - Partial Images</vt:lpstr>
      <vt:lpstr>Light Body Slides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DATA, Inc. Corporate Overview</dc:title>
  <dc:subject>NTT DATA, Inc. Corporate Overview Presentation</dc:subject>
  <dc:creator>NTT DATA, Inc. Marketing</dc:creator>
  <cp:keywords>NTT DATA, Inc.;PowerPoint Template</cp:keywords>
  <dc:description>July 2025 Update</dc:description>
  <cp:lastModifiedBy>De Maestri, Riccardo</cp:lastModifiedBy>
  <cp:revision>1</cp:revision>
  <dcterms:created xsi:type="dcterms:W3CDTF">2024-11-25T12:27:17Z</dcterms:created>
  <dcterms:modified xsi:type="dcterms:W3CDTF">2026-07-29T16:19:38Z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0x0101005D07DAC9CC306A43B0EEB8DE80339185</vt:lpwstr>
  </property>
  <property fmtid="{D5CDD505-2E9C-101B-9397-08002B2CF9AE}" pid="3" name="MSIP_Label_4637e5cc-ed1f-4ad6-a881-35c0f1c6f3d8_Enabled">
    <vt:lpwstr>true</vt:lpwstr>
  </property>
  <property fmtid="{D5CDD505-2E9C-101B-9397-08002B2CF9AE}" pid="4" name="MSIP_Label_4637e5cc-ed1f-4ad6-a881-35c0f1c6f3d8_SetDate">
    <vt:lpwstr>2025-02-11T17:29:51Z</vt:lpwstr>
  </property>
  <property fmtid="{D5CDD505-2E9C-101B-9397-08002B2CF9AE}" pid="5" name="MSIP_Label_4637e5cc-ed1f-4ad6-a881-35c0f1c6f3d8_Method">
    <vt:lpwstr>Standard</vt:lpwstr>
  </property>
  <property fmtid="{D5CDD505-2E9C-101B-9397-08002B2CF9AE}" pid="6" name="MSIP_Label_4637e5cc-ed1f-4ad6-a881-35c0f1c6f3d8_Name">
    <vt:lpwstr>General</vt:lpwstr>
  </property>
  <property fmtid="{D5CDD505-2E9C-101B-9397-08002B2CF9AE}" pid="7" name="MSIP_Label_4637e5cc-ed1f-4ad6-a881-35c0f1c6f3d8_SiteId">
    <vt:lpwstr>e3cf3c98-a978-465f-8254-9d541eeea73c</vt:lpwstr>
  </property>
  <property fmtid="{D5CDD505-2E9C-101B-9397-08002B2CF9AE}" pid="8" name="MSIP_Label_4637e5cc-ed1f-4ad6-a881-35c0f1c6f3d8_ActionId">
    <vt:lpwstr>dba746bd-02fe-4b4d-bc89-8a3bf1054ea7</vt:lpwstr>
  </property>
  <property fmtid="{D5CDD505-2E9C-101B-9397-08002B2CF9AE}" pid="9" name="MSIP_Label_4637e5cc-ed1f-4ad6-a881-35c0f1c6f3d8_ContentBits">
    <vt:lpwstr>2</vt:lpwstr>
  </property>
  <property fmtid="{D5CDD505-2E9C-101B-9397-08002B2CF9AE}" pid="10" name="ClassificationContentMarkingFooterLocations">
    <vt:lpwstr>Light Covers - Partial Images:7\Light Covers - No Image:7\Light Body Slides:8\Light Body Slides - Small Title, Large Subtitle:8\Light Dividers:6\Light Blank Slides:4\Dark Covers - Partial Images:7\Dark Covers - No Image:5\Dark Body Slides:9\Dark Body Slides - Small Title, Large Subtitle:9\Dark Dividers:8\Dark Blank Slides:4\1_Back Covers:3</vt:lpwstr>
  </property>
  <property fmtid="{D5CDD505-2E9C-101B-9397-08002B2CF9AE}" pid="11" name="ClassificationContentMarkingFooterText">
    <vt:lpwstr>Sensitivity Label: General</vt:lpwstr>
  </property>
  <property fmtid="{D5CDD505-2E9C-101B-9397-08002B2CF9AE}" pid="12" name="MediaServiceImageTags">
    <vt:lpwstr/>
  </property>
  <property fmtid="{D5CDD505-2E9C-101B-9397-08002B2CF9AE}" pid="13" name="T2KCategory">
    <vt:lpwstr>3;#Brand|832b67cf-1f4d-4e03-97fa-b9a01cdb780b</vt:lpwstr>
  </property>
  <property fmtid="{D5CDD505-2E9C-101B-9397-08002B2CF9AE}" pid="14" name="TogoLocations">
    <vt:lpwstr/>
  </property>
  <property fmtid="{D5CDD505-2E9C-101B-9397-08002B2CF9AE}" pid="15" name="a01feae194714aa882aedc460c3c0dc2">
    <vt:lpwstr/>
  </property>
  <property fmtid="{D5CDD505-2E9C-101B-9397-08002B2CF9AE}" pid="16" name="TogoDepartments">
    <vt:lpwstr/>
  </property>
  <property fmtid="{D5CDD505-2E9C-101B-9397-08002B2CF9AE}" pid="17" name="TogoDocumentsCategory">
    <vt:lpwstr/>
  </property>
  <property fmtid="{D5CDD505-2E9C-101B-9397-08002B2CF9AE}" pid="18" name="TogoTags">
    <vt:lpwstr/>
  </property>
  <property fmtid="{D5CDD505-2E9C-101B-9397-08002B2CF9AE}" pid="19" name="Order">
    <vt:lpwstr>7755500.00000000</vt:lpwstr>
  </property>
  <property fmtid="{D5CDD505-2E9C-101B-9397-08002B2CF9AE}" pid="20" name="ComplianceAssetId">
    <vt:lpwstr/>
  </property>
  <property fmtid="{D5CDD505-2E9C-101B-9397-08002B2CF9AE}" pid="21" name="_ExtendedDescription">
    <vt:lpwstr/>
  </property>
  <property fmtid="{D5CDD505-2E9C-101B-9397-08002B2CF9AE}" pid="22" name="TriggerFlowInfo">
    <vt:lpwstr/>
  </property>
  <property fmtid="{D5CDD505-2E9C-101B-9397-08002B2CF9AE}" pid="23" name="MSIP_Label_fe6ee112-9e5c-4f16-b63d-fcad06e1707e_Enabled">
    <vt:lpwstr>true</vt:lpwstr>
  </property>
  <property fmtid="{D5CDD505-2E9C-101B-9397-08002B2CF9AE}" pid="24" name="MSIP_Label_fe6ee112-9e5c-4f16-b63d-fcad06e1707e_SetDate">
    <vt:lpwstr>2026-07-29T16:06:58Z</vt:lpwstr>
  </property>
  <property fmtid="{D5CDD505-2E9C-101B-9397-08002B2CF9AE}" pid="25" name="MSIP_Label_fe6ee112-9e5c-4f16-b63d-fcad06e1707e_Method">
    <vt:lpwstr>Standard</vt:lpwstr>
  </property>
  <property fmtid="{D5CDD505-2E9C-101B-9397-08002B2CF9AE}" pid="26" name="MSIP_Label_fe6ee112-9e5c-4f16-b63d-fcad06e1707e_Name">
    <vt:lpwstr>Internal Use</vt:lpwstr>
  </property>
  <property fmtid="{D5CDD505-2E9C-101B-9397-08002B2CF9AE}" pid="27" name="MSIP_Label_fe6ee112-9e5c-4f16-b63d-fcad06e1707e_SiteId">
    <vt:lpwstr>8ac76c91-e7f1-41ff-a89c-3553b2da2c17</vt:lpwstr>
  </property>
  <property fmtid="{D5CDD505-2E9C-101B-9397-08002B2CF9AE}" pid="28" name="MSIP_Label_fe6ee112-9e5c-4f16-b63d-fcad06e1707e_ActionId">
    <vt:lpwstr>39b27fdd-de9e-47a1-a4ac-820e2b0956cc</vt:lpwstr>
  </property>
  <property fmtid="{D5CDD505-2E9C-101B-9397-08002B2CF9AE}" pid="29" name="MSIP_Label_fe6ee112-9e5c-4f16-b63d-fcad06e1707e_ContentBits">
    <vt:lpwstr>0</vt:lpwstr>
  </property>
  <property fmtid="{D5CDD505-2E9C-101B-9397-08002B2CF9AE}" pid="30" name="MSIP_Label_fe6ee112-9e5c-4f16-b63d-fcad06e1707e_Tag">
    <vt:lpwstr>10, 3, 0, 1</vt:lpwstr>
  </property>
</Properties>
</file>