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7" Type="http://schemas.microsoft.com/office/2020/02/relationships/classificationlabels" Target="docMetadata/LabelInfo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4075" r:id="rId4"/>
    <p:sldMasterId id="2147484182" r:id="rId5"/>
    <p:sldMasterId id="2147484251" r:id="rId6"/>
  </p:sldMasterIdLst>
  <p:notesMasterIdLst>
    <p:notesMasterId r:id="rId19"/>
  </p:notesMasterIdLst>
  <p:handoutMasterIdLst>
    <p:handoutMasterId r:id="rId20"/>
  </p:handoutMasterIdLst>
  <p:sldIdLst>
    <p:sldId id="256" r:id="rId7"/>
    <p:sldId id="257" r:id="rId8"/>
    <p:sldId id="258" r:id="rId9"/>
    <p:sldId id="259" r:id="rId10"/>
    <p:sldId id="260" r:id="rId11"/>
    <p:sldId id="261" r:id="rId12"/>
    <p:sldId id="266" r:id="rId13"/>
    <p:sldId id="264" r:id="rId14"/>
    <p:sldId id="265" r:id="rId15"/>
    <p:sldId id="262" r:id="rId16"/>
    <p:sldId id="267" r:id="rId17"/>
    <p:sldId id="263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37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240" userDrawn="1">
          <p15:clr>
            <a:srgbClr val="A4A3A4"/>
          </p15:clr>
        </p15:guide>
        <p15:guide id="4" pos="7440" userDrawn="1">
          <p15:clr>
            <a:srgbClr val="A4A3A4"/>
          </p15:clr>
        </p15:guide>
        <p15:guide id="5" orient="horz" pos="3984" userDrawn="1">
          <p15:clr>
            <a:srgbClr val="A4A3A4"/>
          </p15:clr>
        </p15:guide>
        <p15:guide id="6" orient="horz" pos="182" userDrawn="1">
          <p15:clr>
            <a:srgbClr val="A4A3A4"/>
          </p15:clr>
        </p15:guide>
        <p15:guide id="7" orient="horz" pos="864" userDrawn="1">
          <p15:clr>
            <a:srgbClr val="A4A3A4"/>
          </p15:clr>
        </p15:guide>
        <p15:guide id="8" orient="horz" pos="1968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095404C-A7BE-FC70-EE89-EBE36D82CF8E}" name="Renschi Marais" initials="RM" userId="S::renschi.marais@global.ntt::befb9f5c-78bf-4e8d-a329-fcef54fe93f4" providerId="AD"/>
  <p188:author id="{C6EAA887-68B4-5E96-11E6-5DB70CE6BCF9}" name="Melissa Davidson" initials="MD" userId="S::melissa.davidson@global.ntt::90ab4fa7-413d-4469-8f01-6d10a7ee0b31" providerId="AD"/>
  <p188:author id="{50799EA2-0F81-D86B-14DA-20F47A76FAF5}" name="Henrietta Lacey-Gutsell" initials="HL" userId="70b1f3bbeff9bb74" providerId="Windows Live"/>
  <p188:author id="{553198A8-AE1E-AD66-F4A6-3FED38F96F75}" name="Ellen Hassett Cahill" initials="EH" userId="S::259272@NTTDATA.COM::f846f2b2-854b-45df-bd03-b20186d9fba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E4094"/>
    <a:srgbClr val="050D24"/>
    <a:srgbClr val="E5E5E5"/>
    <a:srgbClr val="19A3FC"/>
    <a:srgbClr val="000000"/>
    <a:srgbClr val="FFFFFF"/>
    <a:srgbClr val="0072BC"/>
    <a:srgbClr val="009AA4"/>
    <a:srgbClr val="007076"/>
    <a:srgbClr val="2E404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EC45E2D-FE17-40A7-839D-52160D4A882D}" v="5" dt="2026-07-29T16:18:18.25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72833802-FEF1-4C79-8D5D-14CF1EAF98D9}" styleName="Light Style 2 –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012ECD-51FC-41F1-AA8D-1B2483CD663E}" styleName="Light Style 2 –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B4B98B0-60AC-42C2-AFA5-B58CD77FA1E5}" styleName="Light Style 1 –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4" d="100"/>
          <a:sy n="114" d="100"/>
        </p:scale>
        <p:origin x="354" y="96"/>
      </p:cViewPr>
      <p:guideLst>
        <p:guide orient="horz" pos="1837"/>
        <p:guide pos="3840"/>
        <p:guide pos="240"/>
        <p:guide pos="7440"/>
        <p:guide orient="horz" pos="3984"/>
        <p:guide orient="horz" pos="182"/>
        <p:guide orient="horz" pos="864"/>
        <p:guide orient="horz" pos="196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26" Type="http://schemas.microsoft.com/office/2015/10/relationships/revisionInfo" Target="revisionInfo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slide" Target="slides/slide10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5.xml"/><Relationship Id="rId24" Type="http://schemas.openxmlformats.org/officeDocument/2006/relationships/tableStyles" Target="tableStyle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9.xml"/><Relationship Id="rId23" Type="http://schemas.openxmlformats.org/officeDocument/2006/relationships/theme" Target="theme/theme1.xml"/><Relationship Id="rId10" Type="http://schemas.openxmlformats.org/officeDocument/2006/relationships/slide" Target="slides/slide4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viewProps" Target="viewProps.xml"/><Relationship Id="rId27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O MUSMANNO" userId="e5f53ad3-e5e2-4f6c-826c-f2124de6d8f0" providerId="ADAL" clId="{B7A41415-7B14-4626-A9DF-4F23A07B893D}"/>
    <pc:docChg chg="undo custSel addSld delSld modSld sldOrd modMainMaster addSection delSection modSection">
      <pc:chgData name="FRANCESCO MUSMANNO" userId="e5f53ad3-e5e2-4f6c-826c-f2124de6d8f0" providerId="ADAL" clId="{B7A41415-7B14-4626-A9DF-4F23A07B893D}" dt="2026-07-03T10:52:55.337" v="10371" actId="108"/>
      <pc:docMkLst>
        <pc:docMk/>
      </pc:docMkLst>
      <pc:sldMasterChg chg="addSldLayout">
        <pc:chgData name="FRANCESCO MUSMANNO" userId="e5f53ad3-e5e2-4f6c-826c-f2124de6d8f0" providerId="ADAL" clId="{B7A41415-7B14-4626-A9DF-4F23A07B893D}" dt="2026-07-03T10:32:54.886" v="10053"/>
        <pc:sldMasterMkLst>
          <pc:docMk/>
          <pc:sldMasterMk cId="674052129" sldId="2147484182"/>
        </pc:sldMasterMkLst>
        <pc:sldLayoutChg chg="add">
          <pc:chgData name="FRANCESCO MUSMANNO" userId="e5f53ad3-e5e2-4f6c-826c-f2124de6d8f0" providerId="ADAL" clId="{B7A41415-7B14-4626-A9DF-4F23A07B893D}" dt="2026-07-03T10:32:54.886" v="10053"/>
          <pc:sldLayoutMkLst>
            <pc:docMk/>
            <pc:sldMasterMk cId="674052129" sldId="2147484182"/>
            <pc:sldLayoutMk cId="1888250806" sldId="2147484249"/>
          </pc:sldLayoutMkLst>
        </pc:sldLayoutChg>
      </pc:sldMasterChg>
    </pc:docChg>
  </pc:docChgLst>
  <pc:docChgLst>
    <pc:chgData name="De Maestri, Riccardo" userId="56fdb4e5-66d0-4011-8588-f4194f0c73f2" providerId="ADAL" clId="{22B24015-B47D-4ADF-BF9B-312B8220BC17}"/>
    <pc:docChg chg="custSel mod addSld delSld modSld sldOrd">
      <pc:chgData name="De Maestri, Riccardo" userId="56fdb4e5-66d0-4011-8588-f4194f0c73f2" providerId="ADAL" clId="{22B24015-B47D-4ADF-BF9B-312B8220BC17}" dt="2026-07-29T16:19:30.796" v="12" actId="478"/>
      <pc:docMkLst>
        <pc:docMk/>
      </pc:docMkLst>
      <pc:sldChg chg="ord">
        <pc:chgData name="De Maestri, Riccardo" userId="56fdb4e5-66d0-4011-8588-f4194f0c73f2" providerId="ADAL" clId="{22B24015-B47D-4ADF-BF9B-312B8220BC17}" dt="2026-07-29T16:13:27.382" v="7"/>
        <pc:sldMkLst>
          <pc:docMk/>
          <pc:sldMk cId="0" sldId="262"/>
        </pc:sldMkLst>
      </pc:sldChg>
      <pc:sldChg chg="delSp add mod setBg">
        <pc:chgData name="De Maestri, Riccardo" userId="56fdb4e5-66d0-4011-8588-f4194f0c73f2" providerId="ADAL" clId="{22B24015-B47D-4ADF-BF9B-312B8220BC17}" dt="2026-07-29T16:19:30.796" v="12" actId="478"/>
        <pc:sldMkLst>
          <pc:docMk/>
          <pc:sldMk cId="0" sldId="264"/>
        </pc:sldMkLst>
        <pc:picChg chg="del">
          <ac:chgData name="De Maestri, Riccardo" userId="56fdb4e5-66d0-4011-8588-f4194f0c73f2" providerId="ADAL" clId="{22B24015-B47D-4ADF-BF9B-312B8220BC17}" dt="2026-07-29T16:19:30.796" v="12" actId="478"/>
          <ac:picMkLst>
            <pc:docMk/>
            <pc:sldMk cId="0" sldId="264"/>
            <ac:picMk id="28" creationId="{9734DDCD-E917-930B-34B4-D9B85CBFA56F}"/>
          </ac:picMkLst>
        </pc:picChg>
      </pc:sldChg>
      <pc:sldChg chg="add del setBg">
        <pc:chgData name="De Maestri, Riccardo" userId="56fdb4e5-66d0-4011-8588-f4194f0c73f2" providerId="ADAL" clId="{22B24015-B47D-4ADF-BF9B-312B8220BC17}" dt="2026-07-29T16:12:15.664" v="5"/>
        <pc:sldMkLst>
          <pc:docMk/>
          <pc:sldMk cId="0" sldId="265"/>
        </pc:sldMkLst>
      </pc:sldChg>
      <pc:sldChg chg="delSp add mod ord setBg">
        <pc:chgData name="De Maestri, Riccardo" userId="56fdb4e5-66d0-4011-8588-f4194f0c73f2" providerId="ADAL" clId="{22B24015-B47D-4ADF-BF9B-312B8220BC17}" dt="2026-07-29T16:18:38.739" v="11" actId="478"/>
        <pc:sldMkLst>
          <pc:docMk/>
          <pc:sldMk cId="0" sldId="266"/>
        </pc:sldMkLst>
        <pc:picChg chg="del">
          <ac:chgData name="De Maestri, Riccardo" userId="56fdb4e5-66d0-4011-8588-f4194f0c73f2" providerId="ADAL" clId="{22B24015-B47D-4ADF-BF9B-312B8220BC17}" dt="2026-07-29T16:18:38.739" v="11" actId="478"/>
          <ac:picMkLst>
            <pc:docMk/>
            <pc:sldMk cId="0" sldId="266"/>
            <ac:picMk id="11" creationId="{00000000-0000-0000-0000-000000000000}"/>
          </ac:picMkLst>
        </pc:picChg>
      </pc:sldChg>
    </pc:docChg>
  </pc:docChgLst>
  <pc:docChgLst>
    <pc:chgData name="CESARE SALERNO" userId="22e026cd-c4e1-4231-8421-045c06cc7edf" providerId="ADAL" clId="{99F8FF1A-A72A-4619-A85F-6E0162BE768F}"/>
    <pc:docChg chg="custSel addSld delSld modSld delMainMaster">
      <pc:chgData name="CESARE SALERNO" userId="22e026cd-c4e1-4231-8421-045c06cc7edf" providerId="ADAL" clId="{99F8FF1A-A72A-4619-A85F-6E0162BE768F}" dt="2026-07-28T07:23:18.493" v="5" actId="20577"/>
      <pc:docMkLst>
        <pc:docMk/>
      </pc:docMkLst>
      <pc:sldChg chg="modSp mod">
        <pc:chgData name="CESARE SALERNO" userId="22e026cd-c4e1-4231-8421-045c06cc7edf" providerId="ADAL" clId="{99F8FF1A-A72A-4619-A85F-6E0162BE768F}" dt="2026-07-28T07:23:18.493" v="5" actId="20577"/>
        <pc:sldMkLst>
          <pc:docMk/>
          <pc:sldMk cId="0" sldId="261"/>
        </pc:sldMkLst>
        <pc:spChg chg="mod">
          <ac:chgData name="CESARE SALERNO" userId="22e026cd-c4e1-4231-8421-045c06cc7edf" providerId="ADAL" clId="{99F8FF1A-A72A-4619-A85F-6E0162BE768F}" dt="2026-07-28T07:23:18.493" v="5" actId="20577"/>
          <ac:spMkLst>
            <pc:docMk/>
            <pc:sldMk cId="0" sldId="261"/>
            <ac:spMk id="25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F5F3CF2-0D2F-62EB-F9FA-5289929439E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>
              <a:latin typeface="Arial" panose="020B0604020202020204" pitchFamily="34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5D0CDA-4A74-7373-1A98-BA772C315F9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8BF9E0-02C4-234E-AF12-F32F5E61E023}" type="datetimeFigureOut">
              <a:rPr lang="en-US" smtClean="0">
                <a:latin typeface="Arial" panose="020B0604020202020204" pitchFamily="34" charset="0"/>
              </a:rPr>
              <a:t>7/30/2026</a:t>
            </a:fld>
            <a:endParaRPr lang="en-US">
              <a:latin typeface="Arial" panose="020B060402020202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0C38906-40BE-6961-6268-E0C407BC82F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>
              <a:latin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9C8528-A8AA-EDCA-B140-81A4C4FD127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0723CE-3F45-1C4A-8C37-B8E64C81DE38}" type="slidenum">
              <a:rPr lang="en-US" smtClean="0">
                <a:latin typeface="Arial" panose="020B0604020202020204" pitchFamily="34" charset="0"/>
              </a:rPr>
              <a:t>‹#›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646062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fld id="{4BACC3CC-056C-4C7B-97E3-8A853401A333}" type="datetimeFigureOut">
              <a:rPr lang="en-US" smtClean="0"/>
              <a:pPr/>
              <a:t>7/30/2026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fld id="{3ABF52DC-EC59-4DE1-BAC7-23B3848E6B8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8378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Background, Full Innovation Curve on Lef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0">
            <a:extLst>
              <a:ext uri="{FF2B5EF4-FFF2-40B4-BE49-F238E27FC236}">
                <a16:creationId xmlns:a16="http://schemas.microsoft.com/office/drawing/2014/main" id="{4C066D7D-0D2A-E525-7A09-B865124FD3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0" y="3352800"/>
            <a:ext cx="12192000" cy="3505200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 marL="914400" indent="0">
              <a:buNone/>
              <a:defRPr>
                <a:noFill/>
              </a:defRPr>
            </a:lvl3pPr>
            <a:lvl4pPr marL="1371600" indent="0">
              <a:buNone/>
              <a:defRPr>
                <a:noFill/>
              </a:defRPr>
            </a:lvl4pPr>
            <a:lvl5pPr marL="1828800" indent="0">
              <a:buNone/>
              <a:defRPr>
                <a:noFill/>
              </a:defRPr>
            </a:lvl5pPr>
          </a:lstStyle>
          <a:p>
            <a:pPr lvl="0"/>
            <a:endParaRPr lang="en-US" noProof="0"/>
          </a:p>
        </p:txBody>
      </p:sp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64ED725C-5701-90B3-92A2-BAE98517DD4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3352800"/>
            <a:ext cx="12192000" cy="3509682"/>
          </a:xfrm>
          <a:prstGeom prst="rect">
            <a:avLst/>
          </a:prstGeom>
          <a:solidFill>
            <a:schemeClr val="tx1">
              <a:lumMod val="65000"/>
            </a:schemeClr>
          </a:solidFill>
        </p:spPr>
        <p:txBody>
          <a:bodyPr lIns="0" tIns="0" rIns="0" bIns="0" anchor="ctr"/>
          <a:lstStyle>
            <a:lvl1pPr marL="0" indent="0" algn="ctr">
              <a:buFontTx/>
              <a:buNone/>
              <a:defRPr sz="2400">
                <a:solidFill>
                  <a:schemeClr val="tx2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noProof="0"/>
              <a:t>Click to add image.</a:t>
            </a:r>
            <a:br>
              <a:rPr lang="en-US" noProof="0"/>
            </a:br>
            <a:r>
              <a:rPr lang="en-US" noProof="0"/>
              <a:t>Then Reorder: Send to back</a:t>
            </a:r>
          </a:p>
        </p:txBody>
      </p:sp>
      <p:sp>
        <p:nvSpPr>
          <p:cNvPr id="2" name="Innovation Curve Over">
            <a:extLst>
              <a:ext uri="{FF2B5EF4-FFF2-40B4-BE49-F238E27FC236}">
                <a16:creationId xmlns:a16="http://schemas.microsoft.com/office/drawing/2014/main" id="{6CF4C396-FB7A-4611-B9A9-DD62A7F1A8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00574" y="3733800"/>
            <a:ext cx="2723626" cy="2743200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Date">
            <a:extLst>
              <a:ext uri="{FF2B5EF4-FFF2-40B4-BE49-F238E27FC236}">
                <a16:creationId xmlns:a16="http://schemas.microsoft.com/office/drawing/2014/main" id="{E3BAD1A6-AE36-4EC7-E8E9-E68CE84F0678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381000" y="3049200"/>
            <a:ext cx="1315720" cy="304800"/>
          </a:xfrm>
        </p:spPr>
        <p:txBody>
          <a:bodyPr/>
          <a:lstStyle/>
          <a:p>
            <a:r>
              <a:rPr lang="en-US" noProof="0"/>
              <a:t>February 2026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F84AF061-2BD7-B395-13B3-8F8BF417226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1000" y="2438400"/>
            <a:ext cx="11430000" cy="609600"/>
          </a:xfrm>
          <a:prstGeom prst="rect">
            <a:avLst/>
          </a:prstGeom>
        </p:spPr>
        <p:txBody>
          <a:bodyPr lIns="0" rIns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noProof="0"/>
              <a:t>Click to enter the subtitle text</a:t>
            </a:r>
          </a:p>
        </p:txBody>
      </p:sp>
      <p:sp>
        <p:nvSpPr>
          <p:cNvPr id="7" name="MainTitle">
            <a:extLst>
              <a:ext uri="{FF2B5EF4-FFF2-40B4-BE49-F238E27FC236}">
                <a16:creationId xmlns:a16="http://schemas.microsoft.com/office/drawing/2014/main" id="{6B8D68FD-3EFC-86B8-83A6-942558B1B3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1066800"/>
            <a:ext cx="11430000" cy="1371600"/>
          </a:xfrm>
        </p:spPr>
        <p:txBody>
          <a:bodyPr/>
          <a:lstStyle/>
          <a:p>
            <a:r>
              <a:rPr lang="en-US" noProof="0"/>
              <a:t>Click to edit title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639E6271-C556-3CDE-4CA2-0E42C3B98DE9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8382000" y="3049200"/>
            <a:ext cx="3429000" cy="304800"/>
          </a:xfrm>
        </p:spPr>
        <p:txBody>
          <a:bodyPr/>
          <a:lstStyle>
            <a:lvl1pPr algn="r">
              <a:defRPr b="0" i="0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© 2026 NTT DATA, Inc.</a:t>
            </a:r>
          </a:p>
        </p:txBody>
      </p:sp>
      <p:sp>
        <p:nvSpPr>
          <p:cNvPr id="4" name="InformationType">
            <a:extLst>
              <a:ext uri="{FF2B5EF4-FFF2-40B4-BE49-F238E27FC236}">
                <a16:creationId xmlns:a16="http://schemas.microsoft.com/office/drawing/2014/main" id="{C3DAC39C-CF8E-2F9C-ACD8-8D0BDB2310D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63060" y="3043518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28034793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Background, Full Innovation Curve on Righ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0">
            <a:extLst>
              <a:ext uri="{FF2B5EF4-FFF2-40B4-BE49-F238E27FC236}">
                <a16:creationId xmlns:a16="http://schemas.microsoft.com/office/drawing/2014/main" id="{4C066D7D-0D2A-E525-7A09-B865124FD3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0" y="3352800"/>
            <a:ext cx="12192000" cy="3505200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 marL="914400" indent="0">
              <a:buNone/>
              <a:defRPr>
                <a:noFill/>
              </a:defRPr>
            </a:lvl3pPr>
            <a:lvl4pPr marL="1371600" indent="0">
              <a:buNone/>
              <a:defRPr>
                <a:noFill/>
              </a:defRPr>
            </a:lvl4pPr>
            <a:lvl5pPr marL="1828800" indent="0">
              <a:buNone/>
              <a:defRPr>
                <a:noFill/>
              </a:defRPr>
            </a:lvl5pPr>
          </a:lstStyle>
          <a:p>
            <a:pPr lvl="0"/>
            <a:endParaRPr lang="en-US"/>
          </a:p>
        </p:txBody>
      </p:sp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64ED725C-5701-90B3-92A2-BAE98517DD4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3352800"/>
            <a:ext cx="12192000" cy="3509682"/>
          </a:xfrm>
          <a:prstGeom prst="rect">
            <a:avLst/>
          </a:prstGeom>
          <a:solidFill>
            <a:schemeClr val="tx1">
              <a:lumMod val="65000"/>
            </a:schemeClr>
          </a:solidFill>
        </p:spPr>
        <p:txBody>
          <a:bodyPr lIns="0" tIns="0" rIns="0" bIns="0" anchor="ctr"/>
          <a:lstStyle>
            <a:lvl1pPr marL="0" indent="0" algn="ctr">
              <a:buFontTx/>
              <a:buNone/>
              <a:defRPr sz="2400">
                <a:solidFill>
                  <a:schemeClr val="tx2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Click to add image.</a:t>
            </a:r>
            <a:br>
              <a:rPr lang="en-US"/>
            </a:br>
            <a:r>
              <a:rPr lang="en-US"/>
              <a:t>Then Reorder: Send to back</a:t>
            </a:r>
          </a:p>
        </p:txBody>
      </p:sp>
      <p:sp>
        <p:nvSpPr>
          <p:cNvPr id="2" name="Innovation Curve Over">
            <a:extLst>
              <a:ext uri="{FF2B5EF4-FFF2-40B4-BE49-F238E27FC236}">
                <a16:creationId xmlns:a16="http://schemas.microsoft.com/office/drawing/2014/main" id="{9B37F7D8-7643-FEC4-6844-838554ED4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067800" y="3733800"/>
            <a:ext cx="2741663" cy="2743200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">
            <a:extLst>
              <a:ext uri="{FF2B5EF4-FFF2-40B4-BE49-F238E27FC236}">
                <a16:creationId xmlns:a16="http://schemas.microsoft.com/office/drawing/2014/main" id="{FFBA20BF-6E67-EA95-53B0-F188DED3EBCD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381000" y="3049200"/>
            <a:ext cx="1315720" cy="3048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February 2026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F84AF061-2BD7-B395-13B3-8F8BF417226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1000" y="2438400"/>
            <a:ext cx="11430000" cy="609600"/>
          </a:xfrm>
          <a:prstGeom prst="rect">
            <a:avLst/>
          </a:prstGeom>
        </p:spPr>
        <p:txBody>
          <a:bodyPr lIns="0" rIns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noProof="0"/>
              <a:t>Click to enter the subtitle text</a:t>
            </a:r>
          </a:p>
        </p:txBody>
      </p:sp>
      <p:sp>
        <p:nvSpPr>
          <p:cNvPr id="7" name="MainTitle">
            <a:extLst>
              <a:ext uri="{FF2B5EF4-FFF2-40B4-BE49-F238E27FC236}">
                <a16:creationId xmlns:a16="http://schemas.microsoft.com/office/drawing/2014/main" id="{ABB14F8B-3974-9BD2-A151-F10E66DC4D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1066800"/>
            <a:ext cx="11430000" cy="1371600"/>
          </a:xfrm>
        </p:spPr>
        <p:txBody>
          <a:bodyPr/>
          <a:lstStyle/>
          <a:p>
            <a:r>
              <a:rPr lang="en-US" noProof="0"/>
              <a:t>Click to edit title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1D3E7B21-42CE-65FE-E9DB-ABE96BDEB78F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8458200" y="3049200"/>
            <a:ext cx="3352800" cy="304800"/>
          </a:xfrm>
        </p:spPr>
        <p:txBody>
          <a:bodyPr/>
          <a:lstStyle>
            <a:lvl1pPr algn="r">
              <a:defRPr b="0" i="0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© 2026 NTT DATA, Inc.</a:t>
            </a:r>
          </a:p>
        </p:txBody>
      </p:sp>
      <p:sp>
        <p:nvSpPr>
          <p:cNvPr id="4" name="InformationType">
            <a:extLst>
              <a:ext uri="{FF2B5EF4-FFF2-40B4-BE49-F238E27FC236}">
                <a16:creationId xmlns:a16="http://schemas.microsoft.com/office/drawing/2014/main" id="{0D1C59CF-9752-86EF-EC48-38D7153FEE2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63060" y="3048000"/>
            <a:ext cx="2065880" cy="300318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18418800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9224E-6D9A-F20A-E95C-3BD86FD1C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5D3C075-3634-BEB1-AB31-623AD293F0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February 2026</a:t>
            </a:r>
            <a:endParaRPr lang="en-Z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657D48-2016-6562-8C30-A2CF18ED17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© 2026 NTT 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1B9585-B814-96B8-821F-CFBD1EE52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937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1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February 2026</a:t>
            </a:r>
            <a:endParaRPr lang="en-Z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© 2026 NTT 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D21A092-B787-801E-8664-20954CF6809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1000" y="1371600"/>
            <a:ext cx="11430000" cy="4876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114367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066817-B6CF-A2DE-966F-DB9281D305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81000" y="1371600"/>
            <a:ext cx="5562600" cy="48768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7829AD-F282-6D19-1BDE-62A372EE46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48400" y="1371600"/>
            <a:ext cx="5562600" cy="48768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CFB687-132C-1CA9-8A9A-779EFBBCE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79F7A9-35D1-1344-0A60-0E8C3F562C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E9646E-BBCC-2CA0-9416-FFBF3870D6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600" y="6400800"/>
            <a:ext cx="4114800" cy="3048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© 2026 NTT DATA, Inc.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FA3CBC-D481-CBC2-5EFC-A4CAE0345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>
            <a:lvl1pPr algn="ctr">
              <a:defRPr/>
            </a:lvl1pPr>
          </a:lstStyle>
          <a:p>
            <a:fld id="{60D39823-8059-4D49-BD26-6D32C31B862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66819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3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066817-B6CF-A2DE-966F-DB9281D305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81000" y="1371600"/>
            <a:ext cx="3657600" cy="48768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7829AD-F282-6D19-1BDE-62A372EE46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67200" y="1371600"/>
            <a:ext cx="3657600" cy="48768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3BCA8BAD-045F-5449-26C8-1CC7E5D921AD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8153400" y="1371600"/>
            <a:ext cx="3657600" cy="48768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CFB687-132C-1CA9-8A9A-779EFBBCE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79F7A9-35D1-1344-0A60-0E8C3F562C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E9646E-BBCC-2CA0-9416-FFBF3870D6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600" y="6400800"/>
            <a:ext cx="4114800" cy="3048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© 2026 NTT DATA, Inc.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FA3CBC-D481-CBC2-5EFC-A4CAE0345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>
            <a:lvl1pPr algn="ctr">
              <a:defRPr/>
            </a:lvl1pPr>
          </a:lstStyle>
          <a:p>
            <a:fld id="{60D39823-8059-4D49-BD26-6D32C31B862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57388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February 2026</a:t>
            </a:r>
            <a:endParaRPr lang="en-Z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© 2026 NTT 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78332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1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7" name="sub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February 2026</a:t>
            </a:r>
            <a:endParaRPr lang="en-Z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2026 NTT 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568FE96-3E29-F907-5227-E6C308DA18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1000" y="1676400"/>
            <a:ext cx="11430000" cy="45720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532682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2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2026 NTT 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568FE96-3E29-F907-5227-E6C308DA18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1000" y="1676400"/>
            <a:ext cx="5562600" cy="45720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E71A1A39-1496-229F-4AC6-886D7CFB5B2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248400" y="1676400"/>
            <a:ext cx="5562600" cy="45720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930452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3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568FE96-3E29-F907-5227-E6C308DA18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1000" y="1676400"/>
            <a:ext cx="3657600" cy="45720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E71A1A39-1496-229F-4AC6-886D7CFB5B2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267200" y="1676400"/>
            <a:ext cx="3657600" cy="45720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ADFD2628-F803-8221-12EB-7198D350225D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153400" y="1676400"/>
            <a:ext cx="3657600" cy="45720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February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2026 NTT 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22231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ase Stu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CFDE1F7-62EC-6D2E-396B-811A505323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05200" y="539496"/>
            <a:ext cx="8305800" cy="557784"/>
          </a:xfrm>
          <a:prstGeom prst="rect">
            <a:avLst/>
          </a:prstGeom>
        </p:spPr>
        <p:txBody>
          <a:bodyPr lIns="0" tIns="0" rIns="0" bIns="0"/>
          <a:lstStyle>
            <a:lvl1pPr>
              <a:defRPr sz="2000">
                <a:solidFill>
                  <a:schemeClr val="tx2"/>
                </a:solidFill>
                <a:latin typeface="Georgia" panose="02040502050405020303" pitchFamily="18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C1BD431-D4B4-298C-982D-B1EB3888F5D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505200" y="365760"/>
            <a:ext cx="4284979" cy="128016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800">
                <a:solidFill>
                  <a:schemeClr val="bg2"/>
                </a:solidFill>
                <a:latin typeface="+mn-lt"/>
              </a:defRPr>
            </a:lvl1pPr>
            <a:lvl2pPr marL="457200" indent="0">
              <a:buNone/>
              <a:defRPr sz="800">
                <a:solidFill>
                  <a:schemeClr val="bg2"/>
                </a:solidFill>
                <a:latin typeface="+mn-lt"/>
              </a:defRPr>
            </a:lvl2pPr>
            <a:lvl3pPr marL="914400" indent="0">
              <a:buNone/>
              <a:defRPr sz="800">
                <a:solidFill>
                  <a:schemeClr val="bg2"/>
                </a:solidFill>
                <a:latin typeface="+mn-lt"/>
              </a:defRPr>
            </a:lvl3pPr>
            <a:lvl4pPr marL="1371600" indent="0">
              <a:buNone/>
              <a:defRPr sz="800">
                <a:solidFill>
                  <a:schemeClr val="bg2"/>
                </a:solidFill>
                <a:latin typeface="+mn-lt"/>
              </a:defRPr>
            </a:lvl4pPr>
            <a:lvl5pPr marL="1828800" indent="0">
              <a:buNone/>
              <a:defRPr sz="800">
                <a:solidFill>
                  <a:schemeClr val="bg2"/>
                </a:solidFill>
                <a:latin typeface="+mn-lt"/>
              </a:defRPr>
            </a:lvl5pPr>
          </a:lstStyle>
          <a:p>
            <a:pPr lvl="0"/>
            <a:r>
              <a:rPr lang="en-US"/>
              <a:t>Case study | Company | Region</a:t>
            </a:r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34E3891F-6B5F-192A-B2B0-E4C4CF22FBC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1000" y="1295400"/>
            <a:ext cx="2743200" cy="487680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2C01DE9E-5F31-F140-2E87-C0B1212E0821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810000" y="5076970"/>
            <a:ext cx="5822138" cy="554903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ts val="1200"/>
              </a:lnSpc>
              <a:spcBef>
                <a:spcPts val="0"/>
              </a:spcBef>
              <a:buNone/>
              <a:defRPr sz="900">
                <a:solidFill>
                  <a:schemeClr val="tx2"/>
                </a:solidFill>
                <a:latin typeface="Georgia" panose="02040502050405020303" pitchFamily="18" charset="0"/>
              </a:defRPr>
            </a:lvl1pPr>
            <a:lvl2pPr marL="457200" indent="0">
              <a:buNone/>
              <a:defRPr sz="900">
                <a:solidFill>
                  <a:schemeClr val="tx2"/>
                </a:solidFill>
                <a:latin typeface="Georgia" panose="02040502050405020303" pitchFamily="18" charset="0"/>
              </a:defRPr>
            </a:lvl2pPr>
            <a:lvl3pPr marL="914400" indent="0">
              <a:buNone/>
              <a:defRPr sz="900">
                <a:solidFill>
                  <a:schemeClr val="tx2"/>
                </a:solidFill>
                <a:latin typeface="Georgia" panose="02040502050405020303" pitchFamily="18" charset="0"/>
              </a:defRPr>
            </a:lvl3pPr>
            <a:lvl4pPr marL="1371600" indent="0">
              <a:buNone/>
              <a:defRPr sz="900">
                <a:solidFill>
                  <a:schemeClr val="tx2"/>
                </a:solidFill>
                <a:latin typeface="Georgia" panose="02040502050405020303" pitchFamily="18" charset="0"/>
              </a:defRPr>
            </a:lvl4pPr>
            <a:lvl5pPr marL="1828800" indent="0">
              <a:buNone/>
              <a:defRPr sz="900">
                <a:solidFill>
                  <a:schemeClr val="tx2"/>
                </a:solidFill>
                <a:latin typeface="Georgia" panose="02040502050405020303" pitchFamily="18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8">
            <a:extLst>
              <a:ext uri="{FF2B5EF4-FFF2-40B4-BE49-F238E27FC236}">
                <a16:creationId xmlns:a16="http://schemas.microsoft.com/office/drawing/2014/main" id="{51324C1C-4229-7DE2-097E-ED90CB5E44A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810001" y="5729432"/>
            <a:ext cx="4800600" cy="131763"/>
          </a:xfrm>
          <a:prstGeom prst="rect">
            <a:avLst/>
          </a:prstGeom>
        </p:spPr>
        <p:txBody>
          <a:bodyPr l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chemeClr val="bg2"/>
                </a:solidFill>
              </a:defRPr>
            </a:lvl1pPr>
            <a:lvl2pPr marL="457200" indent="0">
              <a:lnSpc>
                <a:spcPct val="100000"/>
              </a:lnSpc>
              <a:spcBef>
                <a:spcPts val="0"/>
              </a:spcBef>
              <a:buNone/>
              <a:defRPr sz="800">
                <a:solidFill>
                  <a:schemeClr val="bg2"/>
                </a:solidFill>
              </a:defRPr>
            </a:lvl2pPr>
            <a:lvl3pPr marL="914400" indent="0">
              <a:lnSpc>
                <a:spcPct val="100000"/>
              </a:lnSpc>
              <a:spcBef>
                <a:spcPts val="0"/>
              </a:spcBef>
              <a:buNone/>
              <a:defRPr sz="800">
                <a:solidFill>
                  <a:schemeClr val="bg2"/>
                </a:solidFill>
              </a:defRPr>
            </a:lvl3pPr>
            <a:lvl4pPr marL="1371600" indent="0">
              <a:lnSpc>
                <a:spcPct val="100000"/>
              </a:lnSpc>
              <a:spcBef>
                <a:spcPts val="0"/>
              </a:spcBef>
              <a:buNone/>
              <a:defRPr sz="800">
                <a:solidFill>
                  <a:schemeClr val="bg2"/>
                </a:solidFill>
              </a:defRPr>
            </a:lvl4pPr>
            <a:lvl5pPr marL="1828800" indent="0">
              <a:lnSpc>
                <a:spcPct val="100000"/>
              </a:lnSpc>
              <a:spcBef>
                <a:spcPts val="0"/>
              </a:spcBef>
              <a:buNone/>
              <a:defRPr sz="800"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Arial Bold name, Arial Regular title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137B176-3B35-FC26-E2B3-21D63E5555D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algn="ctr"/>
            <a:fld id="{83ADEA99-682E-4231-A4C9-95AE759D37D5}" type="slidenum">
              <a:rPr lang="en-SG" smtClean="0"/>
              <a:pPr algn="ctr"/>
              <a:t>‹#›</a:t>
            </a:fld>
            <a:endParaRPr lang="en-SG"/>
          </a:p>
        </p:txBody>
      </p:sp>
      <p:sp>
        <p:nvSpPr>
          <p:cNvPr id="2" name="Date">
            <a:extLst>
              <a:ext uri="{FF2B5EF4-FFF2-40B4-BE49-F238E27FC236}">
                <a16:creationId xmlns:a16="http://schemas.microsoft.com/office/drawing/2014/main" id="{D37E874D-75E8-4A65-C90D-674F69527C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400800"/>
            <a:ext cx="9144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/>
              <a:t>February 2026</a:t>
            </a:r>
          </a:p>
        </p:txBody>
      </p:sp>
      <p:sp>
        <p:nvSpPr>
          <p:cNvPr id="5" name="Legal">
            <a:extLst>
              <a:ext uri="{FF2B5EF4-FFF2-40B4-BE49-F238E27FC236}">
                <a16:creationId xmlns:a16="http://schemas.microsoft.com/office/drawing/2014/main" id="{DB47B5C7-E0CF-2B9F-0F4C-261A16FD76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599" y="6400800"/>
            <a:ext cx="4114801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 algn="l">
              <a:defRPr sz="800" b="0" i="0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© 2026 NTT DATA, Inc.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C5AF3DAB-9739-B787-806C-58C158A4019D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381000" y="539496"/>
            <a:ext cx="2743200" cy="557784"/>
          </a:xfrm>
          <a:prstGeom prst="rect">
            <a:avLst/>
          </a:prstGeom>
        </p:spPr>
        <p:txBody>
          <a:bodyPr anchor="ctr"/>
          <a:lstStyle>
            <a:lvl1pPr algn="ctr">
              <a:defRPr sz="1200"/>
            </a:lvl1pPr>
          </a:lstStyle>
          <a:p>
            <a:r>
              <a:rPr lang="en-US"/>
              <a:t>Client logo: Ensure no clipping occurs on insert</a:t>
            </a:r>
          </a:p>
        </p:txBody>
      </p:sp>
    </p:spTree>
    <p:extLst>
      <p:ext uri="{BB962C8B-B14F-4D97-AF65-F5344CB8AC3E}">
        <p14:creationId xmlns:p14="http://schemas.microsoft.com/office/powerpoint/2010/main" val="188825080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934548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93454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943315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254059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319420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45415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45629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924257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21507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450724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2807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683125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403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3.xml"/><Relationship Id="rId5" Type="http://schemas.openxmlformats.org/officeDocument/2006/relationships/slideLayout" Target="../slideLayouts/slideLayout7.xml"/><Relationship Id="rId10" Type="http://schemas.openxmlformats.org/officeDocument/2006/relationships/slideLayout" Target="../slideLayouts/slideLayout12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6ACE2E93-F0C6-496C-92F8-919FE557638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24601"/>
            <a:ext cx="12954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rgbClr val="050D24"/>
                </a:solidFill>
              </a:defRPr>
            </a:lvl1pPr>
          </a:lstStyle>
          <a:p>
            <a:r>
              <a:rPr lang="en-US" noProof="0"/>
              <a:t>February 2026</a:t>
            </a:r>
          </a:p>
        </p:txBody>
      </p:sp>
      <p:sp>
        <p:nvSpPr>
          <p:cNvPr id="5" name="Footer Placeholder 8">
            <a:extLst>
              <a:ext uri="{FF2B5EF4-FFF2-40B4-BE49-F238E27FC236}">
                <a16:creationId xmlns:a16="http://schemas.microsoft.com/office/drawing/2014/main" id="{6F6F2F78-2ADE-918C-2B29-50DDCEC82C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828800" y="6324600"/>
            <a:ext cx="41148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 b="0" i="0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© 2026 NTT DATA, Inc.</a:t>
            </a: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85B73-0F18-F280-6DFA-98D9E7E3C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438400"/>
            <a:ext cx="4953000" cy="1371600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/>
          <a:p>
            <a:r>
              <a:rPr lang="en-US" noProof="0"/>
              <a:t>Click to edit title</a:t>
            </a:r>
          </a:p>
        </p:txBody>
      </p:sp>
      <p:sp>
        <p:nvSpPr>
          <p:cNvPr id="6" name="NTT DATA Global Logo" descr="NTT DATA Global Logo">
            <a:extLst>
              <a:ext uri="{FF2B5EF4-FFF2-40B4-BE49-F238E27FC236}">
                <a16:creationId xmlns:a16="http://schemas.microsoft.com/office/drawing/2014/main" id="{9BB150AA-7E16-0669-0BE0-D2DE680F91CD}"/>
              </a:ext>
            </a:extLst>
          </p:cNvPr>
          <p:cNvSpPr/>
          <p:nvPr userDrawn="1"/>
        </p:nvSpPr>
        <p:spPr bwMode="black">
          <a:xfrm>
            <a:off x="402336" y="320040"/>
            <a:ext cx="1956816" cy="39872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rgbClr val="0072BC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89611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78" r:id="rId1"/>
    <p:sldLayoutId id="2147484079" r:id="rId2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4800" b="0" i="0" kern="1200" dirty="0">
          <a:solidFill>
            <a:schemeClr val="bg1"/>
          </a:solidFill>
          <a:latin typeface="Georgia" panose="02040502050405020303" pitchFamily="18" charset="0"/>
          <a:ea typeface="+mj-ea"/>
          <a:cs typeface="Times New Roman" panose="02020603050405020304" pitchFamily="18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lang="en-US" sz="2000" b="0" i="0" kern="1200" dirty="0" smtClean="0">
          <a:solidFill>
            <a:srgbClr val="F8F8F8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DB37B6-3DF4-34BD-D5E9-52EA5E80D4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400800"/>
            <a:ext cx="9144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>
              <a:defRPr lang="en-US" sz="800" smtClean="0">
                <a:solidFill>
                  <a:schemeClr val="bg1"/>
                </a:solidFill>
              </a:defRPr>
            </a:lvl1pPr>
          </a:lstStyle>
          <a:p>
            <a:r>
              <a:rPr lang="en-US"/>
              <a:t>February 2026</a:t>
            </a:r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3C5F86-8F5F-160E-E108-4A97EA9FE1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600" y="6400800"/>
            <a:ext cx="41148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>
              <a:defRPr lang="en-US" sz="800" b="0" i="0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© 2026 NTT DATA, Inc.</a:t>
            </a: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64DB4C7-535B-ACE9-FD48-E216483B5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04801"/>
            <a:ext cx="11430000" cy="53339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/>
          <a:p>
            <a:pPr lvl="0">
              <a:lnSpc>
                <a:spcPct val="100000"/>
              </a:lnSpc>
            </a:pPr>
            <a:r>
              <a:rPr lang="en-US" noProof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15ACC7-9813-39D4-E0E6-4E62A19476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371600"/>
            <a:ext cx="11430000" cy="4876800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  <a:p>
            <a:pPr lvl="0"/>
            <a:endParaRPr lang="en-US" noProof="0"/>
          </a:p>
        </p:txBody>
      </p:sp>
      <p:sp>
        <p:nvSpPr>
          <p:cNvPr id="7" name="NTT DATA Global Logo">
            <a:extLst>
              <a:ext uri="{FF2B5EF4-FFF2-40B4-BE49-F238E27FC236}">
                <a16:creationId xmlns:a16="http://schemas.microsoft.com/office/drawing/2014/main" id="{E4A297F2-4804-B5AA-637C-78C8A88550D2}"/>
              </a:ext>
            </a:extLst>
          </p:cNvPr>
          <p:cNvSpPr/>
          <p:nvPr userDrawn="1"/>
        </p:nvSpPr>
        <p:spPr bwMode="black">
          <a:xfrm>
            <a:off x="10588752" y="6428232"/>
            <a:ext cx="1211639" cy="24688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rgbClr val="0072BC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noProof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730919A-842B-324C-CCDA-7945A8CEB2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  <a:ln w="3175">
            <a:noFill/>
          </a:ln>
        </p:spPr>
        <p:txBody>
          <a:bodyPr anchor="ctr"/>
          <a:lstStyle>
            <a:lvl1pPr algn="ctr">
              <a:defRPr lang="en-US" sz="800" smtClean="0">
                <a:solidFill>
                  <a:schemeClr val="tx2"/>
                </a:solidFill>
              </a:defRPr>
            </a:lvl1pPr>
          </a:lstStyle>
          <a:p>
            <a:fld id="{60D39823-8059-4D49-BD26-6D32C31B8621}" type="slidenum">
              <a:rPr lang="en-US" noProof="0" smtClean="0"/>
              <a:pPr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6740521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01" r:id="rId1"/>
    <p:sldLayoutId id="2147484202" r:id="rId2"/>
    <p:sldLayoutId id="2147484186" r:id="rId3"/>
    <p:sldLayoutId id="2147484195" r:id="rId4"/>
    <p:sldLayoutId id="2147484196" r:id="rId5"/>
    <p:sldLayoutId id="2147484197" r:id="rId6"/>
    <p:sldLayoutId id="2147484198" r:id="rId7"/>
    <p:sldLayoutId id="2147484199" r:id="rId8"/>
    <p:sldLayoutId id="2147484249" r:id="rId9"/>
    <p:sldLayoutId id="2147484250" r:id="rId10"/>
    <p:sldLayoutId id="2147484263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800" kern="1200" dirty="0">
          <a:solidFill>
            <a:schemeClr val="bg1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227013" indent="-227013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98513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001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712913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1145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13722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52" r:id="rId1"/>
    <p:sldLayoutId id="2147484253" r:id="rId2"/>
    <p:sldLayoutId id="2147484254" r:id="rId3"/>
    <p:sldLayoutId id="2147484255" r:id="rId4"/>
    <p:sldLayoutId id="2147484256" r:id="rId5"/>
    <p:sldLayoutId id="2147484257" r:id="rId6"/>
    <p:sldLayoutId id="2147484258" r:id="rId7"/>
    <p:sldLayoutId id="2147484259" r:id="rId8"/>
    <p:sldLayoutId id="2147484260" r:id="rId9"/>
    <p:sldLayoutId id="2147484261" r:id="rId10"/>
    <p:sldLayoutId id="2147484262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0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412480" y="0"/>
            <a:ext cx="3779215" cy="6858000"/>
          </a:xfrm>
          <a:prstGeom prst="rect">
            <a:avLst/>
          </a:prstGeom>
          <a:solidFill>
            <a:srgbClr val="0F3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412480" y="0"/>
            <a:ext cx="164592" cy="6858000"/>
          </a:xfrm>
          <a:prstGeom prst="rect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84048" y="2377440"/>
            <a:ext cx="137160" cy="2377440"/>
          </a:xfrm>
          <a:prstGeom prst="rect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920240"/>
            <a:ext cx="6400800" cy="3200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it-IT" sz="1100" b="1" dirty="0">
                <a:solidFill>
                  <a:srgbClr val="1F5FA8"/>
                </a:solidFill>
                <a:latin typeface="Calibri"/>
              </a:rPr>
              <a:t>PROPOSTA DI INTEGRAZIONE  •  LUGLIO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7315200" cy="13716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it-IT" sz="3800" b="1" dirty="0">
                <a:solidFill>
                  <a:srgbClr val="0F3B66"/>
                </a:solidFill>
                <a:latin typeface="Calibri"/>
              </a:rPr>
              <a:t>Integrazione One Fiscale su TCF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657600"/>
            <a:ext cx="7315200" cy="20116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it-IT" sz="1400" b="0" dirty="0">
                <a:solidFill>
                  <a:srgbClr val="1A1A1A"/>
                </a:solidFill>
                <a:latin typeface="Calibri"/>
              </a:rPr>
              <a:t>Estensione del Tax Control Framework con capacità AI di Wolters Kluwer One Fiscale: sei assistenti dedicati, orchestrati su FAB, per gap analysis, driver assistant, impact analysis, drafting, Q&amp;A contestuale e briefing periodici direttamente nell’ambiente TCF del cliente.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7315200" cy="3200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it-IT" sz="1200" b="1" dirty="0">
                <a:solidFill>
                  <a:srgbClr val="5A6672"/>
                </a:solidFill>
                <a:latin typeface="Calibri"/>
              </a:rPr>
              <a:t>Wolters Kluwer  ·  NTT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55080"/>
            <a:ext cx="73152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it-IT" sz="900" b="0" dirty="0">
                <a:solidFill>
                  <a:srgbClr val="5A6672"/>
                </a:solidFill>
                <a:latin typeface="Calibri"/>
              </a:rPr>
              <a:t>© 2026 NTT DATA, Inc.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25735" y="6080760"/>
            <a:ext cx="502920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820095" y="6080760"/>
            <a:ext cx="1097280" cy="50292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/>
            <a:r>
              <a:rPr lang="it-IT" sz="1600" b="1" dirty="0">
                <a:solidFill>
                  <a:srgbClr val="FFFFFF"/>
                </a:solidFill>
                <a:latin typeface="Calibri"/>
              </a:rPr>
              <a:t>NTT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301752"/>
            <a:ext cx="11430000" cy="5029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it-IT" sz="2400" b="1" dirty="0">
                <a:solidFill>
                  <a:srgbClr val="0F3B66"/>
                </a:solidFill>
                <a:latin typeface="Calibri"/>
              </a:rPr>
              <a:t>Contesto e Sfida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841248"/>
            <a:ext cx="11430000" cy="384048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it-IT" sz="1300" b="0" dirty="0">
                <a:solidFill>
                  <a:srgbClr val="5A6672"/>
                </a:solidFill>
                <a:latin typeface="Calibri"/>
              </a:rPr>
              <a:t>Il Tax Control Framework deve evolvere per stare al passo con normativa e operatività fiscale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" y="822960"/>
            <a:ext cx="1097280" cy="36576"/>
          </a:xfrm>
          <a:prstGeom prst="rect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2281428" y="1371600"/>
            <a:ext cx="365760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F8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281428" y="1371600"/>
            <a:ext cx="3657600" cy="457200"/>
          </a:xfrm>
          <a:prstGeom prst="roundRect">
            <a:avLst>
              <a:gd name="adj" fmla="val 12000"/>
            </a:avLst>
          </a:prstGeom>
          <a:solidFill>
            <a:srgbClr val="0F8A3A"/>
          </a:solidFill>
          <a:ln w="6350">
            <a:solidFill>
              <a:srgbClr val="0F8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281428" y="1508760"/>
            <a:ext cx="3657600" cy="320040"/>
          </a:xfrm>
          <a:prstGeom prst="rect">
            <a:avLst/>
          </a:prstGeom>
          <a:solidFill>
            <a:srgbClr val="0F8A3A"/>
          </a:solidFill>
          <a:ln w="6350">
            <a:solidFill>
              <a:srgbClr val="0F8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327148" y="1417320"/>
            <a:ext cx="3566160" cy="36576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/>
            <a:r>
              <a:rPr lang="it-IT" sz="1150" b="1" dirty="0">
                <a:solidFill>
                  <a:srgbClr val="FFFFFF"/>
                </a:solidFill>
                <a:latin typeface="Calibri"/>
              </a:rPr>
              <a:t>Valorizzare la banca dati One Fiscale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18588" y="1920240"/>
            <a:ext cx="3383280" cy="16459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it-IT" sz="950" b="0" dirty="0">
                <a:solidFill>
                  <a:srgbClr val="1A1A1A"/>
                </a:solidFill>
                <a:latin typeface="Calibri"/>
              </a:rPr>
              <a:t>One Fiscale è una base normativa qualificata e continuamente aggiornata: integrarla nel TCF rende ogni funzionalità immediatamente contestualizzata.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76188" y="1371600"/>
            <a:ext cx="365760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F8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076188" y="1371600"/>
            <a:ext cx="3657600" cy="457200"/>
          </a:xfrm>
          <a:prstGeom prst="roundRect">
            <a:avLst>
              <a:gd name="adj" fmla="val 12000"/>
            </a:avLst>
          </a:prstGeom>
          <a:solidFill>
            <a:srgbClr val="0F8A3A"/>
          </a:solidFill>
          <a:ln w="6350">
            <a:solidFill>
              <a:srgbClr val="0F8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076188" y="1508760"/>
            <a:ext cx="3657600" cy="320040"/>
          </a:xfrm>
          <a:prstGeom prst="rect">
            <a:avLst/>
          </a:prstGeom>
          <a:solidFill>
            <a:srgbClr val="0F8A3A"/>
          </a:solidFill>
          <a:ln w="6350">
            <a:solidFill>
              <a:srgbClr val="0F8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21908" y="1417320"/>
            <a:ext cx="3566160" cy="36576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/>
            <a:r>
              <a:rPr lang="it-IT" sz="1150" b="1" dirty="0">
                <a:solidFill>
                  <a:srgbClr val="FFFFFF"/>
                </a:solidFill>
                <a:latin typeface="Calibri"/>
              </a:rPr>
              <a:t>Opportunità di trasformazione operativa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3348" y="1920240"/>
            <a:ext cx="3383280" cy="16459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it-IT" sz="950" b="0" dirty="0">
                <a:solidFill>
                  <a:srgbClr val="1A1A1A"/>
                </a:solidFill>
                <a:latin typeface="Calibri"/>
              </a:rPr>
              <a:t>Sei agenti AI dedicati abilitano il salto da compilazione documentale a supporto decisionale continuo, con drafting, briefing periodico e Q&amp;A contestuale sempre disponibili.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4048" y="3794760"/>
            <a:ext cx="365760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84048" y="3794760"/>
            <a:ext cx="3657600" cy="457200"/>
          </a:xfrm>
          <a:prstGeom prst="roundRect">
            <a:avLst>
              <a:gd name="adj" fmla="val 12000"/>
            </a:avLst>
          </a:prstGeom>
          <a:solidFill>
            <a:srgbClr val="1F5FA8"/>
          </a:solidFill>
          <a:ln w="6350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84048" y="3931920"/>
            <a:ext cx="3657600" cy="320040"/>
          </a:xfrm>
          <a:prstGeom prst="rect">
            <a:avLst/>
          </a:prstGeom>
          <a:solidFill>
            <a:srgbClr val="1F5FA8"/>
          </a:solidFill>
          <a:ln w="6350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29768" y="3840480"/>
            <a:ext cx="3566160" cy="36576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/>
            <a:r>
              <a:rPr lang="it-IT" sz="1150" b="1" dirty="0">
                <a:solidFill>
                  <a:srgbClr val="FFFFFF"/>
                </a:solidFill>
                <a:latin typeface="Calibri"/>
              </a:rPr>
              <a:t>Framework fiscale sempre più articolato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" y="4343400"/>
            <a:ext cx="3383280" cy="16459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it-IT" sz="950" b="0" dirty="0">
                <a:solidFill>
                  <a:srgbClr val="1A1A1A"/>
                </a:solidFill>
                <a:latin typeface="Calibri"/>
              </a:rPr>
              <a:t>Il TCF combina wizard secondo Ag. Entrate, RCM, fattispecie interpretative e strategia fiscale: mantenere allineamento e completezza è oneroso senza un supporto intelligente.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78808" y="3794760"/>
            <a:ext cx="365760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4178808" y="3794760"/>
            <a:ext cx="3657600" cy="457200"/>
          </a:xfrm>
          <a:prstGeom prst="roundRect">
            <a:avLst>
              <a:gd name="adj" fmla="val 12000"/>
            </a:avLst>
          </a:prstGeom>
          <a:solidFill>
            <a:srgbClr val="1F5FA8"/>
          </a:solidFill>
          <a:ln w="6350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178808" y="3931920"/>
            <a:ext cx="3657600" cy="320040"/>
          </a:xfrm>
          <a:prstGeom prst="rect">
            <a:avLst/>
          </a:prstGeom>
          <a:solidFill>
            <a:srgbClr val="1F5FA8"/>
          </a:solidFill>
          <a:ln w="6350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224528" y="3840480"/>
            <a:ext cx="3566160" cy="36576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/>
            <a:r>
              <a:rPr lang="it-IT" sz="1150" b="1" dirty="0">
                <a:solidFill>
                  <a:srgbClr val="FFFFFF"/>
                </a:solidFill>
                <a:latin typeface="Calibri"/>
              </a:rPr>
              <a:t>Rischi non mappati e valutazioni soggettive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15968" y="4343400"/>
            <a:ext cx="3383280" cy="16459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it-IT" sz="950" b="0" dirty="0">
                <a:solidFill>
                  <a:srgbClr val="1A1A1A"/>
                </a:solidFill>
                <a:latin typeface="Calibri"/>
              </a:rPr>
              <a:t>La configurazione di driver di probabilità e impatto è oggi manuale e discrezionale, esponendo il cliente a rischi non intercettati e a valutazioni disomogenee tra periodi.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73568" y="3794760"/>
            <a:ext cx="365760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7973568" y="3794760"/>
            <a:ext cx="3657600" cy="457200"/>
          </a:xfrm>
          <a:prstGeom prst="roundRect">
            <a:avLst>
              <a:gd name="adj" fmla="val 12000"/>
            </a:avLst>
          </a:prstGeom>
          <a:solidFill>
            <a:srgbClr val="1F5FA8"/>
          </a:solidFill>
          <a:ln w="6350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973568" y="3931920"/>
            <a:ext cx="3657600" cy="320040"/>
          </a:xfrm>
          <a:prstGeom prst="rect">
            <a:avLst/>
          </a:prstGeom>
          <a:solidFill>
            <a:srgbClr val="1F5FA8"/>
          </a:solidFill>
          <a:ln w="6350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019288" y="3840480"/>
            <a:ext cx="3566160" cy="36576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/>
            <a:r>
              <a:rPr lang="it-IT" sz="1150" b="1" dirty="0">
                <a:solidFill>
                  <a:srgbClr val="FFFFFF"/>
                </a:solidFill>
                <a:latin typeface="Calibri"/>
              </a:rPr>
              <a:t>Novità normative da tradurre in azioni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10728" y="4343400"/>
            <a:ext cx="3383280" cy="16459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it-IT" sz="950" b="0" dirty="0">
                <a:solidFill>
                  <a:srgbClr val="1A1A1A"/>
                </a:solidFill>
                <a:latin typeface="Calibri"/>
              </a:rPr>
              <a:t>Ogni circolare o articolo di One Fiscale può impattare la RCM: serve un meccanismo automatico che colleghi la novità normativa ai rischi specifici del cliente.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4048" y="6446520"/>
            <a:ext cx="36576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it-IT" sz="900" b="0" dirty="0">
                <a:solidFill>
                  <a:srgbClr val="5A6672"/>
                </a:solidFill>
                <a:latin typeface="Calibri"/>
              </a:rPr>
              <a:t>© 2026 NTT DATA, Inc.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0" y="6446520"/>
            <a:ext cx="13716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lang="it-IT" sz="900" b="0" dirty="0">
                <a:solidFill>
                  <a:srgbClr val="5A6672"/>
                </a:solidFill>
                <a:latin typeface="Calibri"/>
              </a:rPr>
              <a:t>2 / 12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4048" y="6720840"/>
            <a:ext cx="11430000" cy="1828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301752"/>
            <a:ext cx="11430000" cy="5029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it-IT" sz="2400" b="1" dirty="0">
                <a:solidFill>
                  <a:srgbClr val="0F3B66"/>
                </a:solidFill>
                <a:latin typeface="Calibri"/>
              </a:rPr>
              <a:t>Obiettivo &amp; Casi d’Uso in Dettaglio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841248"/>
            <a:ext cx="11430000" cy="384048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it-IT" sz="1300" b="0" dirty="0">
                <a:solidFill>
                  <a:srgbClr val="5A6672"/>
                </a:solidFill>
                <a:latin typeface="Calibri"/>
              </a:rPr>
              <a:t>Sei assistenti AI dedicati che coprono l’intero ciclo di vita del TCF — input, cosa fanno, output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" y="822960"/>
            <a:ext cx="1097280" cy="36576"/>
          </a:xfrm>
          <a:prstGeom prst="rect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84048" y="1325880"/>
            <a:ext cx="11430000" cy="822960"/>
          </a:xfrm>
          <a:prstGeom prst="roundRect">
            <a:avLst>
              <a:gd name="adj" fmla="val 4000"/>
            </a:avLst>
          </a:prstGeom>
          <a:solidFill>
            <a:srgbClr val="0F3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399032"/>
            <a:ext cx="1828800" cy="292608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it-IT" sz="1050" b="1" dirty="0">
                <a:solidFill>
                  <a:srgbClr val="E8F1FB"/>
                </a:solidFill>
                <a:latin typeface="Calibri"/>
              </a:rPr>
              <a:t>OBIETTIVO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73352"/>
            <a:ext cx="621792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it-IT" sz="1100" b="1" dirty="0">
                <a:solidFill>
                  <a:srgbClr val="FFFFFF"/>
                </a:solidFill>
                <a:latin typeface="Calibri"/>
              </a:rPr>
              <a:t>Portare l’intelligenza di One Fiscale dentro il TCF, mantenendo i dati cliente in Azure e la banca dati fiscale nell’ecosistema WK.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04888" y="1545336"/>
            <a:ext cx="1040130" cy="384048"/>
          </a:xfrm>
          <a:prstGeom prst="roundRect">
            <a:avLst>
              <a:gd name="adj" fmla="val 50000"/>
            </a:avLst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04888" y="1545336"/>
            <a:ext cx="1040130" cy="384048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lang="it-IT" sz="900" b="1" dirty="0">
                <a:solidFill>
                  <a:srgbClr val="FFFFFF"/>
                </a:solidFill>
                <a:latin typeface="Calibri"/>
              </a:rPr>
              <a:t>6 agenti AI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36458" y="1545336"/>
            <a:ext cx="1040130" cy="384048"/>
          </a:xfrm>
          <a:prstGeom prst="roundRect">
            <a:avLst>
              <a:gd name="adj" fmla="val 50000"/>
            </a:avLst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36458" y="1545336"/>
            <a:ext cx="1040130" cy="384048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lang="it-IT" sz="900" b="1" dirty="0">
                <a:solidFill>
                  <a:srgbClr val="FFFFFF"/>
                </a:solidFill>
                <a:latin typeface="Calibri"/>
              </a:rPr>
              <a:t>Doppio indice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68028" y="1545336"/>
            <a:ext cx="1040130" cy="384048"/>
          </a:xfrm>
          <a:prstGeom prst="roundRect">
            <a:avLst>
              <a:gd name="adj" fmla="val 50000"/>
            </a:avLst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368028" y="1545336"/>
            <a:ext cx="1040130" cy="384048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lang="it-IT" sz="900" b="1" dirty="0">
                <a:solidFill>
                  <a:srgbClr val="FFFFFF"/>
                </a:solidFill>
                <a:latin typeface="Calibri"/>
              </a:rPr>
              <a:t>API · One ID Legal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499598" y="1545336"/>
            <a:ext cx="1040130" cy="384048"/>
          </a:xfrm>
          <a:prstGeom prst="roundRect">
            <a:avLst>
              <a:gd name="adj" fmla="val 50000"/>
            </a:avLst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499598" y="1545336"/>
            <a:ext cx="1040130" cy="384048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lang="it-IT" sz="900" b="1" dirty="0">
                <a:solidFill>
                  <a:srgbClr val="FFFFFF"/>
                </a:solidFill>
                <a:latin typeface="Calibri"/>
              </a:rPr>
              <a:t>EU · GDPR · AI Act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4048" y="2286000"/>
            <a:ext cx="3703320" cy="18745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84048" y="2286000"/>
            <a:ext cx="3703320" cy="402336"/>
          </a:xfrm>
          <a:prstGeom prst="rect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Oval 17"/>
          <p:cNvSpPr/>
          <p:nvPr/>
        </p:nvSpPr>
        <p:spPr>
          <a:xfrm>
            <a:off x="475488" y="2350008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lang="it-IT" sz="1100" b="1" dirty="0">
                <a:solidFill>
                  <a:srgbClr val="1F5FA8"/>
                </a:solidFill>
                <a:latin typeface="Calibr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286000"/>
            <a:ext cx="3154680" cy="402336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/>
            <a:r>
              <a:rPr lang="it-IT" sz="1200" b="1" dirty="0">
                <a:solidFill>
                  <a:srgbClr val="FFFFFF"/>
                </a:solidFill>
                <a:latin typeface="Calibri"/>
              </a:rPr>
              <a:t>Gap Analysis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" y="2743200"/>
            <a:ext cx="3429000" cy="713232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it-IT" sz="950" b="0" dirty="0">
                <a:solidFill>
                  <a:srgbClr val="1A1A1A"/>
                </a:solidFill>
                <a:latin typeface="Calibri"/>
              </a:rPr>
              <a:t>Confronta la RCM cliente con le linee guida Ag. Entrate (art. 25/11) e segnala rischi non mappati.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" y="3456432"/>
            <a:ext cx="502920" cy="329184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lang="it-IT" sz="850" b="1" dirty="0">
                <a:solidFill>
                  <a:srgbClr val="1F5FA8"/>
                </a:solidFill>
                <a:latin typeface="Calibri"/>
              </a:rPr>
              <a:t>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" y="3456432"/>
            <a:ext cx="2907792" cy="329184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/>
            <a:r>
              <a:rPr lang="it-IT" sz="850" b="0" dirty="0">
                <a:solidFill>
                  <a:srgbClr val="5A6672"/>
                </a:solidFill>
                <a:latin typeface="Calibri"/>
              </a:rPr>
              <a:t>Wizard di compilazione TCF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" y="3785616"/>
            <a:ext cx="502920" cy="329184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lang="it-IT" sz="850" b="1" dirty="0">
                <a:solidFill>
                  <a:srgbClr val="0F8A3A"/>
                </a:solidFill>
                <a:latin typeface="Calibri"/>
              </a:rPr>
              <a:t>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" y="3785616"/>
            <a:ext cx="2907792" cy="329184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/>
            <a:r>
              <a:rPr lang="it-IT" sz="850" b="0" dirty="0">
                <a:solidFill>
                  <a:srgbClr val="5A6672"/>
                </a:solidFill>
                <a:latin typeface="Calibri"/>
              </a:rPr>
              <a:t>Elenco strutturato di gap con riferimento normativo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61104" y="2286000"/>
            <a:ext cx="3703320" cy="18745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261104" y="2286000"/>
            <a:ext cx="3703320" cy="402336"/>
          </a:xfrm>
          <a:prstGeom prst="rect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Oval 26"/>
          <p:cNvSpPr/>
          <p:nvPr/>
        </p:nvSpPr>
        <p:spPr>
          <a:xfrm>
            <a:off x="4352544" y="2350008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lang="it-IT" sz="1100" b="1" dirty="0">
                <a:solidFill>
                  <a:srgbClr val="1F5FA8"/>
                </a:solidFill>
                <a:latin typeface="Calibri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18304" y="2286000"/>
            <a:ext cx="3154680" cy="402336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/>
            <a:r>
              <a:rPr lang="it-IT" sz="1200" b="1" dirty="0">
                <a:solidFill>
                  <a:srgbClr val="FFFFFF"/>
                </a:solidFill>
                <a:latin typeface="Calibri"/>
              </a:rPr>
              <a:t>Driver Assistant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8264" y="2743200"/>
            <a:ext cx="3429000" cy="713232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it-IT" sz="950" b="0" dirty="0">
                <a:solidFill>
                  <a:srgbClr val="1A1A1A"/>
                </a:solidFill>
                <a:latin typeface="Calibri"/>
              </a:rPr>
              <a:t>Suggerisce driver, pesi e valori (basso/medio/alto) per probabilità e impatto coerenti con la metodologia cliente.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98264" y="3456432"/>
            <a:ext cx="502920" cy="329184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lang="it-IT" sz="850" b="1" dirty="0">
                <a:solidFill>
                  <a:srgbClr val="1F5FA8"/>
                </a:solidFill>
                <a:latin typeface="Calibri"/>
              </a:rPr>
              <a:t>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19472" y="3456432"/>
            <a:ext cx="2907792" cy="329184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/>
            <a:r>
              <a:rPr lang="it-IT" sz="850" b="0" dirty="0">
                <a:solidFill>
                  <a:srgbClr val="5A6672"/>
                </a:solidFill>
                <a:latin typeface="Calibri"/>
              </a:rPr>
              <a:t>Config. rischio + Tax Compliance Model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98264" y="3785616"/>
            <a:ext cx="502920" cy="329184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lang="it-IT" sz="850" b="1" dirty="0">
                <a:solidFill>
                  <a:srgbClr val="0F8A3A"/>
                </a:solidFill>
                <a:latin typeface="Calibri"/>
              </a:rPr>
              <a:t>OUT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19472" y="3785616"/>
            <a:ext cx="2907792" cy="329184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/>
            <a:r>
              <a:rPr lang="it-IT" sz="850" b="0" dirty="0">
                <a:solidFill>
                  <a:srgbClr val="5A6672"/>
                </a:solidFill>
                <a:latin typeface="Calibri"/>
              </a:rPr>
              <a:t>Set di driver proposti, con razionale motivato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38160" y="2286000"/>
            <a:ext cx="3703320" cy="18745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8138160" y="2286000"/>
            <a:ext cx="3703320" cy="402336"/>
          </a:xfrm>
          <a:prstGeom prst="rect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Oval 35"/>
          <p:cNvSpPr/>
          <p:nvPr/>
        </p:nvSpPr>
        <p:spPr>
          <a:xfrm>
            <a:off x="8229600" y="2350008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lang="it-IT" sz="1100" b="1" dirty="0">
                <a:solidFill>
                  <a:srgbClr val="1F5FA8"/>
                </a:solidFill>
                <a:latin typeface="Calibri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95360" y="2286000"/>
            <a:ext cx="3154680" cy="402336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/>
            <a:r>
              <a:rPr lang="it-IT" sz="1200" b="1" dirty="0">
                <a:solidFill>
                  <a:srgbClr val="FFFFFF"/>
                </a:solidFill>
                <a:latin typeface="Calibri"/>
              </a:rPr>
              <a:t>Impact Analysis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2743200"/>
            <a:ext cx="3429000" cy="713232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it-IT" sz="950" b="0" dirty="0">
                <a:solidFill>
                  <a:srgbClr val="1A1A1A"/>
                </a:solidFill>
                <a:latin typeface="Calibri"/>
              </a:rPr>
              <a:t>Individua i rischi della RCM impattati da nuove norme, circolari e prassi e propone azioni di aggiornamento.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3456432"/>
            <a:ext cx="502920" cy="329184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lang="it-IT" sz="850" b="1" dirty="0">
                <a:solidFill>
                  <a:srgbClr val="1F5FA8"/>
                </a:solidFill>
                <a:latin typeface="Calibri"/>
              </a:rPr>
              <a:t>IN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96528" y="3456432"/>
            <a:ext cx="2907792" cy="329184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/>
            <a:r>
              <a:rPr lang="it-IT" sz="850" b="0" dirty="0">
                <a:solidFill>
                  <a:srgbClr val="5A6672"/>
                </a:solidFill>
                <a:latin typeface="Calibri"/>
              </a:rPr>
              <a:t>Novità normative (One Fiscale · circolari)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5320" y="3785616"/>
            <a:ext cx="502920" cy="329184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lang="it-IT" sz="850" b="1" dirty="0">
                <a:solidFill>
                  <a:srgbClr val="0F8A3A"/>
                </a:solidFill>
                <a:latin typeface="Calibri"/>
              </a:rPr>
              <a:t>OUT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96528" y="3785616"/>
            <a:ext cx="2907792" cy="329184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/>
            <a:r>
              <a:rPr lang="it-IT" sz="850" b="0" dirty="0">
                <a:solidFill>
                  <a:srgbClr val="5A6672"/>
                </a:solidFill>
                <a:latin typeface="Calibri"/>
              </a:rPr>
              <a:t>Rischi impattati + delta di configurazione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84048" y="4270247"/>
            <a:ext cx="3703320" cy="18745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384048" y="4270247"/>
            <a:ext cx="3703320" cy="402336"/>
          </a:xfrm>
          <a:prstGeom prst="rect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5" name="Oval 44"/>
          <p:cNvSpPr/>
          <p:nvPr/>
        </p:nvSpPr>
        <p:spPr>
          <a:xfrm>
            <a:off x="475488" y="4334255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lang="it-IT" sz="1100" b="1" dirty="0">
                <a:solidFill>
                  <a:srgbClr val="1F5FA8"/>
                </a:solidFill>
                <a:latin typeface="Calibri"/>
              </a:rPr>
              <a:t>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1248" y="4270247"/>
            <a:ext cx="3154680" cy="402336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/>
            <a:r>
              <a:rPr lang="it-IT" sz="1200" b="1" dirty="0">
                <a:solidFill>
                  <a:srgbClr val="FFFFFF"/>
                </a:solidFill>
                <a:latin typeface="Calibri"/>
              </a:rPr>
              <a:t>Drafting Assistant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1208" y="4727447"/>
            <a:ext cx="3429000" cy="713232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it-IT" sz="950" b="0" dirty="0">
                <a:solidFill>
                  <a:srgbClr val="1A1A1A"/>
                </a:solidFill>
                <a:latin typeface="Calibri"/>
              </a:rPr>
              <a:t>Propone driver, soglie di materialità e verifiche qualitative/quantitative per compilare la fattispecie.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1208" y="5440679"/>
            <a:ext cx="502920" cy="329184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lang="it-IT" sz="850" b="1" dirty="0">
                <a:solidFill>
                  <a:srgbClr val="1F5FA8"/>
                </a:solidFill>
                <a:latin typeface="Calibri"/>
              </a:rPr>
              <a:t>IN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2416" y="5440679"/>
            <a:ext cx="2907792" cy="329184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/>
            <a:r>
              <a:rPr lang="it-IT" sz="850" b="0" dirty="0">
                <a:solidFill>
                  <a:srgbClr val="5A6672"/>
                </a:solidFill>
                <a:latin typeface="Calibri"/>
              </a:rPr>
              <a:t>Fattispecie in lavorazione (es. fusione cross-border)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" y="5769863"/>
            <a:ext cx="502920" cy="329184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lang="it-IT" sz="850" b="1" dirty="0">
                <a:solidFill>
                  <a:srgbClr val="0F8A3A"/>
                </a:solidFill>
                <a:latin typeface="Calibri"/>
              </a:rPr>
              <a:t>OUT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2416" y="5769863"/>
            <a:ext cx="2907792" cy="329184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/>
            <a:r>
              <a:rPr lang="it-IT" sz="850" b="0" dirty="0">
                <a:solidFill>
                  <a:srgbClr val="5A6672"/>
                </a:solidFill>
                <a:latin typeface="Calibri"/>
              </a:rPr>
              <a:t>Bozza strutturata con giustificazione normativa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261104" y="4270247"/>
            <a:ext cx="3703320" cy="18745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4261104" y="4270247"/>
            <a:ext cx="3703320" cy="402336"/>
          </a:xfrm>
          <a:prstGeom prst="rect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4" name="Oval 53"/>
          <p:cNvSpPr/>
          <p:nvPr/>
        </p:nvSpPr>
        <p:spPr>
          <a:xfrm>
            <a:off x="4352544" y="4334255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lang="it-IT" sz="1100" b="1" dirty="0">
                <a:solidFill>
                  <a:srgbClr val="1F5FA8"/>
                </a:solidFill>
                <a:latin typeface="Calibri"/>
              </a:rPr>
              <a:t>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18304" y="4270247"/>
            <a:ext cx="3154680" cy="402336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/>
            <a:r>
              <a:rPr lang="it-IT" sz="1200" b="1" dirty="0">
                <a:solidFill>
                  <a:srgbClr val="FFFFFF"/>
                </a:solidFill>
                <a:latin typeface="Calibri"/>
              </a:rPr>
              <a:t>Q&amp;A Contestuale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398264" y="4727447"/>
            <a:ext cx="3429000" cy="713232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it-IT" sz="950" b="0" dirty="0">
                <a:solidFill>
                  <a:srgbClr val="1A1A1A"/>
                </a:solidFill>
                <a:latin typeface="Calibri"/>
              </a:rPr>
              <a:t>Risponde su corpus normativo One Fiscale e sul contesto cliente (documenti caricati), con citazioni tracciabili.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98264" y="5440679"/>
            <a:ext cx="502920" cy="329184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lang="it-IT" sz="850" b="1" dirty="0">
                <a:solidFill>
                  <a:srgbClr val="1F5FA8"/>
                </a:solidFill>
                <a:latin typeface="Calibri"/>
              </a:rPr>
              <a:t>IN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919472" y="5440679"/>
            <a:ext cx="2907792" cy="329184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/>
            <a:r>
              <a:rPr lang="it-IT" sz="850" b="0" dirty="0">
                <a:solidFill>
                  <a:srgbClr val="5A6672"/>
                </a:solidFill>
                <a:latin typeface="Calibri"/>
              </a:rPr>
              <a:t>Domanda libera dell’utente TCF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398264" y="5769863"/>
            <a:ext cx="502920" cy="329184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lang="it-IT" sz="850" b="1" dirty="0">
                <a:solidFill>
                  <a:srgbClr val="0F8A3A"/>
                </a:solidFill>
                <a:latin typeface="Calibri"/>
              </a:rPr>
              <a:t>OUT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919472" y="5769863"/>
            <a:ext cx="2907792" cy="329184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/>
            <a:r>
              <a:rPr lang="it-IT" sz="850" b="0" dirty="0">
                <a:solidFill>
                  <a:srgbClr val="5A6672"/>
                </a:solidFill>
                <a:latin typeface="Calibri"/>
              </a:rPr>
              <a:t>Risposta discorsiva con fonti tracciabili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138160" y="4270247"/>
            <a:ext cx="3703320" cy="18745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8138160" y="4270247"/>
            <a:ext cx="3703320" cy="402336"/>
          </a:xfrm>
          <a:prstGeom prst="rect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3" name="Oval 62"/>
          <p:cNvSpPr/>
          <p:nvPr/>
        </p:nvSpPr>
        <p:spPr>
          <a:xfrm>
            <a:off x="8229600" y="4334255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lang="it-IT" sz="1100" b="1" dirty="0">
                <a:solidFill>
                  <a:srgbClr val="1F5FA8"/>
                </a:solidFill>
                <a:latin typeface="Calibri"/>
              </a:rPr>
              <a:t>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95360" y="4270247"/>
            <a:ext cx="3154680" cy="402336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/>
            <a:r>
              <a:rPr lang="it-IT" sz="1200" b="1" dirty="0">
                <a:solidFill>
                  <a:srgbClr val="FFFFFF"/>
                </a:solidFill>
                <a:latin typeface="Calibri"/>
              </a:rPr>
              <a:t>Periodic Briefing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75320" y="4727447"/>
            <a:ext cx="3429000" cy="713232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it-IT" sz="950" b="0" dirty="0">
                <a:solidFill>
                  <a:srgbClr val="1A1A1A"/>
                </a:solidFill>
                <a:latin typeface="Calibri"/>
              </a:rPr>
              <a:t>Estrae mensilmente le novità fiscali rilevanti filtrate sui processi e rischi specifici del cliente.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75320" y="5440679"/>
            <a:ext cx="502920" cy="329184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lang="it-IT" sz="850" b="1" dirty="0">
                <a:solidFill>
                  <a:srgbClr val="1F5FA8"/>
                </a:solidFill>
                <a:latin typeface="Calibri"/>
              </a:rPr>
              <a:t>IN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796528" y="5440679"/>
            <a:ext cx="2907792" cy="329184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/>
            <a:r>
              <a:rPr lang="it-IT" sz="850" b="0" dirty="0">
                <a:solidFill>
                  <a:srgbClr val="5A6672"/>
                </a:solidFill>
                <a:latin typeface="Calibri"/>
              </a:rPr>
              <a:t>Config. cliente (processi · rischi · sottoscrizioni)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75320" y="5769863"/>
            <a:ext cx="502920" cy="329184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lang="it-IT" sz="850" b="1" dirty="0">
                <a:solidFill>
                  <a:srgbClr val="0F8A3A"/>
                </a:solidFill>
                <a:latin typeface="Calibri"/>
              </a:rPr>
              <a:t>OUT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796528" y="5769863"/>
            <a:ext cx="2907792" cy="329184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/>
            <a:r>
              <a:rPr lang="it-IT" sz="850" b="0" dirty="0">
                <a:solidFill>
                  <a:srgbClr val="5A6672"/>
                </a:solidFill>
                <a:latin typeface="Calibri"/>
              </a:rPr>
              <a:t>Report PDF con highlight e approfondimenti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84048" y="6446520"/>
            <a:ext cx="36576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it-IT" sz="900" b="0" dirty="0">
                <a:solidFill>
                  <a:srgbClr val="5A6672"/>
                </a:solidFill>
                <a:latin typeface="Calibri"/>
              </a:rPr>
              <a:t>© 2026 NTT DATA, Inc.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86400" y="6446520"/>
            <a:ext cx="13716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lang="it-IT" sz="900" b="0" dirty="0">
                <a:solidFill>
                  <a:srgbClr val="5A6672"/>
                </a:solidFill>
                <a:latin typeface="Calibri"/>
              </a:rPr>
              <a:t>3 / 12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84048" y="6720840"/>
            <a:ext cx="11430000" cy="1828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301752"/>
            <a:ext cx="11430000" cy="5029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it-IT" sz="2400" b="1" dirty="0">
                <a:solidFill>
                  <a:srgbClr val="0F3B66"/>
                </a:solidFill>
                <a:latin typeface="Calibri"/>
              </a:rPr>
              <a:t>Architettura di Integrazione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841248"/>
            <a:ext cx="11430000" cy="384048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it-IT" sz="1300" b="0" dirty="0">
                <a:solidFill>
                  <a:srgbClr val="5A6672"/>
                </a:solidFill>
                <a:latin typeface="Calibri"/>
              </a:rPr>
              <a:t>TCF Application (Azure) ↔ Workspace One Fiscale (FAB · WK Legal) — ingestion &amp; trigger schedulati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" y="822960"/>
            <a:ext cx="1097280" cy="36576"/>
          </a:xfrm>
          <a:prstGeom prst="rect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84048" y="1417320"/>
            <a:ext cx="5029200" cy="4206240"/>
          </a:xfrm>
          <a:prstGeom prst="roundRect">
            <a:avLst>
              <a:gd name="adj" fmla="val 3000"/>
            </a:avLst>
          </a:prstGeom>
          <a:solidFill>
            <a:srgbClr val="F4F8FD"/>
          </a:solidFill>
          <a:ln w="19050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355080" y="1417320"/>
            <a:ext cx="5440680" cy="4206240"/>
          </a:xfrm>
          <a:prstGeom prst="roundRect">
            <a:avLst>
              <a:gd name="adj" fmla="val 3000"/>
            </a:avLst>
          </a:prstGeom>
          <a:solidFill>
            <a:srgbClr val="F3FBF6"/>
          </a:solidFill>
          <a:ln w="19050">
            <a:solidFill>
              <a:srgbClr val="0F8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4700016" cy="365760"/>
          </a:xfrm>
          <a:prstGeom prst="rect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4700016" cy="36576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lang="it-IT" sz="1100" b="1" dirty="0">
                <a:solidFill>
                  <a:srgbClr val="FFFFFF"/>
                </a:solidFill>
                <a:latin typeface="Calibri"/>
              </a:rPr>
              <a:t>AZURE CLOUD  ·  Cliente TCF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19672" y="1508760"/>
            <a:ext cx="5111496" cy="365760"/>
          </a:xfrm>
          <a:prstGeom prst="rect">
            <a:avLst/>
          </a:prstGeom>
          <a:solidFill>
            <a:srgbClr val="0F8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19672" y="1508760"/>
            <a:ext cx="5111496" cy="36576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lang="it-IT" sz="1100" b="1" dirty="0">
                <a:solidFill>
                  <a:srgbClr val="FFFFFF"/>
                </a:solidFill>
                <a:latin typeface="Calibri"/>
              </a:rPr>
              <a:t>WK LEGAL ENVIRONMENT  ·  FAB  (Workspace One Fiscale)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11680"/>
            <a:ext cx="2281428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2103120"/>
            <a:ext cx="2281428" cy="310896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lang="it-IT" sz="1100" b="1" dirty="0">
                <a:solidFill>
                  <a:srgbClr val="1F5FA8"/>
                </a:solidFill>
                <a:latin typeface="Calibri"/>
              </a:rPr>
              <a:t>DB TCF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432304"/>
            <a:ext cx="2061972" cy="347472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lang="it-IT" sz="900" b="0" dirty="0">
                <a:solidFill>
                  <a:srgbClr val="1A1A1A"/>
                </a:solidFill>
                <a:latin typeface="Calibri"/>
              </a:rPr>
              <a:t>Database applicativo — RCM · driver · wizard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67228" y="2011680"/>
            <a:ext cx="2281428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967228" y="2103120"/>
            <a:ext cx="2281428" cy="310896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lang="it-IT" sz="1100" b="1" dirty="0">
                <a:solidFill>
                  <a:srgbClr val="1F5FA8"/>
                </a:solidFill>
                <a:latin typeface="Calibri"/>
              </a:rPr>
              <a:t>Storage Documentale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76956" y="2432304"/>
            <a:ext cx="2061972" cy="347472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lang="it-IT" sz="900" b="0" dirty="0">
                <a:solidFill>
                  <a:srgbClr val="1A1A1A"/>
                </a:solidFill>
                <a:latin typeface="Calibri"/>
              </a:rPr>
              <a:t>Documenti privati cifrati del cliente TCF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017520"/>
            <a:ext cx="2281428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F3B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3108960"/>
            <a:ext cx="2281428" cy="310896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lang="it-IT" sz="1100" b="1" dirty="0">
                <a:solidFill>
                  <a:srgbClr val="0F3B66"/>
                </a:solidFill>
                <a:latin typeface="Calibri"/>
              </a:rPr>
              <a:t>TCF Application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3438144"/>
            <a:ext cx="2061972" cy="347472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lang="it-IT" sz="900" b="0" dirty="0">
                <a:solidFill>
                  <a:srgbClr val="1A1A1A"/>
                </a:solidFill>
                <a:latin typeface="Calibri"/>
              </a:rPr>
              <a:t>Web app cliente — wizard · RCM · fattispecie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967228" y="3017520"/>
            <a:ext cx="2281428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F3B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967228" y="3108960"/>
            <a:ext cx="2281428" cy="310896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lang="it-IT" sz="1100" b="1" dirty="0">
                <a:solidFill>
                  <a:srgbClr val="0F3B66"/>
                </a:solidFill>
                <a:latin typeface="Calibri"/>
              </a:rPr>
              <a:t>Integration Connector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76956" y="3438144"/>
            <a:ext cx="2061972" cy="347472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lang="it-IT" sz="900" b="0" dirty="0">
                <a:solidFill>
                  <a:srgbClr val="1A1A1A"/>
                </a:solidFill>
                <a:latin typeface="Calibri"/>
              </a:rPr>
              <a:t>Gateway API — JSON · mTLS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206240"/>
            <a:ext cx="4700016" cy="1005840"/>
          </a:xfrm>
          <a:prstGeom prst="roundRect">
            <a:avLst>
              <a:gd name="adj" fmla="val 5000"/>
            </a:avLst>
          </a:prstGeom>
          <a:solidFill>
            <a:srgbClr val="E0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48640" y="4370832"/>
            <a:ext cx="4700016" cy="310896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lang="it-IT" sz="1100" b="1" dirty="0">
                <a:solidFill>
                  <a:srgbClr val="FFFFFF"/>
                </a:solidFill>
                <a:latin typeface="Calibri"/>
              </a:rPr>
              <a:t>SCHEDULER JOB  (Azure)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709160"/>
            <a:ext cx="4334256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lang="it-IT" sz="900" b="0" dirty="0">
                <a:solidFill>
                  <a:srgbClr val="FFFFFF"/>
                </a:solidFill>
                <a:latin typeface="Calibri"/>
              </a:rPr>
              <a:t>Job schedulato mensile che invoca il Periodic Briefing Agent per generare il report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19672" y="2011680"/>
            <a:ext cx="2487168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F8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519672" y="2103120"/>
            <a:ext cx="2487168" cy="310896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lang="it-IT" sz="1100" b="1" dirty="0">
                <a:solidFill>
                  <a:srgbClr val="0F8A3A"/>
                </a:solidFill>
                <a:latin typeface="Calibri"/>
              </a:rPr>
              <a:t>Indice TCF Cliente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2432304"/>
            <a:ext cx="2267712" cy="347472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lang="it-IT" sz="900" b="0" dirty="0">
                <a:solidFill>
                  <a:srgbClr val="1A1A1A"/>
                </a:solidFill>
                <a:latin typeface="Calibri"/>
              </a:rPr>
              <a:t>Documenti vettorizzati (aggiornati via ingestion)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44000" y="2011680"/>
            <a:ext cx="2487168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F8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144000" y="2103120"/>
            <a:ext cx="2487168" cy="310896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lang="it-IT" sz="1100" b="1" dirty="0">
                <a:solidFill>
                  <a:srgbClr val="0F8A3A"/>
                </a:solidFill>
                <a:latin typeface="Calibri"/>
              </a:rPr>
              <a:t>Indice One Fiscale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53728" y="2432304"/>
            <a:ext cx="2267712" cy="347472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lang="it-IT" sz="900" b="0" dirty="0">
                <a:solidFill>
                  <a:srgbClr val="1A1A1A"/>
                </a:solidFill>
                <a:latin typeface="Calibri"/>
              </a:rPr>
              <a:t>Banca dati normativa WK (aggiornata continuamente)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19672" y="3017520"/>
            <a:ext cx="5111496" cy="822960"/>
          </a:xfrm>
          <a:prstGeom prst="roundRect">
            <a:avLst>
              <a:gd name="adj" fmla="val 6000"/>
            </a:avLst>
          </a:prstGeom>
          <a:solidFill>
            <a:srgbClr val="0F3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519672" y="3108960"/>
            <a:ext cx="5111496" cy="3200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lang="it-IT" sz="1200" b="1" dirty="0">
                <a:solidFill>
                  <a:srgbClr val="FFFFFF"/>
                </a:solidFill>
                <a:latin typeface="Calibri"/>
              </a:rPr>
              <a:t>ORCHESTRATOR AGENT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19672" y="3456432"/>
            <a:ext cx="5111496" cy="384048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lang="it-IT" sz="950" b="0" dirty="0">
                <a:solidFill>
                  <a:srgbClr val="E8F1FB"/>
                </a:solidFill>
                <a:latin typeface="Calibri"/>
              </a:rPr>
              <a:t>Routing verso i 6 agenti · retrieval dai due indici · policy &amp; audit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19672" y="4206240"/>
            <a:ext cx="790956" cy="1005840"/>
          </a:xfrm>
          <a:prstGeom prst="roundRect">
            <a:avLst>
              <a:gd name="adj" fmla="val 6000"/>
            </a:avLst>
          </a:prstGeom>
          <a:solidFill>
            <a:srgbClr val="E0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519672" y="4206240"/>
            <a:ext cx="790956" cy="100584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lang="it-IT" sz="950" b="1" dirty="0">
                <a:solidFill>
                  <a:srgbClr val="FFFFFF"/>
                </a:solidFill>
                <a:latin typeface="Calibri"/>
              </a:rPr>
              <a:t>Periodic Briefing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83780" y="4206240"/>
            <a:ext cx="790956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F8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383780" y="4206240"/>
            <a:ext cx="790956" cy="100584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lang="it-IT" sz="950" b="1" dirty="0">
                <a:solidFill>
                  <a:srgbClr val="0F3B66"/>
                </a:solidFill>
                <a:latin typeface="Calibri"/>
              </a:rPr>
              <a:t>Gap Analysis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47888" y="4206240"/>
            <a:ext cx="790956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F8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247888" y="4206240"/>
            <a:ext cx="790956" cy="100584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lang="it-IT" sz="950" b="1" dirty="0">
                <a:solidFill>
                  <a:srgbClr val="0F3B66"/>
                </a:solidFill>
                <a:latin typeface="Calibri"/>
              </a:rPr>
              <a:t>Driver Assistant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11996" y="4206240"/>
            <a:ext cx="790956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F8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111996" y="4206240"/>
            <a:ext cx="790956" cy="100584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lang="it-IT" sz="950" b="1" dirty="0">
                <a:solidFill>
                  <a:srgbClr val="0F3B66"/>
                </a:solidFill>
                <a:latin typeface="Calibri"/>
              </a:rPr>
              <a:t>Impact Analysis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976104" y="4206240"/>
            <a:ext cx="790956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F8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9976104" y="4206240"/>
            <a:ext cx="790956" cy="100584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lang="it-IT" sz="950" b="1" dirty="0">
                <a:solidFill>
                  <a:srgbClr val="0F3B66"/>
                </a:solidFill>
                <a:latin typeface="Calibri"/>
              </a:rPr>
              <a:t>Drafting Assistant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840212" y="4206240"/>
            <a:ext cx="790956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F8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0840212" y="4206240"/>
            <a:ext cx="790956" cy="100584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lang="it-IT" sz="950" b="1" dirty="0">
                <a:solidFill>
                  <a:srgbClr val="0F3B66"/>
                </a:solidFill>
                <a:latin typeface="Calibri"/>
              </a:rPr>
              <a:t>Q&amp;A Contestuale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689354" y="2834640"/>
            <a:ext cx="0" cy="182880"/>
          </a:xfrm>
          <a:prstGeom prst="line">
            <a:avLst/>
          </a:prstGeom>
          <a:ln w="15240">
            <a:solidFill>
              <a:srgbClr val="5A6672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830068" y="3429000"/>
            <a:ext cx="137160" cy="0"/>
          </a:xfrm>
          <a:prstGeom prst="line">
            <a:avLst/>
          </a:prstGeom>
          <a:ln w="15240">
            <a:solidFill>
              <a:srgbClr val="5A66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830068" y="2834640"/>
            <a:ext cx="935659" cy="182880"/>
          </a:xfrm>
          <a:prstGeom prst="line">
            <a:avLst/>
          </a:prstGeom>
          <a:ln w="15240">
            <a:solidFill>
              <a:srgbClr val="5A66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7763256" y="2834640"/>
            <a:ext cx="0" cy="182880"/>
          </a:xfrm>
          <a:prstGeom prst="line">
            <a:avLst/>
          </a:prstGeom>
          <a:ln w="13970">
            <a:solidFill>
              <a:srgbClr val="0F8A3A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0387584" y="2834640"/>
            <a:ext cx="0" cy="182880"/>
          </a:xfrm>
          <a:prstGeom prst="line">
            <a:avLst/>
          </a:prstGeom>
          <a:ln w="13970">
            <a:solidFill>
              <a:srgbClr val="0F8A3A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6915150" y="3840480"/>
            <a:ext cx="0" cy="365760"/>
          </a:xfrm>
          <a:prstGeom prst="line">
            <a:avLst/>
          </a:prstGeom>
          <a:ln w="11430">
            <a:solidFill>
              <a:srgbClr val="0F8A3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7779258" y="3840480"/>
            <a:ext cx="0" cy="365760"/>
          </a:xfrm>
          <a:prstGeom prst="line">
            <a:avLst/>
          </a:prstGeom>
          <a:ln w="11430">
            <a:solidFill>
              <a:srgbClr val="0F8A3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8643366" y="3840480"/>
            <a:ext cx="0" cy="365760"/>
          </a:xfrm>
          <a:prstGeom prst="line">
            <a:avLst/>
          </a:prstGeom>
          <a:ln w="11430">
            <a:solidFill>
              <a:srgbClr val="0F8A3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507474" y="3840480"/>
            <a:ext cx="0" cy="365760"/>
          </a:xfrm>
          <a:prstGeom prst="line">
            <a:avLst/>
          </a:prstGeom>
          <a:ln w="11430">
            <a:solidFill>
              <a:srgbClr val="0F8A3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10371582" y="3840480"/>
            <a:ext cx="0" cy="365760"/>
          </a:xfrm>
          <a:prstGeom prst="line">
            <a:avLst/>
          </a:prstGeom>
          <a:ln w="11430">
            <a:solidFill>
              <a:srgbClr val="0F8A3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1235690" y="3840480"/>
            <a:ext cx="0" cy="365760"/>
          </a:xfrm>
          <a:prstGeom prst="line">
            <a:avLst/>
          </a:prstGeom>
          <a:ln w="11430">
            <a:solidFill>
              <a:srgbClr val="0F8A3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5248656" y="3429000"/>
            <a:ext cx="1271016" cy="0"/>
          </a:xfrm>
          <a:prstGeom prst="line">
            <a:avLst/>
          </a:prstGeom>
          <a:ln w="38100">
            <a:solidFill>
              <a:srgbClr val="1F5FA8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ounded Rectangle 58"/>
          <p:cNvSpPr/>
          <p:nvPr/>
        </p:nvSpPr>
        <p:spPr>
          <a:xfrm>
            <a:off x="5449824" y="3200400"/>
            <a:ext cx="868680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5449824" y="3200400"/>
            <a:ext cx="868680" cy="4572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lang="it-IT" sz="850" b="1" dirty="0">
                <a:solidFill>
                  <a:srgbClr val="1F5FA8"/>
                </a:solidFill>
                <a:latin typeface="Calibri"/>
              </a:rPr>
              <a:t>HTTPS
mTLS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248656" y="2423160"/>
            <a:ext cx="1271016" cy="0"/>
          </a:xfrm>
          <a:prstGeom prst="line">
            <a:avLst/>
          </a:prstGeom>
          <a:ln w="20320">
            <a:solidFill>
              <a:srgbClr val="5A667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5289804" y="2075688"/>
            <a:ext cx="1188720" cy="256032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lang="it-IT" sz="850" b="1" dirty="0">
                <a:solidFill>
                  <a:srgbClr val="5A6672"/>
                </a:solidFill>
                <a:latin typeface="Calibri"/>
              </a:rPr>
              <a:t>Ingestion Job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5248656" y="4709160"/>
            <a:ext cx="1271016" cy="0"/>
          </a:xfrm>
          <a:prstGeom prst="line">
            <a:avLst/>
          </a:prstGeom>
          <a:ln w="22860">
            <a:solidFill>
              <a:srgbClr val="E07B0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198364" y="4361688"/>
            <a:ext cx="1371600" cy="256032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lang="it-IT" sz="850" b="1" dirty="0">
                <a:solidFill>
                  <a:srgbClr val="E07B00"/>
                </a:solidFill>
                <a:latin typeface="Calibri"/>
              </a:rPr>
              <a:t>Monthly Trigger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84048" y="5806440"/>
            <a:ext cx="11430000" cy="256032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lang="it-IT" sz="850" b="0" dirty="0">
                <a:solidFill>
                  <a:srgbClr val="5A6672"/>
                </a:solidFill>
                <a:latin typeface="Calibri"/>
              </a:rPr>
              <a:t>Legenda:   ▬▬  HTTPS · mTLS bidirezionale        ▬ ▬  Ingestion (batch)        ▬ ▬  Monthly Trigger (scheduled)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84048" y="6446520"/>
            <a:ext cx="36576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it-IT" sz="900" b="0" dirty="0">
                <a:solidFill>
                  <a:srgbClr val="5A6672"/>
                </a:solidFill>
                <a:latin typeface="Calibri"/>
              </a:rPr>
              <a:t>© 2026 NTT DATA, Inc.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86400" y="6446520"/>
            <a:ext cx="13716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lang="it-IT" sz="900" b="0" dirty="0">
                <a:solidFill>
                  <a:srgbClr val="5A6672"/>
                </a:solidFill>
                <a:latin typeface="Calibri"/>
              </a:rPr>
              <a:t>4 / 12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84048" y="6720840"/>
            <a:ext cx="11430000" cy="1828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301752"/>
            <a:ext cx="11430000" cy="5029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it-IT" sz="2400" b="1" dirty="0">
                <a:solidFill>
                  <a:srgbClr val="0F3B66"/>
                </a:solidFill>
                <a:latin typeface="Calibri"/>
              </a:rPr>
              <a:t>Accesso &amp; Governance dell’Identità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841248"/>
            <a:ext cx="11430000" cy="384048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it-IT" sz="1300" b="0" dirty="0">
                <a:solidFill>
                  <a:srgbClr val="5A6672"/>
                </a:solidFill>
                <a:latin typeface="Calibri"/>
              </a:rPr>
              <a:t>Un unico modello di identità coerente tra TCF e ambiente WK Legal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" y="822960"/>
            <a:ext cx="1097280" cy="36576"/>
          </a:xfrm>
          <a:prstGeom prst="rect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26567" y="1554480"/>
            <a:ext cx="3657600" cy="4663440"/>
          </a:xfrm>
          <a:prstGeom prst="roundRect">
            <a:avLst>
              <a:gd name="adj" fmla="val 5000"/>
            </a:avLst>
          </a:prstGeom>
          <a:solidFill>
            <a:srgbClr val="F4F8FD"/>
          </a:solidFill>
          <a:ln w="10160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Oval 5"/>
          <p:cNvSpPr/>
          <p:nvPr/>
        </p:nvSpPr>
        <p:spPr>
          <a:xfrm>
            <a:off x="700887" y="1828800"/>
            <a:ext cx="548640" cy="548640"/>
          </a:xfrm>
          <a:prstGeom prst="ellips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lang="it-IT" sz="1800" b="1" dirty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6687" y="1847088"/>
            <a:ext cx="2468880" cy="50292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/>
            <a:r>
              <a:rPr lang="it-IT" sz="1300" b="1" dirty="0">
                <a:solidFill>
                  <a:srgbClr val="0F3B66"/>
                </a:solidFill>
                <a:latin typeface="Calibri"/>
              </a:rPr>
              <a:t>Modello di Identità</a:t>
            </a:r>
          </a:p>
        </p:txBody>
      </p:sp>
      <p:sp>
        <p:nvSpPr>
          <p:cNvPr id="8" name="Rectangle 7"/>
          <p:cNvSpPr/>
          <p:nvPr/>
        </p:nvSpPr>
        <p:spPr>
          <a:xfrm>
            <a:off x="700887" y="2560320"/>
            <a:ext cx="3108960" cy="27432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00887" y="2743200"/>
            <a:ext cx="3108960" cy="32918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it-IT" sz="1000" b="0" dirty="0">
                <a:solidFill>
                  <a:srgbClr val="1A1A1A"/>
                </a:solidFill>
                <a:latin typeface="Calibri"/>
              </a:rPr>
              <a:t>L’accesso ai servizi One Fiscale è basato su utenze One ID Legal come identità di riferimento, coerentemente con lo stack di autenticazione già adottato in ambito WK Legal.</a:t>
            </a:r>
          </a:p>
          <a:p>
            <a:pPr algn="l">
              <a:spcBef>
                <a:spcPts val="600"/>
              </a:spcBef>
            </a:pPr>
            <a:r>
              <a:rPr lang="it-IT" sz="1000" b="0" dirty="0">
                <a:solidFill>
                  <a:srgbClr val="1A1A1A"/>
                </a:solidFill>
                <a:latin typeface="Calibri"/>
              </a:rPr>
              <a:t>Il TCF propaga l’identità dell’utente all’Orchestrator Agent tramite token firmato, mantenendo la tracciabilità puntuale di ogni chiamata AI.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7047" y="1554480"/>
            <a:ext cx="3657600" cy="4663440"/>
          </a:xfrm>
          <a:prstGeom prst="roundRect">
            <a:avLst>
              <a:gd name="adj" fmla="val 5000"/>
            </a:avLst>
          </a:prstGeom>
          <a:solidFill>
            <a:srgbClr val="F4F8FD"/>
          </a:solidFill>
          <a:ln w="10160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Oval 10"/>
          <p:cNvSpPr/>
          <p:nvPr/>
        </p:nvSpPr>
        <p:spPr>
          <a:xfrm>
            <a:off x="4541367" y="1828800"/>
            <a:ext cx="548640" cy="548640"/>
          </a:xfrm>
          <a:prstGeom prst="ellips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lang="it-IT" sz="1800" b="1" dirty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27167" y="1847088"/>
            <a:ext cx="2468880" cy="50292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/>
            <a:r>
              <a:rPr lang="it-IT" sz="1300" b="1" dirty="0">
                <a:solidFill>
                  <a:srgbClr val="0F3B66"/>
                </a:solidFill>
                <a:latin typeface="Calibri"/>
              </a:rPr>
              <a:t>Razionale della Scelta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41367" y="2560320"/>
            <a:ext cx="3108960" cy="27432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41367" y="2743200"/>
            <a:ext cx="3108960" cy="32918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it-IT" sz="1000" b="0" dirty="0">
                <a:solidFill>
                  <a:srgbClr val="1A1A1A"/>
                </a:solidFill>
                <a:latin typeface="Calibri"/>
              </a:rPr>
              <a:t>Riutilizzare One ID Legal evita integrazioni SSO custom e centralizza la gestione delle abilitazioni sui servizi One Fiscale.</a:t>
            </a:r>
          </a:p>
          <a:p>
            <a:pPr algn="l">
              <a:spcBef>
                <a:spcPts val="600"/>
              </a:spcBef>
            </a:pPr>
            <a:r>
              <a:rPr lang="it-IT" sz="1000" b="0" dirty="0">
                <a:solidFill>
                  <a:srgbClr val="1A1A1A"/>
                </a:solidFill>
                <a:latin typeface="Calibri"/>
              </a:rPr>
              <a:t>Il cliente TCF beneficia di onboarding rapido, revoca immediata e audit completo delle interazioni con gli assistenti AI.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07527" y="1554480"/>
            <a:ext cx="3657600" cy="4663440"/>
          </a:xfrm>
          <a:prstGeom prst="roundRect">
            <a:avLst>
              <a:gd name="adj" fmla="val 5000"/>
            </a:avLst>
          </a:prstGeom>
          <a:solidFill>
            <a:srgbClr val="F4F8FD"/>
          </a:solidFill>
          <a:ln w="10160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Oval 15"/>
          <p:cNvSpPr/>
          <p:nvPr/>
        </p:nvSpPr>
        <p:spPr>
          <a:xfrm>
            <a:off x="8381847" y="1828800"/>
            <a:ext cx="548640" cy="548640"/>
          </a:xfrm>
          <a:prstGeom prst="ellips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lang="it-IT" sz="1800" b="1" dirty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67647" y="1847088"/>
            <a:ext cx="2468880" cy="50292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/>
            <a:r>
              <a:rPr lang="it-IT" sz="1300" b="1" dirty="0">
                <a:solidFill>
                  <a:srgbClr val="0F3B66"/>
                </a:solidFill>
                <a:latin typeface="Calibri"/>
              </a:rPr>
              <a:t>Prerequisiti di Accesso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81847" y="2560320"/>
            <a:ext cx="3108960" cy="27432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81847" y="2743200"/>
            <a:ext cx="3108960" cy="32918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it-IT" sz="1000" b="0" dirty="0">
                <a:solidFill>
                  <a:srgbClr val="1A1A1A"/>
                </a:solidFill>
                <a:latin typeface="Calibri"/>
              </a:rPr>
              <a:t>Ogni utente TCF che utilizza le funzionalità AI deve essere censito in One ID Legal con profilo attivo e abilitato alla workspace One Fiscale.</a:t>
            </a:r>
          </a:p>
          <a:p>
            <a:pPr algn="l">
              <a:spcBef>
                <a:spcPts val="600"/>
              </a:spcBef>
            </a:pPr>
            <a:r>
              <a:rPr lang="it-IT" sz="1000" b="0" dirty="0">
                <a:solidFill>
                  <a:srgbClr val="1A1A1A"/>
                </a:solidFill>
                <a:latin typeface="Calibri"/>
              </a:rPr>
              <a:t>È richiesta una sottoscrizione a One Fiscale coerente con i casi d’uso previsti (banca dati, fattispecie, novità normative).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" y="6446520"/>
            <a:ext cx="36576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it-IT" sz="900" b="0" dirty="0">
                <a:solidFill>
                  <a:srgbClr val="5A6672"/>
                </a:solidFill>
                <a:latin typeface="Calibri"/>
              </a:rPr>
              <a:t>© 2026 NTT DATA, Inc.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0" y="6446520"/>
            <a:ext cx="13716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lang="it-IT" sz="900" b="0" dirty="0">
                <a:solidFill>
                  <a:srgbClr val="5A6672"/>
                </a:solidFill>
                <a:latin typeface="Calibri"/>
              </a:rPr>
              <a:t>5 / 12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6720840"/>
            <a:ext cx="11430000" cy="1828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301752"/>
            <a:ext cx="11430000" cy="5029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it-IT" sz="2400" b="1" dirty="0">
                <a:solidFill>
                  <a:srgbClr val="0F3B66"/>
                </a:solidFill>
                <a:latin typeface="Calibri"/>
              </a:rPr>
              <a:t>Proposta di Approccio – Proof of Concept (PoC)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841248"/>
            <a:ext cx="11430000" cy="384048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it-IT" sz="1300" b="0" dirty="0">
                <a:solidFill>
                  <a:srgbClr val="5A6672"/>
                </a:solidFill>
                <a:latin typeface="Calibri"/>
              </a:rPr>
              <a:t>Percorso in due fasi focalizzato sul solo caso d’uso Gap Analysis per validare l’integrazione TCF ↔ FAB One Fiscale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" y="822960"/>
            <a:ext cx="1097280" cy="36576"/>
          </a:xfrm>
          <a:prstGeom prst="rect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84048" y="1554480"/>
            <a:ext cx="11430000" cy="777240"/>
          </a:xfrm>
          <a:prstGeom prst="roundRect">
            <a:avLst>
              <a:gd name="adj" fmla="val 6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645920"/>
            <a:ext cx="3200400" cy="3200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it-IT" sz="1100" b="1" dirty="0">
                <a:solidFill>
                  <a:srgbClr val="E07B00"/>
                </a:solidFill>
                <a:latin typeface="Calibri"/>
              </a:rPr>
              <a:t>PREREQUISITO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938528"/>
            <a:ext cx="10881360" cy="3200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it-IT" sz="1000" b="0" dirty="0">
                <a:solidFill>
                  <a:srgbClr val="1A1A1A"/>
                </a:solidFill>
                <a:latin typeface="Calibri"/>
              </a:rPr>
              <a:t>Il cliente TCF fornisce un set di documenti di esempio (RCM, policy interne, linee guida) e un set di domande &amp; risposte attese da usare come benchmark di valutazione del caso d’uso Gap Analysis.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2514600"/>
            <a:ext cx="5532120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84048" y="2514600"/>
            <a:ext cx="5532120" cy="777240"/>
          </a:xfrm>
          <a:prstGeom prst="roundRect">
            <a:avLst>
              <a:gd name="adj" fmla="val 8000"/>
            </a:avLst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84048" y="2834640"/>
            <a:ext cx="5532120" cy="457200"/>
          </a:xfrm>
          <a:prstGeom prst="rect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Oval 10"/>
          <p:cNvSpPr/>
          <p:nvPr/>
        </p:nvSpPr>
        <p:spPr>
          <a:xfrm>
            <a:off x="612648" y="2651760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lang="it-IT" sz="1600" b="1" dirty="0">
                <a:solidFill>
                  <a:srgbClr val="1F5FA8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2514600"/>
            <a:ext cx="4434840" cy="77724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/>
            <a:r>
              <a:rPr lang="it-IT" sz="1300" b="1" dirty="0">
                <a:solidFill>
                  <a:srgbClr val="FFFFFF"/>
                </a:solidFill>
                <a:latin typeface="Calibri"/>
              </a:rPr>
              <a:t>Fase 1 – Setup Integrazione &amp; Agente Gap Analysis su FAB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429000"/>
            <a:ext cx="4983480" cy="15544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it-IT" sz="1000" b="0" dirty="0">
                <a:solidFill>
                  <a:srgbClr val="1A1A1A"/>
                </a:solidFill>
                <a:latin typeface="Calibri"/>
              </a:rPr>
              <a:t>•  Configurazione workspace FAB dedicata al progetto TCF</a:t>
            </a:r>
          </a:p>
          <a:p>
            <a:pPr algn="l">
              <a:spcBef>
                <a:spcPts val="400"/>
              </a:spcBef>
            </a:pPr>
            <a:r>
              <a:rPr lang="it-IT" sz="1000" b="0" dirty="0">
                <a:solidFill>
                  <a:srgbClr val="1A1A1A"/>
                </a:solidFill>
                <a:latin typeface="Calibri"/>
              </a:rPr>
              <a:t>•  Creazione del solo agente Gap Analysis con system prompt dedicato</a:t>
            </a:r>
          </a:p>
          <a:p>
            <a:pPr algn="l">
              <a:spcBef>
                <a:spcPts val="400"/>
              </a:spcBef>
            </a:pPr>
            <a:r>
              <a:rPr lang="it-IT" sz="1000" b="0" dirty="0">
                <a:solidFill>
                  <a:srgbClr val="1A1A1A"/>
                </a:solidFill>
                <a:latin typeface="Calibri"/>
              </a:rPr>
              <a:t>•  Predisposizione connettore TCF ↔ FAB (One ID Legal, JSON I/O, HTTPS · mTLS)</a:t>
            </a:r>
          </a:p>
          <a:p>
            <a:pPr algn="l">
              <a:spcBef>
                <a:spcPts val="400"/>
              </a:spcBef>
            </a:pPr>
            <a:r>
              <a:rPr lang="it-IT" sz="1000" b="0" dirty="0">
                <a:solidFill>
                  <a:srgbClr val="1A1A1A"/>
                </a:solidFill>
                <a:latin typeface="Calibri"/>
              </a:rPr>
              <a:t>•  Caricamento del set di documenti di esempio sull’indice TCF privato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5029200"/>
            <a:ext cx="4983480" cy="502920"/>
          </a:xfrm>
          <a:prstGeom prst="roundRect">
            <a:avLst>
              <a:gd name="adj" fmla="val 15000"/>
            </a:avLst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1248" y="5029200"/>
            <a:ext cx="4617720" cy="50292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/>
            <a:r>
              <a:rPr lang="it-IT" sz="950" b="1" dirty="0">
                <a:solidFill>
                  <a:srgbClr val="0F3B66"/>
                </a:solidFill>
                <a:latin typeface="Calibri"/>
              </a:rPr>
              <a:t>Output → API Gap Analysis attiva e richiamabile dal backend TCF sul set di test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81928" y="2514600"/>
            <a:ext cx="5532120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F8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281928" y="2514600"/>
            <a:ext cx="5532120" cy="777240"/>
          </a:xfrm>
          <a:prstGeom prst="roundRect">
            <a:avLst>
              <a:gd name="adj" fmla="val 8000"/>
            </a:avLst>
          </a:prstGeom>
          <a:solidFill>
            <a:srgbClr val="0F8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281928" y="2834640"/>
            <a:ext cx="5532120" cy="457200"/>
          </a:xfrm>
          <a:prstGeom prst="rect">
            <a:avLst/>
          </a:prstGeom>
          <a:solidFill>
            <a:srgbClr val="0F8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Oval 18"/>
          <p:cNvSpPr/>
          <p:nvPr/>
        </p:nvSpPr>
        <p:spPr>
          <a:xfrm>
            <a:off x="6510528" y="2651760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lang="it-IT" sz="1600" b="1" dirty="0">
                <a:solidFill>
                  <a:srgbClr val="0F8A3A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96328" y="2514600"/>
            <a:ext cx="4434840" cy="77724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/>
            <a:r>
              <a:rPr lang="it-IT" sz="1300" b="1" dirty="0">
                <a:solidFill>
                  <a:srgbClr val="FFFFFF"/>
                </a:solidFill>
                <a:latin typeface="Calibri"/>
              </a:rPr>
              <a:t>Fase 2 – Test end-to-end &amp; Confronto Risposte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56248" y="3429000"/>
            <a:ext cx="4983480" cy="15544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it-IT" sz="1000" b="0" dirty="0">
                <a:solidFill>
                  <a:srgbClr val="1A1A1A"/>
                </a:solidFill>
                <a:latin typeface="Calibri"/>
              </a:rPr>
              <a:t>•  Esecuzione backend del set di domande sul caso d’uso Gap Analysis</a:t>
            </a:r>
          </a:p>
          <a:p>
            <a:pPr algn="l">
              <a:spcBef>
                <a:spcPts val="400"/>
              </a:spcBef>
            </a:pPr>
            <a:r>
              <a:rPr lang="it-IT" sz="1000" b="0" dirty="0">
                <a:solidFill>
                  <a:srgbClr val="1A1A1A"/>
                </a:solidFill>
                <a:latin typeface="Calibri"/>
              </a:rPr>
              <a:t>•  Generazione delle risposte combinando One Fiscale + documenti cliente</a:t>
            </a:r>
          </a:p>
          <a:p>
            <a:pPr algn="l">
              <a:spcBef>
                <a:spcPts val="400"/>
              </a:spcBef>
            </a:pPr>
            <a:r>
              <a:rPr lang="it-IT" sz="1000" b="0" dirty="0">
                <a:solidFill>
                  <a:srgbClr val="1A1A1A"/>
                </a:solidFill>
                <a:latin typeface="Calibri"/>
              </a:rPr>
              <a:t>•  Confronto tra le risposte dell’agente e le risposte attese fornite dal cliente</a:t>
            </a:r>
          </a:p>
          <a:p>
            <a:pPr algn="l">
              <a:spcBef>
                <a:spcPts val="400"/>
              </a:spcBef>
            </a:pPr>
            <a:r>
              <a:rPr lang="it-IT" sz="1000" b="0" dirty="0">
                <a:solidFill>
                  <a:srgbClr val="1A1A1A"/>
                </a:solidFill>
                <a:latin typeface="Calibri"/>
              </a:rPr>
              <a:t>•  Raccolta feedback strutturato: accuratezza, rilevanza, actionability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56248" y="5029200"/>
            <a:ext cx="4983480" cy="502920"/>
          </a:xfrm>
          <a:prstGeom prst="roundRect">
            <a:avLst>
              <a:gd name="adj" fmla="val 15000"/>
            </a:avLst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739128" y="5029200"/>
            <a:ext cx="4617720" cy="50292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/>
            <a:r>
              <a:rPr lang="it-IT" sz="950" b="1" dirty="0">
                <a:solidFill>
                  <a:srgbClr val="0F3B66"/>
                </a:solidFill>
                <a:latin typeface="Calibri"/>
              </a:rPr>
              <a:t>Output → Report di valutazione su Gap Analysis + roadmap di estensione agli altri 5 agenti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4048" y="5852160"/>
            <a:ext cx="11430000" cy="457200"/>
          </a:xfrm>
          <a:prstGeom prst="roundRect">
            <a:avLst>
              <a:gd name="adj" fmla="val 15000"/>
            </a:avLst>
          </a:prstGeom>
          <a:solidFill>
            <a:srgbClr val="0F3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48640" y="5942260"/>
            <a:ext cx="11109960" cy="276999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lang="it-IT" sz="1200" b="1" dirty="0">
                <a:solidFill>
                  <a:srgbClr val="FFFFFF"/>
                </a:solidFill>
                <a:latin typeface="Calibri"/>
              </a:rPr>
              <a:t>Durata complessiva:  8 settimane        Costo totale PoC:  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" y="6446520"/>
            <a:ext cx="36576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it-IT" sz="900" b="0" dirty="0">
                <a:solidFill>
                  <a:srgbClr val="5A6672"/>
                </a:solidFill>
                <a:latin typeface="Calibri"/>
              </a:rPr>
              <a:t>© 2026 NTT DATA, Inc.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6446520"/>
            <a:ext cx="13716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lang="it-IT" sz="900" b="0" dirty="0">
                <a:solidFill>
                  <a:srgbClr val="5A6672"/>
                </a:solidFill>
                <a:latin typeface="Calibri"/>
              </a:rPr>
              <a:t>6 / 12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4048" y="6720840"/>
            <a:ext cx="11430000" cy="1828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336000" y="354338"/>
            <a:ext cx="11520000" cy="0"/>
          </a:xfrm>
          <a:prstGeom prst="line">
            <a:avLst/>
          </a:prstGeom>
          <a:ln w="38100">
            <a:solidFill>
              <a:srgbClr val="007A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457200" y="594360"/>
            <a:ext cx="10972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 spc="150">
                <a:solidFill>
                  <a:srgbClr val="909090"/>
                </a:solidFill>
                <a:latin typeface="Fira Sans"/>
              </a:rPr>
              <a:t>LA COLLABORAZIONE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7455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Fira Sans"/>
              </a:rPr>
              <a:t>Il modello: RAG sul corpus One Fiscale, nessun addestramento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5577840" cy="411480"/>
          </a:xfrm>
          <a:prstGeom prst="rect">
            <a:avLst/>
          </a:prstGeom>
          <a:solidFill>
            <a:srgbClr val="007A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53035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Fira Sans"/>
              </a:rPr>
              <a:t>Cosa porta CCH TCF Suite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394960" cy="22481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28600" indent="-228600" algn="l">
              <a:lnSpc>
                <a:spcPct val="200000"/>
              </a:lnSpc>
              <a:spcAft>
                <a:spcPts val="400"/>
              </a:spcAft>
              <a:buChar char="•"/>
            </a:pPr>
            <a:r>
              <a:rPr sz="1400" dirty="0">
                <a:solidFill>
                  <a:srgbClr val="000000"/>
                </a:solidFill>
                <a:latin typeface="Fira Sans"/>
              </a:rPr>
              <a:t>Il </a:t>
            </a:r>
            <a:r>
              <a:rPr sz="1400" dirty="0" err="1">
                <a:solidFill>
                  <a:srgbClr val="000000"/>
                </a:solidFill>
                <a:latin typeface="Fira Sans"/>
              </a:rPr>
              <a:t>contesto</a:t>
            </a:r>
            <a:r>
              <a:rPr sz="1400" dirty="0">
                <a:solidFill>
                  <a:srgbClr val="000000"/>
                </a:solidFill>
                <a:latin typeface="Fira Sans"/>
              </a:rPr>
              <a:t> del </a:t>
            </a:r>
            <a:r>
              <a:rPr sz="1400" dirty="0" err="1">
                <a:solidFill>
                  <a:srgbClr val="000000"/>
                </a:solidFill>
                <a:latin typeface="Fira Sans"/>
              </a:rPr>
              <a:t>cliente</a:t>
            </a:r>
            <a:r>
              <a:rPr sz="1400" dirty="0">
                <a:solidFill>
                  <a:srgbClr val="000000"/>
                </a:solidFill>
                <a:latin typeface="Fira Sans"/>
              </a:rPr>
              <a:t>: RCM, </a:t>
            </a:r>
            <a:r>
              <a:rPr sz="1400" dirty="0" err="1">
                <a:solidFill>
                  <a:srgbClr val="000000"/>
                </a:solidFill>
                <a:latin typeface="Fira Sans"/>
              </a:rPr>
              <a:t>controlli</a:t>
            </a:r>
            <a:r>
              <a:rPr sz="1400" dirty="0">
                <a:solidFill>
                  <a:srgbClr val="000000"/>
                </a:solidFill>
                <a:latin typeface="Fira Sans"/>
              </a:rPr>
              <a:t>, </a:t>
            </a:r>
            <a:r>
              <a:rPr sz="1400" dirty="0" err="1">
                <a:solidFill>
                  <a:srgbClr val="000000"/>
                </a:solidFill>
                <a:latin typeface="Fira Sans"/>
              </a:rPr>
              <a:t>fattispecie</a:t>
            </a:r>
            <a:r>
              <a:rPr sz="1400" dirty="0">
                <a:solidFill>
                  <a:srgbClr val="000000"/>
                </a:solidFill>
                <a:latin typeface="Fira Sans"/>
              </a:rPr>
              <a:t>, TCM </a:t>
            </a:r>
            <a:r>
              <a:rPr sz="1400" dirty="0" err="1">
                <a:solidFill>
                  <a:srgbClr val="000000"/>
                </a:solidFill>
                <a:latin typeface="Fira Sans"/>
              </a:rPr>
              <a:t>caricato</a:t>
            </a:r>
            <a:endParaRPr sz="1400" dirty="0">
              <a:solidFill>
                <a:srgbClr val="000000"/>
              </a:solidFill>
              <a:latin typeface="Fira Sans"/>
            </a:endParaRPr>
          </a:p>
          <a:p>
            <a:pPr marL="228600" indent="-228600" algn="l">
              <a:lnSpc>
                <a:spcPct val="200000"/>
              </a:lnSpc>
              <a:spcAft>
                <a:spcPts val="400"/>
              </a:spcAft>
              <a:buChar char="•"/>
            </a:pPr>
            <a:r>
              <a:rPr sz="1400" dirty="0">
                <a:solidFill>
                  <a:srgbClr val="000000"/>
                </a:solidFill>
                <a:latin typeface="Fira Sans"/>
              </a:rPr>
              <a:t>Layer AI (</a:t>
            </a:r>
            <a:r>
              <a:rPr sz="1400" dirty="0" err="1">
                <a:solidFill>
                  <a:srgbClr val="000000"/>
                </a:solidFill>
                <a:latin typeface="Fira Sans"/>
              </a:rPr>
              <a:t>orchestratore</a:t>
            </a:r>
            <a:r>
              <a:rPr sz="1400" dirty="0">
                <a:solidFill>
                  <a:srgbClr val="000000"/>
                </a:solidFill>
                <a:latin typeface="Fira Sans"/>
              </a:rPr>
              <a:t> + </a:t>
            </a:r>
            <a:r>
              <a:rPr sz="1400" dirty="0" err="1">
                <a:solidFill>
                  <a:srgbClr val="000000"/>
                </a:solidFill>
                <a:latin typeface="Fira Sans"/>
              </a:rPr>
              <a:t>agenti</a:t>
            </a:r>
            <a:r>
              <a:rPr sz="1400" dirty="0">
                <a:solidFill>
                  <a:srgbClr val="000000"/>
                </a:solidFill>
                <a:latin typeface="Fira Sans"/>
              </a:rPr>
              <a:t>) e </a:t>
            </a:r>
            <a:r>
              <a:rPr sz="1400" dirty="0" err="1">
                <a:solidFill>
                  <a:srgbClr val="000000"/>
                </a:solidFill>
                <a:latin typeface="Fira Sans"/>
              </a:rPr>
              <a:t>applicazione</a:t>
            </a:r>
            <a:r>
              <a:rPr sz="1400" dirty="0">
                <a:solidFill>
                  <a:srgbClr val="000000"/>
                </a:solidFill>
                <a:latin typeface="Fira Sans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Fira Sans"/>
              </a:rPr>
              <a:t>nella</a:t>
            </a:r>
            <a:r>
              <a:rPr sz="1400" dirty="0">
                <a:solidFill>
                  <a:srgbClr val="000000"/>
                </a:solidFill>
                <a:latin typeface="Fira Sans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Fira Sans"/>
              </a:rPr>
              <a:t>piattaforma</a:t>
            </a:r>
            <a:endParaRPr sz="1400" dirty="0">
              <a:solidFill>
                <a:srgbClr val="000000"/>
              </a:solidFill>
              <a:latin typeface="Fira Sans"/>
            </a:endParaRPr>
          </a:p>
          <a:p>
            <a:pPr marL="228600" indent="-228600" algn="l">
              <a:lnSpc>
                <a:spcPct val="200000"/>
              </a:lnSpc>
              <a:spcAft>
                <a:spcPts val="400"/>
              </a:spcAft>
              <a:buChar char="•"/>
            </a:pPr>
            <a:r>
              <a:rPr sz="1400" dirty="0">
                <a:solidFill>
                  <a:srgbClr val="000000"/>
                </a:solidFill>
                <a:latin typeface="Fira Sans"/>
              </a:rPr>
              <a:t>Guardrail, audit log e </a:t>
            </a:r>
            <a:r>
              <a:rPr sz="1400" dirty="0" err="1">
                <a:solidFill>
                  <a:srgbClr val="000000"/>
                </a:solidFill>
                <a:latin typeface="Fira Sans"/>
              </a:rPr>
              <a:t>ripercorribilità</a:t>
            </a:r>
            <a:r>
              <a:rPr sz="1400" dirty="0">
                <a:solidFill>
                  <a:srgbClr val="000000"/>
                </a:solidFill>
                <a:latin typeface="Fira Sans"/>
              </a:rPr>
              <a:t> per la </a:t>
            </a:r>
            <a:r>
              <a:rPr sz="1400" dirty="0" err="1">
                <a:solidFill>
                  <a:srgbClr val="000000"/>
                </a:solidFill>
                <a:latin typeface="Fira Sans"/>
              </a:rPr>
              <a:t>certificazione</a:t>
            </a:r>
            <a:endParaRPr sz="1400" dirty="0">
              <a:solidFill>
                <a:srgbClr val="000000"/>
              </a:solidFill>
              <a:latin typeface="Fira Sans"/>
            </a:endParaRPr>
          </a:p>
          <a:p>
            <a:pPr marL="228600" indent="-228600" algn="l">
              <a:lnSpc>
                <a:spcPct val="200000"/>
              </a:lnSpc>
              <a:spcAft>
                <a:spcPts val="400"/>
              </a:spcAft>
              <a:buChar char="•"/>
            </a:pPr>
            <a:r>
              <a:rPr sz="1400" dirty="0">
                <a:solidFill>
                  <a:srgbClr val="000000"/>
                </a:solidFill>
                <a:latin typeface="Fira Sans"/>
              </a:rPr>
              <a:t>Canale </a:t>
            </a:r>
            <a:r>
              <a:rPr sz="1400" dirty="0" err="1">
                <a:solidFill>
                  <a:srgbClr val="000000"/>
                </a:solidFill>
                <a:latin typeface="Fira Sans"/>
              </a:rPr>
              <a:t>commerciale</a:t>
            </a:r>
            <a:r>
              <a:rPr sz="1400" dirty="0">
                <a:solidFill>
                  <a:srgbClr val="000000"/>
                </a:solidFill>
                <a:latin typeface="Fira Sans"/>
              </a:rPr>
              <a:t> Large Account </a:t>
            </a:r>
            <a:r>
              <a:rPr sz="1400" dirty="0" err="1">
                <a:solidFill>
                  <a:srgbClr val="000000"/>
                </a:solidFill>
                <a:latin typeface="Fira Sans"/>
              </a:rPr>
              <a:t>su</a:t>
            </a:r>
            <a:r>
              <a:rPr sz="1400" dirty="0">
                <a:solidFill>
                  <a:srgbClr val="000000"/>
                </a:solidFill>
                <a:latin typeface="Fira Sans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Fira Sans"/>
              </a:rPr>
              <a:t>clienti</a:t>
            </a:r>
            <a:r>
              <a:rPr sz="1400" dirty="0">
                <a:solidFill>
                  <a:srgbClr val="000000"/>
                </a:solidFill>
                <a:latin typeface="Fira Sans"/>
              </a:rPr>
              <a:t> TCF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417320"/>
            <a:ext cx="5577840" cy="411480"/>
          </a:xfrm>
          <a:prstGeom prst="rect">
            <a:avLst/>
          </a:prstGeom>
          <a:solidFill>
            <a:srgbClr val="85BC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09360" y="1463040"/>
            <a:ext cx="53035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Fira Sans"/>
              </a:rPr>
              <a:t>Cosa chiediamo a One Fiscale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1965960"/>
            <a:ext cx="5394960" cy="22481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42900" indent="-342900" algn="l">
              <a:lnSpc>
                <a:spcPct val="200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sz="1400" dirty="0">
                <a:solidFill>
                  <a:srgbClr val="000000"/>
                </a:solidFill>
                <a:latin typeface="Fira Sans"/>
              </a:rPr>
              <a:t>Accesso API ai </a:t>
            </a:r>
            <a:r>
              <a:rPr sz="1400" dirty="0" err="1">
                <a:solidFill>
                  <a:srgbClr val="000000"/>
                </a:solidFill>
                <a:latin typeface="Fira Sans"/>
              </a:rPr>
              <a:t>contenuti</a:t>
            </a:r>
            <a:r>
              <a:rPr sz="1400" dirty="0">
                <a:solidFill>
                  <a:srgbClr val="000000"/>
                </a:solidFill>
                <a:latin typeface="Fira Sans"/>
              </a:rPr>
              <a:t> a </a:t>
            </a:r>
            <a:r>
              <a:rPr sz="1400" dirty="0" err="1">
                <a:solidFill>
                  <a:srgbClr val="000000"/>
                </a:solidFill>
                <a:latin typeface="Fira Sans"/>
              </a:rPr>
              <a:t>granularità</a:t>
            </a:r>
            <a:r>
              <a:rPr sz="1400" dirty="0">
                <a:solidFill>
                  <a:srgbClr val="000000"/>
                </a:solidFill>
                <a:latin typeface="Fira Sans"/>
              </a:rPr>
              <a:t> fine (</a:t>
            </a:r>
            <a:r>
              <a:rPr sz="1400" dirty="0" err="1">
                <a:solidFill>
                  <a:srgbClr val="000000"/>
                </a:solidFill>
                <a:latin typeface="Fira Sans"/>
              </a:rPr>
              <a:t>articolo</a:t>
            </a:r>
            <a:r>
              <a:rPr sz="1400" dirty="0">
                <a:solidFill>
                  <a:srgbClr val="000000"/>
                </a:solidFill>
                <a:latin typeface="Fira Sans"/>
              </a:rPr>
              <a:t>/</a:t>
            </a:r>
            <a:r>
              <a:rPr sz="1400" dirty="0" err="1">
                <a:solidFill>
                  <a:srgbClr val="000000"/>
                </a:solidFill>
                <a:latin typeface="Fira Sans"/>
              </a:rPr>
              <a:t>paragrafo</a:t>
            </a:r>
            <a:r>
              <a:rPr sz="1400" dirty="0">
                <a:solidFill>
                  <a:srgbClr val="000000"/>
                </a:solidFill>
                <a:latin typeface="Fira Sans"/>
              </a:rPr>
              <a:t>)</a:t>
            </a:r>
          </a:p>
          <a:p>
            <a:pPr marL="342900" indent="-342900" algn="l">
              <a:lnSpc>
                <a:spcPct val="200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sz="1400" dirty="0" err="1">
                <a:solidFill>
                  <a:srgbClr val="000000"/>
                </a:solidFill>
                <a:latin typeface="Fira Sans"/>
              </a:rPr>
              <a:t>Ricerca</a:t>
            </a:r>
            <a:r>
              <a:rPr sz="1400" dirty="0">
                <a:solidFill>
                  <a:srgbClr val="000000"/>
                </a:solidFill>
                <a:latin typeface="Fira Sans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Fira Sans"/>
              </a:rPr>
              <a:t>sul</a:t>
            </a:r>
            <a:r>
              <a:rPr sz="1400" dirty="0">
                <a:solidFill>
                  <a:srgbClr val="000000"/>
                </a:solidFill>
                <a:latin typeface="Fira Sans"/>
              </a:rPr>
              <a:t> corpus (full-text; </a:t>
            </a:r>
            <a:r>
              <a:rPr sz="1400" dirty="0" err="1">
                <a:solidFill>
                  <a:srgbClr val="000000"/>
                </a:solidFill>
                <a:latin typeface="Fira Sans"/>
              </a:rPr>
              <a:t>semantica</a:t>
            </a:r>
            <a:r>
              <a:rPr sz="1400" dirty="0">
                <a:solidFill>
                  <a:srgbClr val="000000"/>
                </a:solidFill>
                <a:latin typeface="Fira Sans"/>
              </a:rPr>
              <a:t> se </a:t>
            </a:r>
            <a:r>
              <a:rPr sz="1400" dirty="0" err="1">
                <a:solidFill>
                  <a:srgbClr val="000000"/>
                </a:solidFill>
                <a:latin typeface="Fira Sans"/>
              </a:rPr>
              <a:t>disponibile</a:t>
            </a:r>
            <a:r>
              <a:rPr sz="1400" dirty="0">
                <a:solidFill>
                  <a:srgbClr val="000000"/>
                </a:solidFill>
                <a:latin typeface="Fira Sans"/>
              </a:rPr>
              <a:t>)</a:t>
            </a:r>
          </a:p>
          <a:p>
            <a:pPr marL="342900" indent="-342900" algn="l">
              <a:lnSpc>
                <a:spcPct val="200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sz="1400" dirty="0">
                <a:solidFill>
                  <a:srgbClr val="000000"/>
                </a:solidFill>
                <a:latin typeface="Fira Sans"/>
              </a:rPr>
              <a:t>Feed </a:t>
            </a:r>
            <a:r>
              <a:rPr sz="1400" dirty="0" err="1">
                <a:solidFill>
                  <a:srgbClr val="000000"/>
                </a:solidFill>
                <a:latin typeface="Fira Sans"/>
              </a:rPr>
              <a:t>novità</a:t>
            </a:r>
            <a:r>
              <a:rPr sz="1400" dirty="0">
                <a:solidFill>
                  <a:srgbClr val="000000"/>
                </a:solidFill>
                <a:latin typeface="Fira Sans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Fira Sans"/>
              </a:rPr>
              <a:t>strutturato</a:t>
            </a:r>
            <a:r>
              <a:rPr sz="1400" dirty="0">
                <a:solidFill>
                  <a:srgbClr val="000000"/>
                </a:solidFill>
                <a:latin typeface="Fira Sans"/>
              </a:rPr>
              <a:t> con </a:t>
            </a:r>
            <a:r>
              <a:rPr sz="1400" dirty="0" err="1">
                <a:solidFill>
                  <a:srgbClr val="000000"/>
                </a:solidFill>
                <a:latin typeface="Fira Sans"/>
              </a:rPr>
              <a:t>classificazione</a:t>
            </a:r>
            <a:r>
              <a:rPr sz="1400" dirty="0">
                <a:solidFill>
                  <a:srgbClr val="000000"/>
                </a:solidFill>
                <a:latin typeface="Fira Sans"/>
              </a:rPr>
              <a:t> </a:t>
            </a:r>
            <a:r>
              <a:rPr sz="1400" dirty="0" err="1">
                <a:solidFill>
                  <a:srgbClr val="000000"/>
                </a:solidFill>
                <a:latin typeface="Fira Sans"/>
              </a:rPr>
              <a:t>tematica</a:t>
            </a:r>
            <a:endParaRPr sz="1400" dirty="0">
              <a:solidFill>
                <a:srgbClr val="000000"/>
              </a:solidFill>
              <a:latin typeface="Fira Sans"/>
            </a:endParaRPr>
          </a:p>
          <a:p>
            <a:pPr marL="342900" indent="-342900" algn="l">
              <a:lnSpc>
                <a:spcPct val="200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sz="1400" dirty="0">
                <a:solidFill>
                  <a:srgbClr val="000000"/>
                </a:solidFill>
                <a:latin typeface="Fira Sans"/>
              </a:rPr>
              <a:t>Sandbox per il PoC, DPA e </a:t>
            </a:r>
            <a:r>
              <a:rPr sz="1400" dirty="0" err="1">
                <a:solidFill>
                  <a:srgbClr val="000000"/>
                </a:solidFill>
                <a:latin typeface="Fira Sans"/>
              </a:rPr>
              <a:t>clausola</a:t>
            </a:r>
            <a:r>
              <a:rPr sz="1400" dirty="0">
                <a:solidFill>
                  <a:srgbClr val="000000"/>
                </a:solidFill>
                <a:latin typeface="Fira Sans"/>
              </a:rPr>
              <a:t> di non </a:t>
            </a:r>
            <a:r>
              <a:rPr sz="1400" dirty="0" err="1">
                <a:solidFill>
                  <a:srgbClr val="000000"/>
                </a:solidFill>
                <a:latin typeface="Fira Sans"/>
              </a:rPr>
              <a:t>addestramento</a:t>
            </a:r>
            <a:endParaRPr sz="1400" dirty="0">
              <a:solidFill>
                <a:srgbClr val="000000"/>
              </a:solidFill>
              <a:latin typeface="Fira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42213" y="6446519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 dirty="0">
                <a:solidFill>
                  <a:srgbClr val="808080"/>
                </a:solidFill>
                <a:latin typeface="Fira Sans"/>
              </a:rPr>
              <a:t>Suite AI — Roadmap di </a:t>
            </a:r>
            <a:r>
              <a:rPr sz="800" b="0" i="0" dirty="0" err="1">
                <a:solidFill>
                  <a:srgbClr val="808080"/>
                </a:solidFill>
                <a:latin typeface="Fira Sans"/>
              </a:rPr>
              <a:t>sviluppo</a:t>
            </a:r>
            <a:r>
              <a:rPr sz="800" b="0" i="0" dirty="0">
                <a:solidFill>
                  <a:srgbClr val="808080"/>
                </a:solidFill>
                <a:latin typeface="Fira Sans"/>
              </a:rPr>
              <a:t> — Uso </a:t>
            </a:r>
            <a:r>
              <a:rPr sz="800" b="0" i="0" dirty="0" err="1">
                <a:solidFill>
                  <a:srgbClr val="808080"/>
                </a:solidFill>
                <a:latin typeface="Fira Sans"/>
              </a:rPr>
              <a:t>Interno</a:t>
            </a:r>
            <a:r>
              <a:rPr sz="800" b="0" i="0" dirty="0">
                <a:solidFill>
                  <a:srgbClr val="808080"/>
                </a:solidFill>
                <a:latin typeface="Fira Sans"/>
              </a:rPr>
              <a:t> </a:t>
            </a:r>
            <a:r>
              <a:rPr sz="800" b="0" i="0" dirty="0" err="1">
                <a:solidFill>
                  <a:srgbClr val="808080"/>
                </a:solidFill>
                <a:latin typeface="Fira Sans"/>
              </a:rPr>
              <a:t>Riservato</a:t>
            </a:r>
            <a:endParaRPr sz="800" b="0" i="0" dirty="0">
              <a:solidFill>
                <a:srgbClr val="808080"/>
              </a:solidFill>
              <a:latin typeface="Fira San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1704320" y="644652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0" i="0">
                <a:solidFill>
                  <a:srgbClr val="808080"/>
                </a:solidFill>
                <a:latin typeface="Fira San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336000" y="354338"/>
            <a:ext cx="11520000" cy="0"/>
          </a:xfrm>
          <a:prstGeom prst="line">
            <a:avLst/>
          </a:prstGeom>
          <a:ln w="38100">
            <a:solidFill>
              <a:srgbClr val="007A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457200" y="594360"/>
            <a:ext cx="10972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 spc="150">
                <a:solidFill>
                  <a:srgbClr val="909090"/>
                </a:solidFill>
                <a:latin typeface="Fira Sans"/>
              </a:rPr>
              <a:t>MILESTONE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7455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 i="0">
                <a:solidFill>
                  <a:srgbClr val="000000"/>
                </a:solidFill>
                <a:latin typeface="Fira Sans"/>
              </a:rPr>
              <a:t>Le milestone che scandiscono il percorso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14400" y="3474720"/>
            <a:ext cx="10360152" cy="0"/>
          </a:xfrm>
          <a:prstGeom prst="line">
            <a:avLst/>
          </a:prstGeom>
          <a:ln w="25400">
            <a:solidFill>
              <a:srgbClr val="007A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749808" y="3310128"/>
            <a:ext cx="329184" cy="329184"/>
          </a:xfrm>
          <a:prstGeom prst="ellipse">
            <a:avLst/>
          </a:prstGeom>
          <a:solidFill>
            <a:srgbClr val="007A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" y="265176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1" i="0">
                <a:solidFill>
                  <a:srgbClr val="007AC3"/>
                </a:solidFill>
                <a:latin typeface="Fira Sans"/>
              </a:rPr>
              <a:t>Set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" y="3749039"/>
            <a:ext cx="1706270" cy="5078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 dirty="0" err="1">
                <a:solidFill>
                  <a:srgbClr val="000000"/>
                </a:solidFill>
                <a:latin typeface="Fira Sans"/>
              </a:rPr>
              <a:t>Chiusura</a:t>
            </a:r>
            <a:r>
              <a:rPr sz="1100" b="0" i="0" dirty="0">
                <a:solidFill>
                  <a:srgbClr val="000000"/>
                </a:solidFill>
                <a:latin typeface="Fira Sans"/>
              </a:rPr>
              <a:t> Discovery: </a:t>
            </a:r>
            <a:r>
              <a:rPr sz="1100" b="0" i="0" dirty="0" err="1">
                <a:solidFill>
                  <a:srgbClr val="000000"/>
                </a:solidFill>
                <a:latin typeface="Fira Sans"/>
              </a:rPr>
              <a:t>documento</a:t>
            </a:r>
            <a:r>
              <a:rPr sz="1100" b="0" i="0" dirty="0">
                <a:solidFill>
                  <a:srgbClr val="000000"/>
                </a:solidFill>
                <a:latin typeface="Fira Sans"/>
              </a:rPr>
              <a:t> </a:t>
            </a:r>
            <a:r>
              <a:rPr sz="1100" b="0" i="0" dirty="0" err="1">
                <a:solidFill>
                  <a:srgbClr val="000000"/>
                </a:solidFill>
                <a:latin typeface="Fira Sans"/>
              </a:rPr>
              <a:t>tecnico</a:t>
            </a:r>
            <a:r>
              <a:rPr sz="1100" b="0" i="0" dirty="0">
                <a:solidFill>
                  <a:srgbClr val="000000"/>
                </a:solidFill>
                <a:latin typeface="Fira Sans"/>
              </a:rPr>
              <a:t> </a:t>
            </a:r>
            <a:r>
              <a:rPr sz="1100" b="0" i="0" dirty="0" err="1">
                <a:solidFill>
                  <a:srgbClr val="000000"/>
                </a:solidFill>
                <a:latin typeface="Fira Sans"/>
              </a:rPr>
              <a:t>congiunto</a:t>
            </a:r>
            <a:r>
              <a:rPr sz="1100" b="0" i="0" dirty="0">
                <a:solidFill>
                  <a:srgbClr val="000000"/>
                </a:solidFill>
                <a:latin typeface="Fira Sans"/>
              </a:rPr>
              <a:t> CCH-L&amp;R</a:t>
            </a:r>
          </a:p>
        </p:txBody>
      </p:sp>
      <p:sp>
        <p:nvSpPr>
          <p:cNvPr id="9" name="Oval 8"/>
          <p:cNvSpPr/>
          <p:nvPr/>
        </p:nvSpPr>
        <p:spPr>
          <a:xfrm>
            <a:off x="2821838" y="3310128"/>
            <a:ext cx="329184" cy="329184"/>
          </a:xfrm>
          <a:prstGeom prst="ellipse">
            <a:avLst/>
          </a:prstGeom>
          <a:solidFill>
            <a:srgbClr val="007A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797710" y="265176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1" i="0">
                <a:solidFill>
                  <a:srgbClr val="007AC3"/>
                </a:solidFill>
                <a:latin typeface="Fira Sans"/>
              </a:rPr>
              <a:t>Ott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87930" y="3749039"/>
            <a:ext cx="1597000" cy="3385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 dirty="0">
                <a:solidFill>
                  <a:srgbClr val="000000"/>
                </a:solidFill>
                <a:latin typeface="Fira Sans"/>
              </a:rPr>
              <a:t>Sandbox One Fiscale </a:t>
            </a:r>
            <a:r>
              <a:rPr sz="1100" b="0" i="0" dirty="0" err="1">
                <a:solidFill>
                  <a:srgbClr val="000000"/>
                </a:solidFill>
                <a:latin typeface="Fira Sans"/>
              </a:rPr>
              <a:t>disponibile</a:t>
            </a:r>
            <a:r>
              <a:rPr sz="1100" b="0" i="0" dirty="0">
                <a:solidFill>
                  <a:srgbClr val="000000"/>
                </a:solidFill>
                <a:latin typeface="Fira Sans"/>
              </a:rPr>
              <a:t>, </a:t>
            </a:r>
            <a:r>
              <a:rPr sz="1100" b="0" i="0" dirty="0" err="1">
                <a:solidFill>
                  <a:srgbClr val="000000"/>
                </a:solidFill>
                <a:latin typeface="Fira Sans"/>
              </a:rPr>
              <a:t>avvio</a:t>
            </a:r>
            <a:r>
              <a:rPr sz="1100" b="0" i="0" dirty="0">
                <a:solidFill>
                  <a:srgbClr val="000000"/>
                </a:solidFill>
                <a:latin typeface="Fira Sans"/>
              </a:rPr>
              <a:t> PoC</a:t>
            </a:r>
          </a:p>
        </p:txBody>
      </p:sp>
      <p:sp>
        <p:nvSpPr>
          <p:cNvPr id="12" name="Oval 11"/>
          <p:cNvSpPr/>
          <p:nvPr/>
        </p:nvSpPr>
        <p:spPr>
          <a:xfrm>
            <a:off x="4893868" y="3310128"/>
            <a:ext cx="329184" cy="329184"/>
          </a:xfrm>
          <a:prstGeom prst="ellipse">
            <a:avLst/>
          </a:prstGeom>
          <a:solidFill>
            <a:srgbClr val="007A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869740" y="265176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1" i="0">
                <a:solidFill>
                  <a:srgbClr val="007AC3"/>
                </a:solidFill>
                <a:latin typeface="Fira Sans"/>
              </a:rPr>
              <a:t>Dic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75150" y="3794759"/>
            <a:ext cx="1706270" cy="5078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 dirty="0" err="1">
                <a:solidFill>
                  <a:srgbClr val="000000"/>
                </a:solidFill>
                <a:latin typeface="Fira Sans"/>
              </a:rPr>
              <a:t>Esito</a:t>
            </a:r>
            <a:r>
              <a:rPr sz="1100" b="0" i="0" dirty="0">
                <a:solidFill>
                  <a:srgbClr val="000000"/>
                </a:solidFill>
                <a:latin typeface="Fira Sans"/>
              </a:rPr>
              <a:t> benchmark PoC: gate go/no-go </a:t>
            </a:r>
            <a:r>
              <a:rPr sz="1100" b="0" i="0" dirty="0" err="1">
                <a:solidFill>
                  <a:srgbClr val="000000"/>
                </a:solidFill>
                <a:latin typeface="Fira Sans"/>
              </a:rPr>
              <a:t>su</a:t>
            </a:r>
            <a:r>
              <a:rPr sz="1100" b="0" i="0" dirty="0">
                <a:solidFill>
                  <a:srgbClr val="000000"/>
                </a:solidFill>
                <a:latin typeface="Fira Sans"/>
              </a:rPr>
              <a:t> </a:t>
            </a:r>
            <a:r>
              <a:rPr sz="1100" b="0" i="0" dirty="0" err="1">
                <a:solidFill>
                  <a:srgbClr val="000000"/>
                </a:solidFill>
                <a:latin typeface="Fira Sans"/>
              </a:rPr>
              <a:t>accuratezza</a:t>
            </a:r>
            <a:r>
              <a:rPr sz="1100" b="0" i="0" dirty="0">
                <a:solidFill>
                  <a:srgbClr val="000000"/>
                </a:solidFill>
                <a:latin typeface="Fira Sans"/>
              </a:rPr>
              <a:t> e </a:t>
            </a:r>
            <a:r>
              <a:rPr sz="1100" b="0" i="0" dirty="0" err="1">
                <a:solidFill>
                  <a:srgbClr val="000000"/>
                </a:solidFill>
                <a:latin typeface="Fira Sans"/>
              </a:rPr>
              <a:t>costi</a:t>
            </a:r>
            <a:endParaRPr sz="1100" b="0" i="0" dirty="0">
              <a:solidFill>
                <a:srgbClr val="000000"/>
              </a:solidFill>
              <a:latin typeface="Fira Sans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6965899" y="3310128"/>
            <a:ext cx="329184" cy="329184"/>
          </a:xfrm>
          <a:prstGeom prst="ellipse">
            <a:avLst/>
          </a:prstGeom>
          <a:solidFill>
            <a:srgbClr val="007A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1771" y="265176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1" i="0">
                <a:solidFill>
                  <a:srgbClr val="007AC3"/>
                </a:solidFill>
                <a:latin typeface="Fira Sans"/>
              </a:rPr>
              <a:t>Giu 2027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4787" y="3749039"/>
            <a:ext cx="1706270" cy="3385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 dirty="0">
                <a:solidFill>
                  <a:srgbClr val="000000"/>
                </a:solidFill>
                <a:latin typeface="Fira Sans"/>
              </a:rPr>
              <a:t>MVP </a:t>
            </a:r>
            <a:r>
              <a:rPr sz="1100" b="0" i="0" dirty="0" err="1">
                <a:solidFill>
                  <a:srgbClr val="000000"/>
                </a:solidFill>
                <a:latin typeface="Fira Sans"/>
              </a:rPr>
              <a:t>completo</a:t>
            </a:r>
            <a:r>
              <a:rPr sz="1100" b="0" i="0" dirty="0">
                <a:solidFill>
                  <a:srgbClr val="000000"/>
                </a:solidFill>
                <a:latin typeface="Fira Sans"/>
              </a:rPr>
              <a:t> in staging (6 </a:t>
            </a:r>
            <a:r>
              <a:rPr sz="1100" b="0" i="0" dirty="0" err="1">
                <a:solidFill>
                  <a:srgbClr val="000000"/>
                </a:solidFill>
                <a:latin typeface="Fira Sans"/>
              </a:rPr>
              <a:t>funzionalità</a:t>
            </a:r>
            <a:r>
              <a:rPr sz="1100" b="0" i="0" dirty="0">
                <a:solidFill>
                  <a:srgbClr val="000000"/>
                </a:solidFill>
                <a:latin typeface="Fira Sans"/>
              </a:rPr>
              <a:t>)</a:t>
            </a:r>
          </a:p>
        </p:txBody>
      </p:sp>
      <p:sp>
        <p:nvSpPr>
          <p:cNvPr id="18" name="Oval 17"/>
          <p:cNvSpPr/>
          <p:nvPr/>
        </p:nvSpPr>
        <p:spPr>
          <a:xfrm>
            <a:off x="9037929" y="3310128"/>
            <a:ext cx="329184" cy="329184"/>
          </a:xfrm>
          <a:prstGeom prst="ellipse">
            <a:avLst/>
          </a:prstGeom>
          <a:solidFill>
            <a:srgbClr val="007A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13801" y="265176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1" i="0">
                <a:solidFill>
                  <a:srgbClr val="007AC3"/>
                </a:solidFill>
                <a:latin typeface="Fira Sans"/>
              </a:rPr>
              <a:t>Set 2027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3160" y="3794759"/>
            <a:ext cx="1587399" cy="3385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 dirty="0" err="1">
                <a:solidFill>
                  <a:srgbClr val="000000"/>
                </a:solidFill>
                <a:latin typeface="Fira Sans"/>
              </a:rPr>
              <a:t>Chiusura</a:t>
            </a:r>
            <a:r>
              <a:rPr sz="1100" b="0" i="0" dirty="0">
                <a:solidFill>
                  <a:srgbClr val="000000"/>
                </a:solidFill>
                <a:latin typeface="Fira Sans"/>
              </a:rPr>
              <a:t> pilot: </a:t>
            </a:r>
            <a:r>
              <a:rPr sz="1100" b="0" i="0" dirty="0" err="1">
                <a:solidFill>
                  <a:srgbClr val="000000"/>
                </a:solidFill>
                <a:latin typeface="Fira Sans"/>
              </a:rPr>
              <a:t>adozione</a:t>
            </a:r>
            <a:r>
              <a:rPr sz="1100" b="0" i="0" dirty="0">
                <a:solidFill>
                  <a:srgbClr val="000000"/>
                </a:solidFill>
                <a:latin typeface="Fira Sans"/>
              </a:rPr>
              <a:t> e pricing </a:t>
            </a:r>
            <a:r>
              <a:rPr sz="1100" b="0" i="0" dirty="0" err="1">
                <a:solidFill>
                  <a:srgbClr val="000000"/>
                </a:solidFill>
                <a:latin typeface="Fira Sans"/>
              </a:rPr>
              <a:t>validati</a:t>
            </a:r>
            <a:endParaRPr sz="1100" b="0" i="0" dirty="0">
              <a:solidFill>
                <a:srgbClr val="000000"/>
              </a:solidFill>
              <a:latin typeface="Fira Sans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11109960" y="3310128"/>
            <a:ext cx="329184" cy="329184"/>
          </a:xfrm>
          <a:prstGeom prst="ellipse">
            <a:avLst/>
          </a:prstGeom>
          <a:solidFill>
            <a:srgbClr val="007A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722815" y="265176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1" i="0">
                <a:solidFill>
                  <a:srgbClr val="007AC3"/>
                </a:solidFill>
                <a:latin typeface="Fira Sans"/>
              </a:rPr>
              <a:t>Q4 2027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68855" y="3794759"/>
            <a:ext cx="1387145" cy="5078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 dirty="0">
                <a:solidFill>
                  <a:srgbClr val="000000"/>
                </a:solidFill>
                <a:latin typeface="Fira Sans"/>
              </a:rPr>
              <a:t>General Availability </a:t>
            </a:r>
            <a:r>
              <a:rPr sz="1100" b="0" i="0" dirty="0" err="1">
                <a:solidFill>
                  <a:srgbClr val="000000"/>
                </a:solidFill>
                <a:latin typeface="Fira Sans"/>
              </a:rPr>
              <a:t>sul</a:t>
            </a:r>
            <a:r>
              <a:rPr sz="1100" b="0" i="0" dirty="0">
                <a:solidFill>
                  <a:srgbClr val="000000"/>
                </a:solidFill>
                <a:latin typeface="Fira Sans"/>
              </a:rPr>
              <a:t> </a:t>
            </a:r>
            <a:r>
              <a:rPr sz="1100" b="0" i="0" dirty="0" err="1">
                <a:solidFill>
                  <a:srgbClr val="000000"/>
                </a:solidFill>
                <a:latin typeface="Fira Sans"/>
              </a:rPr>
              <a:t>parco</a:t>
            </a:r>
            <a:r>
              <a:rPr sz="1100" b="0" i="0" dirty="0">
                <a:solidFill>
                  <a:srgbClr val="000000"/>
                </a:solidFill>
                <a:latin typeface="Fira Sans"/>
              </a:rPr>
              <a:t> </a:t>
            </a:r>
            <a:r>
              <a:rPr sz="1100" b="0" i="0" dirty="0" err="1">
                <a:solidFill>
                  <a:srgbClr val="000000"/>
                </a:solidFill>
                <a:latin typeface="Fira Sans"/>
              </a:rPr>
              <a:t>clienti</a:t>
            </a:r>
            <a:r>
              <a:rPr sz="1100" b="0" i="0" dirty="0">
                <a:solidFill>
                  <a:srgbClr val="000000"/>
                </a:solidFill>
                <a:latin typeface="Fira Sans"/>
              </a:rPr>
              <a:t> TCF Suite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44652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0" i="0">
                <a:solidFill>
                  <a:srgbClr val="808080"/>
                </a:solidFill>
                <a:latin typeface="Fira Sans"/>
              </a:rPr>
              <a:t>8</a:t>
            </a:r>
          </a:p>
        </p:txBody>
      </p:sp>
      <p:sp>
        <p:nvSpPr>
          <p:cNvPr id="30" name="TextBox 11">
            <a:extLst>
              <a:ext uri="{FF2B5EF4-FFF2-40B4-BE49-F238E27FC236}">
                <a16:creationId xmlns:a16="http://schemas.microsoft.com/office/drawing/2014/main" id="{5137E5A4-87F3-9E05-F1EB-795E13C2498C}"/>
              </a:ext>
            </a:extLst>
          </p:cNvPr>
          <p:cNvSpPr txBox="1"/>
          <p:nvPr/>
        </p:nvSpPr>
        <p:spPr>
          <a:xfrm>
            <a:off x="542213" y="6446519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 dirty="0">
                <a:solidFill>
                  <a:srgbClr val="808080"/>
                </a:solidFill>
                <a:latin typeface="Fira Sans"/>
              </a:rPr>
              <a:t>Suite AI — Roadmap di </a:t>
            </a:r>
            <a:r>
              <a:rPr sz="800" b="0" i="0" dirty="0" err="1">
                <a:solidFill>
                  <a:srgbClr val="808080"/>
                </a:solidFill>
                <a:latin typeface="Fira Sans"/>
              </a:rPr>
              <a:t>sviluppo</a:t>
            </a:r>
            <a:r>
              <a:rPr sz="800" b="0" i="0" dirty="0">
                <a:solidFill>
                  <a:srgbClr val="808080"/>
                </a:solidFill>
                <a:latin typeface="Fira Sans"/>
              </a:rPr>
              <a:t> — Uso </a:t>
            </a:r>
            <a:r>
              <a:rPr sz="800" b="0" i="0" dirty="0" err="1">
                <a:solidFill>
                  <a:srgbClr val="808080"/>
                </a:solidFill>
                <a:latin typeface="Fira Sans"/>
              </a:rPr>
              <a:t>Interno</a:t>
            </a:r>
            <a:r>
              <a:rPr sz="800" b="0" i="0" dirty="0">
                <a:solidFill>
                  <a:srgbClr val="808080"/>
                </a:solidFill>
                <a:latin typeface="Fira Sans"/>
              </a:rPr>
              <a:t> </a:t>
            </a:r>
            <a:r>
              <a:rPr sz="800" b="0" i="0" dirty="0" err="1">
                <a:solidFill>
                  <a:srgbClr val="808080"/>
                </a:solidFill>
                <a:latin typeface="Fira Sans"/>
              </a:rPr>
              <a:t>Riservato</a:t>
            </a:r>
            <a:endParaRPr sz="800" b="0" i="0" dirty="0">
              <a:solidFill>
                <a:srgbClr val="808080"/>
              </a:solidFill>
              <a:latin typeface="Fira San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336000" y="354338"/>
            <a:ext cx="7623000" cy="0"/>
          </a:xfrm>
          <a:prstGeom prst="line">
            <a:avLst/>
          </a:prstGeom>
          <a:ln w="38100">
            <a:solidFill>
              <a:srgbClr val="E520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8131038" y="354338"/>
            <a:ext cx="3726000" cy="0"/>
          </a:xfrm>
          <a:prstGeom prst="line">
            <a:avLst/>
          </a:prstGeom>
          <a:ln w="38100">
            <a:solidFill>
              <a:srgbClr val="85BC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59436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150" normalizeH="0" baseline="0" noProof="0">
                <a:ln>
                  <a:noFill/>
                </a:ln>
                <a:solidFill>
                  <a:srgbClr val="EDEDED"/>
                </a:solidFill>
                <a:effectLst/>
                <a:uLnTx/>
                <a:uFillTx/>
                <a:latin typeface="Fira Sans"/>
                <a:ea typeface="+mn-ea"/>
                <a:cs typeface="+mn-cs"/>
              </a:rPr>
              <a:t>PROSSIMI PASSI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45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ira Sans"/>
                <a:ea typeface="+mn-ea"/>
                <a:cs typeface="+mn-cs"/>
              </a:rPr>
              <a:t>Cosa serve per partire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11274552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28600" marR="0" lvl="0" indent="-2286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Char char="•"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ira Sans"/>
                <a:ea typeface="+mn-ea"/>
                <a:cs typeface="+mn-cs"/>
              </a:rPr>
              <a:t>La Discovery è il gate di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ira Sans"/>
                <a:ea typeface="+mn-ea"/>
                <a:cs typeface="+mn-cs"/>
              </a:rPr>
              <a:t>tutto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ira Sans"/>
                <a:ea typeface="+mn-ea"/>
                <a:cs typeface="+mn-cs"/>
              </a:rPr>
              <a:t>: senza le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ira Sans"/>
                <a:ea typeface="+mn-ea"/>
                <a:cs typeface="+mn-cs"/>
              </a:rPr>
              <a:t>risposte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ira Sans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ira Sans"/>
                <a:ea typeface="+mn-ea"/>
                <a:cs typeface="+mn-cs"/>
              </a:rPr>
              <a:t>tecniche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ira Sans"/>
                <a:ea typeface="+mn-ea"/>
                <a:cs typeface="+mn-cs"/>
              </a:rPr>
              <a:t>, tempi e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ira Sans"/>
                <a:ea typeface="+mn-ea"/>
                <a:cs typeface="+mn-cs"/>
              </a:rPr>
              <a:t>architettura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ira Sans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ira Sans"/>
                <a:ea typeface="+mn-ea"/>
                <a:cs typeface="+mn-cs"/>
              </a:rPr>
              <a:t>restano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ira Sans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ira Sans"/>
                <a:ea typeface="+mn-ea"/>
                <a:cs typeface="+mn-cs"/>
              </a:rPr>
              <a:t>ipotesi</a:t>
            </a: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Fira Sans"/>
              <a:ea typeface="+mn-ea"/>
              <a:cs typeface="+mn-cs"/>
            </a:endParaRPr>
          </a:p>
          <a:p>
            <a:pPr marL="228600" marR="0" lvl="0" indent="-2286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Char char="•"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ira Sans"/>
                <a:ea typeface="+mn-ea"/>
                <a:cs typeface="+mn-cs"/>
              </a:rPr>
              <a:t>Il PoC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ira Sans"/>
                <a:ea typeface="+mn-ea"/>
                <a:cs typeface="+mn-cs"/>
              </a:rPr>
              <a:t>misura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ira Sans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ira Sans"/>
                <a:ea typeface="+mn-ea"/>
                <a:cs typeface="+mn-cs"/>
              </a:rPr>
              <a:t>accuratezza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ira Sans"/>
                <a:ea typeface="+mn-ea"/>
                <a:cs typeface="+mn-cs"/>
              </a:rPr>
              <a:t> e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ira Sans"/>
                <a:ea typeface="+mn-ea"/>
                <a:cs typeface="+mn-cs"/>
              </a:rPr>
              <a:t>costi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ira Sans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ira Sans"/>
                <a:ea typeface="+mn-ea"/>
                <a:cs typeface="+mn-cs"/>
              </a:rPr>
              <a:t>su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ira Sans"/>
                <a:ea typeface="+mn-ea"/>
                <a:cs typeface="+mn-cs"/>
              </a:rPr>
              <a:t> un set di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ira Sans"/>
                <a:ea typeface="+mn-ea"/>
                <a:cs typeface="+mn-cs"/>
              </a:rPr>
              <a:t>valutazione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ira Sans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ira Sans"/>
                <a:ea typeface="+mn-ea"/>
                <a:cs typeface="+mn-cs"/>
              </a:rPr>
              <a:t>condiviso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ira Sans"/>
                <a:ea typeface="+mn-ea"/>
                <a:cs typeface="+mn-cs"/>
              </a:rPr>
              <a:t>, prima di ogni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ira Sans"/>
                <a:ea typeface="+mn-ea"/>
                <a:cs typeface="+mn-cs"/>
              </a:rPr>
              <a:t>impegno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ira Sans"/>
                <a:ea typeface="+mn-ea"/>
                <a:cs typeface="+mn-cs"/>
              </a:rPr>
              <a:t> di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ira Sans"/>
                <a:ea typeface="+mn-ea"/>
                <a:cs typeface="+mn-cs"/>
              </a:rPr>
              <a:t>sviluppo</a:t>
            </a:r>
            <a:endParaRPr kumimoji="0" sz="1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Fira Sans"/>
              <a:ea typeface="+mn-ea"/>
              <a:cs typeface="+mn-cs"/>
            </a:endParaRPr>
          </a:p>
          <a:p>
            <a:pPr marL="228600" marR="0" lvl="0" indent="-2286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Char char="•"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ira Sans"/>
                <a:ea typeface="+mn-ea"/>
                <a:cs typeface="+mn-cs"/>
              </a:rPr>
              <a:t>Le date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ira Sans"/>
                <a:ea typeface="+mn-ea"/>
                <a:cs typeface="+mn-cs"/>
              </a:rPr>
              <a:t>presentate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ira Sans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ira Sans"/>
                <a:ea typeface="+mn-ea"/>
                <a:cs typeface="+mn-cs"/>
              </a:rPr>
              <a:t>sono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ira Sans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ira Sans"/>
                <a:ea typeface="+mn-ea"/>
                <a:cs typeface="+mn-cs"/>
              </a:rPr>
              <a:t>una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ira Sans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ira Sans"/>
                <a:ea typeface="+mn-ea"/>
                <a:cs typeface="+mn-cs"/>
              </a:rPr>
              <a:t>proposta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ira Sans"/>
                <a:ea typeface="+mn-ea"/>
                <a:cs typeface="+mn-cs"/>
              </a:rPr>
              <a:t>: le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ira Sans"/>
                <a:ea typeface="+mn-ea"/>
                <a:cs typeface="+mn-cs"/>
              </a:rPr>
              <a:t>validiamo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ira Sans"/>
                <a:ea typeface="+mn-ea"/>
                <a:cs typeface="+mn-cs"/>
              </a:rPr>
              <a:t> </a:t>
            </a:r>
            <a:r>
              <a:rPr kumimoji="0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ira Sans"/>
                <a:ea typeface="+mn-ea"/>
                <a:cs typeface="+mn-cs"/>
              </a:rPr>
              <a:t>insieme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ira Sans"/>
                <a:ea typeface="+mn-ea"/>
                <a:cs typeface="+mn-cs"/>
              </a:rPr>
              <a:t> in Discovery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" y="2994660"/>
            <a:ext cx="3636264" cy="914400"/>
          </a:xfrm>
          <a:prstGeom prst="rect">
            <a:avLst/>
          </a:prstGeom>
          <a:solidFill>
            <a:srgbClr val="007A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12648" y="308610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ira Sans"/>
                <a:ea typeface="+mn-ea"/>
                <a:cs typeface="+mn-cs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3360420"/>
            <a:ext cx="3270504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ira Sans"/>
                <a:ea typeface="+mn-ea"/>
                <a:cs typeface="+mn-cs"/>
              </a:rPr>
              <a:t>Calendarizzare la Discovery tecnica (ago-set 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48912" y="2994660"/>
            <a:ext cx="3636264" cy="914400"/>
          </a:xfrm>
          <a:prstGeom prst="rect">
            <a:avLst/>
          </a:prstGeom>
          <a:solidFill>
            <a:srgbClr val="85BC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431792" y="308610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ira Sans"/>
                <a:ea typeface="+mn-ea"/>
                <a:cs typeface="+mn-cs"/>
              </a:rPr>
              <a:t>2.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1792" y="3360420"/>
            <a:ext cx="3270504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ira Sans"/>
                <a:ea typeface="+mn-ea"/>
                <a:cs typeface="+mn-cs"/>
              </a:rPr>
              <a:t>Identificare il referente tecnico One Fiscale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68056" y="2994660"/>
            <a:ext cx="3636264" cy="914400"/>
          </a:xfrm>
          <a:prstGeom prst="rect">
            <a:avLst/>
          </a:prstGeom>
          <a:solidFill>
            <a:srgbClr val="E52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250936" y="308610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ira Sans"/>
                <a:ea typeface="+mn-ea"/>
                <a:cs typeface="+mn-cs"/>
              </a:rPr>
              <a:t>3.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0936" y="3360420"/>
            <a:ext cx="3270504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Fira Sans"/>
                <a:ea typeface="+mn-ea"/>
                <a:cs typeface="+mn-cs"/>
              </a:rPr>
              <a:t>Predisporre sandbox e condizioni di accesso per il PoC</a:t>
            </a:r>
          </a:p>
        </p:txBody>
      </p:sp>
      <p:pic>
        <p:nvPicPr>
          <p:cNvPr id="17" name="Picture 16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2952" y="6080760"/>
            <a:ext cx="2011680" cy="7315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704320" y="644652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800" b="0" i="0" u="none" strike="noStrike" kern="1200" cap="none" spc="0" normalizeH="0" baseline="0" noProof="0">
                <a:ln>
                  <a:noFill/>
                </a:ln>
                <a:solidFill>
                  <a:srgbClr val="EDEDED"/>
                </a:solidFill>
                <a:effectLst/>
                <a:uLnTx/>
                <a:uFillTx/>
                <a:latin typeface="Fira Sans"/>
                <a:ea typeface="+mn-ea"/>
                <a:cs typeface="+mn-c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301752"/>
            <a:ext cx="11430000" cy="5029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it-IT" sz="2400" b="1" dirty="0">
                <a:solidFill>
                  <a:srgbClr val="0F3B66"/>
                </a:solidFill>
                <a:latin typeface="Calibri"/>
              </a:rPr>
              <a:t>Modello Costi della Soluzione TCF + One Fiscale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841248"/>
            <a:ext cx="11430000" cy="384048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it-IT" sz="1300" b="0" dirty="0">
                <a:solidFill>
                  <a:srgbClr val="5A6672"/>
                </a:solidFill>
                <a:latin typeface="Calibri"/>
              </a:rPr>
              <a:t>Voci di costo identificate — valori economici da definire in fase di scoping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" y="822960"/>
            <a:ext cx="1097280" cy="36576"/>
          </a:xfrm>
          <a:prstGeom prst="rect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84048" y="1417320"/>
            <a:ext cx="11430000" cy="3200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it-IT" sz="1100" b="1" dirty="0">
                <a:solidFill>
                  <a:srgbClr val="0F3B66"/>
                </a:solidFill>
                <a:latin typeface="Calibri"/>
              </a:rPr>
              <a:t>COSTI DI PROGETTO NTT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1709928"/>
            <a:ext cx="11430000" cy="18288"/>
          </a:xfrm>
          <a:prstGeom prst="rect">
            <a:avLst/>
          </a:prstGeom>
          <a:solidFill>
            <a:srgbClr val="0F3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84048" y="1810512"/>
            <a:ext cx="3688080" cy="1920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7780">
            <a:solidFill>
              <a:srgbClr val="0F3B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84048" y="1810512"/>
            <a:ext cx="228600" cy="1920240"/>
          </a:xfrm>
          <a:prstGeom prst="roundRect">
            <a:avLst>
              <a:gd name="adj" fmla="val 20000"/>
            </a:avLst>
          </a:prstGeom>
          <a:solidFill>
            <a:srgbClr val="0F3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21208" y="1810512"/>
            <a:ext cx="91440" cy="1920240"/>
          </a:xfrm>
          <a:prstGeom prst="rect">
            <a:avLst/>
          </a:prstGeom>
          <a:solidFill>
            <a:srgbClr val="0F3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5528" y="1947672"/>
            <a:ext cx="3139440" cy="384048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it-IT" sz="1150" b="1" dirty="0">
                <a:solidFill>
                  <a:srgbClr val="5A6672"/>
                </a:solidFill>
                <a:latin typeface="Calibri"/>
              </a:rPr>
              <a:t>Sviluppo TCF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313432"/>
            <a:ext cx="313944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it-IT" sz="2200" b="1" dirty="0">
                <a:solidFill>
                  <a:srgbClr val="0F3B66"/>
                </a:solidFill>
                <a:latin typeface="Calibri"/>
              </a:rPr>
              <a:t>€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2907792"/>
            <a:ext cx="3139440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it-IT" sz="950" b="0" dirty="0">
                <a:solidFill>
                  <a:srgbClr val="1A1A1A"/>
                </a:solidFill>
                <a:latin typeface="Calibri"/>
              </a:rPr>
              <a:t>Sviluppo del connettore, adattamento wizard/RCM, integrazione UI e orchestrazione lato TCF per i casi d’uso.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5008" y="1810512"/>
            <a:ext cx="3688080" cy="1920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7780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255008" y="1810512"/>
            <a:ext cx="228600" cy="1920240"/>
          </a:xfrm>
          <a:prstGeom prst="roundRect">
            <a:avLst>
              <a:gd name="adj" fmla="val 20000"/>
            </a:avLst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92168" y="1810512"/>
            <a:ext cx="91440" cy="1920240"/>
          </a:xfrm>
          <a:prstGeom prst="rect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66488" y="1947672"/>
            <a:ext cx="3139440" cy="384048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it-IT" sz="1150" b="1" dirty="0">
                <a:solidFill>
                  <a:srgbClr val="5A6672"/>
                </a:solidFill>
                <a:latin typeface="Calibri"/>
              </a:rPr>
              <a:t>Sviluppo Legal (FAB)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6488" y="2313432"/>
            <a:ext cx="313944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it-IT" sz="2200" b="1" dirty="0">
                <a:solidFill>
                  <a:srgbClr val="1F5FA8"/>
                </a:solidFill>
                <a:latin typeface="Calibri"/>
              </a:rPr>
              <a:t>€ 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6488" y="2907792"/>
            <a:ext cx="3139440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it-IT" sz="950" b="0" dirty="0">
                <a:solidFill>
                  <a:srgbClr val="1A1A1A"/>
                </a:solidFill>
                <a:latin typeface="Calibri"/>
              </a:rPr>
              <a:t>Configurazione workspace FAB, creazione degli agenti, ingegneria dei system prompt e allineamento indici.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25968" y="1810512"/>
            <a:ext cx="3688080" cy="1920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7780">
            <a:solidFill>
              <a:srgbClr val="0F8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125968" y="1810512"/>
            <a:ext cx="228600" cy="1920240"/>
          </a:xfrm>
          <a:prstGeom prst="roundRect">
            <a:avLst>
              <a:gd name="adj" fmla="val 20000"/>
            </a:avLst>
          </a:prstGeom>
          <a:solidFill>
            <a:srgbClr val="0F8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263128" y="1810512"/>
            <a:ext cx="91440" cy="1920240"/>
          </a:xfrm>
          <a:prstGeom prst="rect">
            <a:avLst/>
          </a:prstGeom>
          <a:solidFill>
            <a:srgbClr val="0F8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537448" y="1947672"/>
            <a:ext cx="3139440" cy="384048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it-IT" sz="1150" b="1" dirty="0">
                <a:solidFill>
                  <a:srgbClr val="5A6672"/>
                </a:solidFill>
                <a:latin typeface="Calibri"/>
              </a:rPr>
              <a:t>Manutenzione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37448" y="2313432"/>
            <a:ext cx="313944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it-IT" sz="2200" b="1" dirty="0">
                <a:solidFill>
                  <a:srgbClr val="0F8A3A"/>
                </a:solidFill>
                <a:latin typeface="Calibri"/>
              </a:rPr>
              <a:t>€ ? / anno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37448" y="2907792"/>
            <a:ext cx="3139440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it-IT" sz="950" b="0" dirty="0">
                <a:solidFill>
                  <a:srgbClr val="1A1A1A"/>
                </a:solidFill>
                <a:latin typeface="Calibri"/>
              </a:rPr>
              <a:t>Manutenzione evolutiva, tuning dei prompt, aggiornamento dataset e monitoraggio qualità delle risposte.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048" y="3886200"/>
            <a:ext cx="11430000" cy="3200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it-IT" sz="1100" b="1" dirty="0">
                <a:solidFill>
                  <a:srgbClr val="E07B00"/>
                </a:solidFill>
                <a:latin typeface="Calibri"/>
              </a:rPr>
              <a:t>COSTI PIATTAFORMA FAB · WK LEGAL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84048" y="4178808"/>
            <a:ext cx="11430000" cy="18288"/>
          </a:xfrm>
          <a:prstGeom prst="rect">
            <a:avLst/>
          </a:prstGeom>
          <a:solidFill>
            <a:srgbClr val="E0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384048" y="4279392"/>
            <a:ext cx="5532120" cy="16916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7780">
            <a:solidFill>
              <a:srgbClr val="E07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384048" y="4279392"/>
            <a:ext cx="228600" cy="1691640"/>
          </a:xfrm>
          <a:prstGeom prst="roundRect">
            <a:avLst>
              <a:gd name="adj" fmla="val 20000"/>
            </a:avLst>
          </a:prstGeom>
          <a:solidFill>
            <a:srgbClr val="E0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21208" y="4279392"/>
            <a:ext cx="91440" cy="1691640"/>
          </a:xfrm>
          <a:prstGeom prst="rect">
            <a:avLst/>
          </a:prstGeom>
          <a:solidFill>
            <a:srgbClr val="E07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95528" y="4416552"/>
            <a:ext cx="4983480" cy="384048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it-IT" sz="1150" b="1" dirty="0">
                <a:solidFill>
                  <a:srgbClr val="5A6672"/>
                </a:solidFill>
                <a:latin typeface="Calibri"/>
              </a:rPr>
              <a:t>Costo Variabile per utilizzo LLM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5528" y="4782312"/>
            <a:ext cx="498348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it-IT" sz="2200" b="1" dirty="0">
                <a:solidFill>
                  <a:srgbClr val="E07B00"/>
                </a:solidFill>
                <a:latin typeface="Calibri"/>
              </a:rPr>
              <a:t>€ 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8" y="5376672"/>
            <a:ext cx="4983480" cy="5029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it-IT" sz="950" b="0" dirty="0">
                <a:solidFill>
                  <a:srgbClr val="1A1A1A"/>
                </a:solidFill>
                <a:latin typeface="Calibri"/>
              </a:rPr>
              <a:t>Quota variabile in funzione del volume di chiamate agli agenti / token consumati.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81928" y="4279392"/>
            <a:ext cx="5532120" cy="16916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7780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6281928" y="4279392"/>
            <a:ext cx="228600" cy="1691640"/>
          </a:xfrm>
          <a:prstGeom prst="roundRect">
            <a:avLst>
              <a:gd name="adj" fmla="val 20000"/>
            </a:avLst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419088" y="4279392"/>
            <a:ext cx="91440" cy="1691640"/>
          </a:xfrm>
          <a:prstGeom prst="rect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693408" y="4416552"/>
            <a:ext cx="4983480" cy="384048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it-IT" sz="1150" b="1" dirty="0">
                <a:solidFill>
                  <a:srgbClr val="5A6672"/>
                </a:solidFill>
                <a:latin typeface="Calibri"/>
              </a:rPr>
              <a:t>Costo fisso TCF Index FAB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93408" y="4782312"/>
            <a:ext cx="498348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it-IT" sz="2200" b="1" dirty="0">
                <a:solidFill>
                  <a:srgbClr val="1F5FA8"/>
                </a:solidFill>
                <a:latin typeface="Calibri"/>
              </a:rPr>
              <a:t>€ ? / mese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93408" y="5376672"/>
            <a:ext cx="4983480" cy="5029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it-IT" sz="950" b="0" dirty="0">
                <a:solidFill>
                  <a:srgbClr val="1A1A1A"/>
                </a:solidFill>
                <a:latin typeface="Calibri"/>
              </a:rPr>
              <a:t>Costo fisso di piattaforma per l’indice TCF Cliente dedicato sulla workspace FAB.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4048" y="6080760"/>
            <a:ext cx="11430000" cy="292608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lang="it-IT" sz="900" b="0" dirty="0">
                <a:solidFill>
                  <a:srgbClr val="5A6672"/>
                </a:solidFill>
                <a:latin typeface="Calibri"/>
              </a:rPr>
              <a:t>Tutte le cifre sono da definire in fase di scoping contrattuale; escluso costi infrastrutturali Azure lato cliente.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4048" y="6446520"/>
            <a:ext cx="36576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it-IT" sz="900" b="0" dirty="0">
                <a:solidFill>
                  <a:srgbClr val="5A6672"/>
                </a:solidFill>
                <a:latin typeface="Calibri"/>
              </a:rPr>
              <a:t>© 2026 NTT DATA, Inc.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0" y="6446520"/>
            <a:ext cx="13716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lang="it-IT" sz="900" b="0" dirty="0">
                <a:solidFill>
                  <a:srgbClr val="5A6672"/>
                </a:solidFill>
                <a:latin typeface="Calibri"/>
              </a:rPr>
              <a:t>10 / 12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4048" y="6720840"/>
            <a:ext cx="11430000" cy="1828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301752"/>
            <a:ext cx="11430000" cy="5029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it-IT" sz="2400" b="1" dirty="0">
                <a:solidFill>
                  <a:srgbClr val="0F3B66"/>
                </a:solidFill>
                <a:latin typeface="Calibri"/>
              </a:rPr>
              <a:t>Referenti di Progetto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841248"/>
            <a:ext cx="11430000" cy="384048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it-IT" sz="1300" b="0" dirty="0">
                <a:solidFill>
                  <a:srgbClr val="5A6672"/>
                </a:solidFill>
                <a:latin typeface="Calibri"/>
              </a:rPr>
              <a:t>Punti di contatto operativi per l'integrazione TCF ⇄ One Fiscale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" y="822960"/>
            <a:ext cx="1097280" cy="36576"/>
          </a:xfrm>
          <a:prstGeom prst="rect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26567" y="1554480"/>
            <a:ext cx="3657600" cy="4663440"/>
          </a:xfrm>
          <a:prstGeom prst="roundRect">
            <a:avLst>
              <a:gd name="adj" fmla="val 5000"/>
            </a:avLst>
          </a:prstGeom>
          <a:solidFill>
            <a:srgbClr val="F4F8FD"/>
          </a:solidFill>
          <a:ln w="10160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Oval 5"/>
          <p:cNvSpPr/>
          <p:nvPr/>
        </p:nvSpPr>
        <p:spPr>
          <a:xfrm>
            <a:off x="700887" y="1753200"/>
            <a:ext cx="3108960" cy="324000"/>
          </a:xfrm>
          <a:prstGeom prst="roundRect">
            <a:avLst>
              <a:gd name="adj" fmla="val 50000"/>
            </a:avLst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lang="it-IT" sz="1200" b="1" dirty="0">
                <a:solidFill>
                  <a:srgbClr val="FFFFFF"/>
                </a:solidFill>
                <a:latin typeface="Calibri"/>
              </a:rPr>
              <a:t>Wolters Kluwer  ·  One Fiscale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887" y="2178000"/>
            <a:ext cx="3108960" cy="50292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/>
            <a:r>
              <a:rPr lang="it-IT" sz="1300" b="1" dirty="0">
                <a:solidFill>
                  <a:srgbClr val="0F3B66"/>
                </a:solidFill>
                <a:latin typeface="Calibri"/>
              </a:rPr>
              <a:t>Roberto Morettini</a:t>
            </a:r>
          </a:p>
        </p:txBody>
      </p:sp>
      <p:sp>
        <p:nvSpPr>
          <p:cNvPr id="8" name="Rectangle 7"/>
          <p:cNvSpPr/>
          <p:nvPr/>
        </p:nvSpPr>
        <p:spPr>
          <a:xfrm>
            <a:off x="700887" y="2754000"/>
            <a:ext cx="3108960" cy="27432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00887" y="2916000"/>
            <a:ext cx="3108960" cy="861774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it-IT" sz="1000" b="0" dirty="0">
                <a:solidFill>
                  <a:srgbClr val="1A1A1A"/>
                </a:solidFill>
                <a:latin typeface="Calibri"/>
              </a:rPr>
              <a:t>Referente contenuti lato Wolters Kluwer · One Fiscale — presidio del corpus normativo, allineamento della banca dati One Fiscale e del feed novità con il workspace FAB. Responsabile della definizione del set di golden query &amp; answer per la valutazione del modello.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7047" y="1554480"/>
            <a:ext cx="3657600" cy="4663440"/>
          </a:xfrm>
          <a:prstGeom prst="roundRect">
            <a:avLst>
              <a:gd name="adj" fmla="val 5000"/>
            </a:avLst>
          </a:prstGeom>
          <a:solidFill>
            <a:srgbClr val="EEF7F2"/>
          </a:solidFill>
          <a:ln w="10160">
            <a:solidFill>
              <a:srgbClr val="1F8A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Oval 10"/>
          <p:cNvSpPr/>
          <p:nvPr/>
        </p:nvSpPr>
        <p:spPr>
          <a:xfrm>
            <a:off x="4541367" y="1753200"/>
            <a:ext cx="3108960" cy="324000"/>
          </a:xfrm>
          <a:prstGeom prst="roundRect">
            <a:avLst>
              <a:gd name="adj" fmla="val 50000"/>
            </a:avLst>
          </a:prstGeom>
          <a:solidFill>
            <a:srgbClr val="1F8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lang="it-IT" sz="1200" b="1" dirty="0">
                <a:solidFill>
                  <a:srgbClr val="FFFFFF"/>
                </a:solidFill>
                <a:latin typeface="Calibri"/>
              </a:rPr>
              <a:t>Wolters Kluwer  ·  WK Tax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1367" y="2283266"/>
            <a:ext cx="3108960" cy="292388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/>
            <a:r>
              <a:rPr lang="it-IT" sz="1300" b="1" dirty="0">
                <a:solidFill>
                  <a:srgbClr val="0F3B2E"/>
                </a:solidFill>
                <a:latin typeface="Calibri"/>
              </a:rPr>
              <a:t>Iacopo Loppini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41367" y="2754000"/>
            <a:ext cx="3108960" cy="27432"/>
          </a:xfrm>
          <a:prstGeom prst="rect">
            <a:avLst/>
          </a:prstGeom>
          <a:solidFill>
            <a:srgbClr val="DC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41367" y="2916000"/>
            <a:ext cx="3108960" cy="30960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it-IT" sz="1000" b="0" dirty="0">
                <a:solidFill>
                  <a:srgbClr val="1A1A1A"/>
                </a:solidFill>
                <a:latin typeface="Calibri"/>
              </a:rPr>
              <a:t>Product Owner lato Wolters Kluwer · WK Tax — indirizzo funzionale della soluzione, priorità dei casi d'uso AI e coordinamento con il team One Fiscale sulle specifiche di integrazione.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07527" y="1554480"/>
            <a:ext cx="3657600" cy="4663440"/>
          </a:xfrm>
          <a:prstGeom prst="roundRect">
            <a:avLst>
              <a:gd name="adj" fmla="val 5000"/>
            </a:avLst>
          </a:prstGeom>
          <a:solidFill>
            <a:srgbClr val="FEF3F5"/>
          </a:solidFill>
          <a:ln w="10160">
            <a:solidFill>
              <a:srgbClr val="C810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Oval 15"/>
          <p:cNvSpPr/>
          <p:nvPr/>
        </p:nvSpPr>
        <p:spPr>
          <a:xfrm>
            <a:off x="8381847" y="1753200"/>
            <a:ext cx="3108960" cy="324000"/>
          </a:xfrm>
          <a:prstGeom prst="roundRect">
            <a:avLst>
              <a:gd name="adj" fmla="val 50000"/>
            </a:avLst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lang="it-IT" sz="1200" b="1" dirty="0">
                <a:solidFill>
                  <a:srgbClr val="FFFFFF"/>
                </a:solidFill>
                <a:latin typeface="Calibri"/>
              </a:rPr>
              <a:t>NTT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1847" y="2283266"/>
            <a:ext cx="3108960" cy="292388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/>
            <a:r>
              <a:rPr lang="it-IT" sz="1300" b="1" dirty="0">
                <a:solidFill>
                  <a:srgbClr val="5A0913"/>
                </a:solidFill>
                <a:latin typeface="Calibri"/>
              </a:rPr>
              <a:t>Cesare Salerno  (segnaposto)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81847" y="2754000"/>
            <a:ext cx="3108960" cy="27432"/>
          </a:xfrm>
          <a:prstGeom prst="rect">
            <a:avLst/>
          </a:prstGeom>
          <a:solidFill>
            <a:srgbClr val="FBDD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81847" y="2916000"/>
            <a:ext cx="3108960" cy="30960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it-IT" sz="1000" b="0" dirty="0">
                <a:solidFill>
                  <a:srgbClr val="1A1A1A"/>
                </a:solidFill>
                <a:latin typeface="Calibri"/>
              </a:rPr>
              <a:t>PM / Tech Lead lato NTT DATA — riferimento operativo su architettura, delivery e governance del progetto. Sarà nominata in seguito una persona dedicata al progetto.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" y="6446520"/>
            <a:ext cx="36576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it-IT" sz="900" b="0" dirty="0">
                <a:solidFill>
                  <a:srgbClr val="5A6672"/>
                </a:solidFill>
                <a:latin typeface="Calibri"/>
              </a:rPr>
              <a:t>© 2026 NTT DATA, Inc.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0" y="6446520"/>
            <a:ext cx="13716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lang="it-IT" sz="900" b="0" dirty="0">
                <a:solidFill>
                  <a:srgbClr val="5A6672"/>
                </a:solidFill>
                <a:latin typeface="Calibri"/>
              </a:rPr>
              <a:t>11 / 12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6720840"/>
            <a:ext cx="11430000" cy="1828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200400"/>
          </a:xfrm>
          <a:prstGeom prst="rect">
            <a:avLst/>
          </a:prstGeom>
          <a:solidFill>
            <a:srgbClr val="0F3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3657600"/>
          </a:xfrm>
          <a:prstGeom prst="rect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84048" y="2194560"/>
            <a:ext cx="11430000" cy="12801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lang="it-IT" sz="6000" b="1" dirty="0">
                <a:solidFill>
                  <a:srgbClr val="FFFFFF"/>
                </a:solidFill>
                <a:latin typeface="Calibri"/>
              </a:rPr>
              <a:t>Grazie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3566160"/>
            <a:ext cx="1143000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lang="it-IT" sz="2000" b="0" dirty="0">
                <a:solidFill>
                  <a:srgbClr val="FFFFFF"/>
                </a:solidFill>
                <a:latin typeface="Calibri"/>
              </a:rPr>
              <a:t>Integrazione One Fiscale su TCF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4206240"/>
            <a:ext cx="1143000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lang="it-IT" sz="1300" b="0" dirty="0">
                <a:solidFill>
                  <a:srgbClr val="E8F1FB"/>
                </a:solidFill>
                <a:latin typeface="Calibri"/>
              </a:rPr>
              <a:t>Wolters Kluwer · NTT DATA – Luglio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6492240"/>
            <a:ext cx="11430000" cy="2743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lang="it-IT" sz="900" b="0" dirty="0">
                <a:solidFill>
                  <a:srgbClr val="E8F1FB"/>
                </a:solidFill>
                <a:latin typeface="Calibri"/>
              </a:rPr>
              <a:t>© 2026 NTT DATA, Inc.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25735" y="6080760"/>
            <a:ext cx="502920" cy="502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820095" y="6080760"/>
            <a:ext cx="1097280" cy="50292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l"/>
            <a:r>
              <a:rPr lang="it-IT" sz="1600" b="1" dirty="0">
                <a:solidFill>
                  <a:srgbClr val="FFFFFF"/>
                </a:solidFill>
                <a:latin typeface="Calibri"/>
              </a:rPr>
              <a:t>NTT DATA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ight Covers - Partial Images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>
            <a:solidFill>
              <a:schemeClr val="tx2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>
              <a:lumMod val="50000"/>
            </a:schemeClr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noAutofit/>
      </a:bodyPr>
      <a:lstStyle>
        <a:defPPr algn="l">
          <a:defRPr dirty="0" err="1" smtClean="0">
            <a:solidFill>
              <a:srgbClr val="2E404D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NTT DATA_Inc_PowerPoint_Template.potx" id="{637C3609-3D5F-4C59-AE27-EE9CD6B09220}" vid="{7192D6A3-1225-40F5-AF57-6D44B1DCB40E}"/>
    </a:ext>
  </a:extLst>
</a:theme>
</file>

<file path=ppt/theme/theme2.xml><?xml version="1.0" encoding="utf-8"?>
<a:theme xmlns:a="http://schemas.openxmlformats.org/drawingml/2006/main" name="Light Body Slides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>
              <a:lumMod val="50000"/>
            </a:schemeClr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dirty="0" err="1" smtClean="0">
            <a:solidFill>
              <a:schemeClr val="tx2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NTT DATA_Inc_PowerPoint_Template.potx" id="{637C3609-3D5F-4C59-AE27-EE9CD6B09220}" vid="{18C1C4CD-636E-4D41-A29D-192E2144D95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0D11DEA-153F-44F0-9AE9-2DDD60AC32F7}">
  <we:reference id="wa200010001" version="1.0.0.1" store="en-GB" storeType="OMEX"/>
  <we:alternateReferences>
    <we:reference id="wa200010001" version="1.0.0.1" store="WA200010001" storeType="OMEX"/>
  </we:alternateReferences>
  <we:properties>
    <we:property name="claude.fileId" value="&quot;6ab99508-049d-47af-ae6f-c6d0631fa207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D07DAC9CC306A43B0EEB8DE80339185" ma:contentTypeVersion="10" ma:contentTypeDescription="Create a new document." ma:contentTypeScope="" ma:versionID="e13820e62a67a6ab11a7e72533a671b6">
  <xsd:schema xmlns:xsd="http://www.w3.org/2001/XMLSchema" xmlns:xs="http://www.w3.org/2001/XMLSchema" xmlns:p="http://schemas.microsoft.com/office/2006/metadata/properties" xmlns:ns2="43d29ea8-5e12-4c1d-b57f-8ae13a0788f8" targetNamespace="http://schemas.microsoft.com/office/2006/metadata/properties" ma:root="true" ma:fieldsID="c1f83d0835f26e552975c7b2333498ec" ns2:_="">
    <xsd:import namespace="43d29ea8-5e12-4c1d-b57f-8ae13a0788f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3d29ea8-5e12-4c1d-b57f-8ae13a0788f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d85e823d-31db-440c-980d-283f89df7c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43d29ea8-5e12-4c1d-b57f-8ae13a0788f8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E13D2197-B98F-43AF-B5B8-F29623158C3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3d29ea8-5e12-4c1d-b57f-8ae13a0788f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24881030-3065-4398-A86F-D475B50CD57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79FFB92-0B66-4B19-8B52-37427F84575C}">
  <ds:schemaRefs>
    <ds:schemaRef ds:uri="43d29ea8-5e12-4c1d-b57f-8ae13a0788f8"/>
    <ds:schemaRef ds:uri="e8cafdd4-4528-4476-ab16-00a5750ab81c"/>
    <ds:schemaRef ds:uri="f9e5c6ed-a414-487d-8643-813a0aafc40d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3048dc87-43f0-4100-9acb-ae1971c79395}" enabled="0" method="" siteId="{3048dc87-43f0-4100-9acb-ae1971c79395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NTT DATA_Inc_PowerPoint_Template</Template>
  <TotalTime>12</TotalTime>
  <Words>1769</Words>
  <Application>Microsoft Office PowerPoint</Application>
  <PresentationFormat>Widescreen</PresentationFormat>
  <Paragraphs>223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Arial</vt:lpstr>
      <vt:lpstr>Calibri</vt:lpstr>
      <vt:lpstr>Fira Sans</vt:lpstr>
      <vt:lpstr>Georgia</vt:lpstr>
      <vt:lpstr>Light Covers - Partial Images</vt:lpstr>
      <vt:lpstr>Light Body Slides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NTT DATA, Inc. Corporate Overview</dc:title>
  <dc:subject>NTT DATA, Inc. Corporate Overview Presentation</dc:subject>
  <dc:creator>NTT DATA, Inc. Marketing</dc:creator>
  <cp:keywords>NTT DATA, Inc.;PowerPoint Template</cp:keywords>
  <dc:description>July 2025 Update</dc:description>
  <cp:lastModifiedBy>CESARE SALERNO</cp:lastModifiedBy>
  <cp:revision>1</cp:revision>
  <dcterms:created xsi:type="dcterms:W3CDTF">2024-11-25T12:27:17Z</dcterms:created>
  <dcterms:modified xsi:type="dcterms:W3CDTF">2026-07-30T13:22:15Z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0x0101005D07DAC9CC306A43B0EEB8DE80339185</vt:lpwstr>
  </property>
  <property fmtid="{D5CDD505-2E9C-101B-9397-08002B2CF9AE}" pid="3" name="MSIP_Label_4637e5cc-ed1f-4ad6-a881-35c0f1c6f3d8_Enabled">
    <vt:lpwstr>true</vt:lpwstr>
  </property>
  <property fmtid="{D5CDD505-2E9C-101B-9397-08002B2CF9AE}" pid="4" name="MSIP_Label_4637e5cc-ed1f-4ad6-a881-35c0f1c6f3d8_SetDate">
    <vt:lpwstr>2025-02-11T17:29:51Z</vt:lpwstr>
  </property>
  <property fmtid="{D5CDD505-2E9C-101B-9397-08002B2CF9AE}" pid="5" name="MSIP_Label_4637e5cc-ed1f-4ad6-a881-35c0f1c6f3d8_Method">
    <vt:lpwstr>Standard</vt:lpwstr>
  </property>
  <property fmtid="{D5CDD505-2E9C-101B-9397-08002B2CF9AE}" pid="6" name="MSIP_Label_4637e5cc-ed1f-4ad6-a881-35c0f1c6f3d8_Name">
    <vt:lpwstr>General</vt:lpwstr>
  </property>
  <property fmtid="{D5CDD505-2E9C-101B-9397-08002B2CF9AE}" pid="7" name="MSIP_Label_4637e5cc-ed1f-4ad6-a881-35c0f1c6f3d8_SiteId">
    <vt:lpwstr>e3cf3c98-a978-465f-8254-9d541eeea73c</vt:lpwstr>
  </property>
  <property fmtid="{D5CDD505-2E9C-101B-9397-08002B2CF9AE}" pid="8" name="MSIP_Label_4637e5cc-ed1f-4ad6-a881-35c0f1c6f3d8_ActionId">
    <vt:lpwstr>dba746bd-02fe-4b4d-bc89-8a3bf1054ea7</vt:lpwstr>
  </property>
  <property fmtid="{D5CDD505-2E9C-101B-9397-08002B2CF9AE}" pid="9" name="MSIP_Label_4637e5cc-ed1f-4ad6-a881-35c0f1c6f3d8_ContentBits">
    <vt:lpwstr>2</vt:lpwstr>
  </property>
  <property fmtid="{D5CDD505-2E9C-101B-9397-08002B2CF9AE}" pid="10" name="ClassificationContentMarkingFooterLocations">
    <vt:lpwstr>Light Covers - Partial Images:7\Light Covers - No Image:7\Light Body Slides:8\Light Body Slides - Small Title, Large Subtitle:8\Light Dividers:6\Light Blank Slides:4\Dark Covers - Partial Images:7\Dark Covers - No Image:5\Dark Body Slides:9\Dark Body Slides - Small Title, Large Subtitle:9\Dark Dividers:8\Dark Blank Slides:4\1_Back Covers:3</vt:lpwstr>
  </property>
  <property fmtid="{D5CDD505-2E9C-101B-9397-08002B2CF9AE}" pid="11" name="ClassificationContentMarkingFooterText">
    <vt:lpwstr>Sensitivity Label: General</vt:lpwstr>
  </property>
  <property fmtid="{D5CDD505-2E9C-101B-9397-08002B2CF9AE}" pid="12" name="MediaServiceImageTags">
    <vt:lpwstr/>
  </property>
  <property fmtid="{D5CDD505-2E9C-101B-9397-08002B2CF9AE}" pid="13" name="T2KCategory">
    <vt:lpwstr>3;#Brand|832b67cf-1f4d-4e03-97fa-b9a01cdb780b</vt:lpwstr>
  </property>
  <property fmtid="{D5CDD505-2E9C-101B-9397-08002B2CF9AE}" pid="14" name="TogoLocations">
    <vt:lpwstr/>
  </property>
  <property fmtid="{D5CDD505-2E9C-101B-9397-08002B2CF9AE}" pid="15" name="a01feae194714aa882aedc460c3c0dc2">
    <vt:lpwstr/>
  </property>
  <property fmtid="{D5CDD505-2E9C-101B-9397-08002B2CF9AE}" pid="16" name="TogoDepartments">
    <vt:lpwstr/>
  </property>
  <property fmtid="{D5CDD505-2E9C-101B-9397-08002B2CF9AE}" pid="17" name="TogoDocumentsCategory">
    <vt:lpwstr/>
  </property>
  <property fmtid="{D5CDD505-2E9C-101B-9397-08002B2CF9AE}" pid="18" name="TogoTags">
    <vt:lpwstr/>
  </property>
  <property fmtid="{D5CDD505-2E9C-101B-9397-08002B2CF9AE}" pid="19" name="Order">
    <vt:lpwstr>7755500.00000000</vt:lpwstr>
  </property>
  <property fmtid="{D5CDD505-2E9C-101B-9397-08002B2CF9AE}" pid="20" name="ComplianceAssetId">
    <vt:lpwstr/>
  </property>
  <property fmtid="{D5CDD505-2E9C-101B-9397-08002B2CF9AE}" pid="21" name="_ExtendedDescription">
    <vt:lpwstr/>
  </property>
  <property fmtid="{D5CDD505-2E9C-101B-9397-08002B2CF9AE}" pid="22" name="TriggerFlowInfo">
    <vt:lpwstr/>
  </property>
  <property fmtid="{D5CDD505-2E9C-101B-9397-08002B2CF9AE}" pid="23" name="MSIP_Label_fe6ee112-9e5c-4f16-b63d-fcad06e1707e_Enabled">
    <vt:lpwstr>true</vt:lpwstr>
  </property>
  <property fmtid="{D5CDD505-2E9C-101B-9397-08002B2CF9AE}" pid="24" name="MSIP_Label_fe6ee112-9e5c-4f16-b63d-fcad06e1707e_SetDate">
    <vt:lpwstr>2026-07-29T16:06:58Z</vt:lpwstr>
  </property>
  <property fmtid="{D5CDD505-2E9C-101B-9397-08002B2CF9AE}" pid="25" name="MSIP_Label_fe6ee112-9e5c-4f16-b63d-fcad06e1707e_Method">
    <vt:lpwstr>Standard</vt:lpwstr>
  </property>
  <property fmtid="{D5CDD505-2E9C-101B-9397-08002B2CF9AE}" pid="26" name="MSIP_Label_fe6ee112-9e5c-4f16-b63d-fcad06e1707e_Name">
    <vt:lpwstr>Internal Use</vt:lpwstr>
  </property>
  <property fmtid="{D5CDD505-2E9C-101B-9397-08002B2CF9AE}" pid="27" name="MSIP_Label_fe6ee112-9e5c-4f16-b63d-fcad06e1707e_SiteId">
    <vt:lpwstr>8ac76c91-e7f1-41ff-a89c-3553b2da2c17</vt:lpwstr>
  </property>
  <property fmtid="{D5CDD505-2E9C-101B-9397-08002B2CF9AE}" pid="28" name="MSIP_Label_fe6ee112-9e5c-4f16-b63d-fcad06e1707e_ActionId">
    <vt:lpwstr>39b27fdd-de9e-47a1-a4ac-820e2b0956cc</vt:lpwstr>
  </property>
  <property fmtid="{D5CDD505-2E9C-101B-9397-08002B2CF9AE}" pid="29" name="MSIP_Label_fe6ee112-9e5c-4f16-b63d-fcad06e1707e_ContentBits">
    <vt:lpwstr>0</vt:lpwstr>
  </property>
  <property fmtid="{D5CDD505-2E9C-101B-9397-08002B2CF9AE}" pid="30" name="MSIP_Label_fe6ee112-9e5c-4f16-b63d-fcad06e1707e_Tag">
    <vt:lpwstr>10, 3, 0, 1</vt:lpwstr>
  </property>
</Properties>
</file>