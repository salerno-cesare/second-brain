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509760" y="-2011680"/>
            <a:ext cx="5669280" cy="5669280"/>
          </a:xfrm>
          <a:prstGeom prst="ellipse">
            <a:avLst/>
          </a:prstGeom>
          <a:solidFill>
            <a:srgbClr val="12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4206240"/>
            <a:ext cx="4023360" cy="4023360"/>
          </a:xfrm>
          <a:prstGeom prst="ellipse">
            <a:avLst/>
          </a:prstGeom>
          <a:solidFill>
            <a:srgbClr val="12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502920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Segoe UI"/>
              </a:rPr>
              <a:t>ALTERNATIVE A KAFKA - PILOT LEGACY DATA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Ridurre il costo della coda,
senza perdere scalabilita e semplicita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348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7D4E8"/>
                </a:solidFill>
                <a:latin typeface="Segoe UI"/>
              </a:rPr>
              <a:t>Sette opzioni a confronto per il Pilot Apache Flink su Kubernetes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074920"/>
            <a:ext cx="10817352" cy="1417320"/>
          </a:xfrm>
          <a:prstGeom prst="roundRect">
            <a:avLst>
              <a:gd name="adj" fmla="val 6000"/>
            </a:avLst>
          </a:prstGeom>
          <a:solidFill>
            <a:srgbClr val="12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25780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06B6D4"/>
                </a:solidFill>
                <a:latin typeface="Segoe UI"/>
              </a:rPr>
              <a:t>●  </a:t>
            </a:r>
            <a:r>
              <a:rPr sz="1250" b="0">
                <a:solidFill>
                  <a:srgbClr val="E5ECF7"/>
                </a:solidFill>
                <a:latin typeface="Segoe UI"/>
              </a:rPr>
              <a:t>Il Pilot riceve eventi CDC che vivono sulla coda solo pochi istanti, prima di essere consumati da Flink.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06B6D4"/>
                </a:solidFill>
                <a:latin typeface="Segoe UI"/>
              </a:rPr>
              <a:t>●  </a:t>
            </a:r>
            <a:r>
              <a:rPr sz="1250" b="0">
                <a:solidFill>
                  <a:srgbClr val="E5ECF7"/>
                </a:solidFill>
                <a:latin typeface="Segoe UI"/>
              </a:rPr>
              <a:t>Oggi il flusso passa da AWS MSK: affidabile, ma troppo costoso per questo volume di messaggi.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06B6D4"/>
                </a:solidFill>
                <a:latin typeface="Segoe UI"/>
              </a:rPr>
              <a:t>●  </a:t>
            </a:r>
            <a:r>
              <a:rPr sz="1250" b="0">
                <a:solidFill>
                  <a:srgbClr val="E5ECF7"/>
                </a:solidFill>
                <a:latin typeface="Segoe UI"/>
              </a:rPr>
              <a:t>Qualsiasi alternativa deve restare compatibile con Debezium/Kafka Connect, i connettori Flink e Splunk.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METODO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Criteri di valutazione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Come confrontiamo le sette opzioni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3611880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Segoe UI"/>
              </a:rPr>
              <a:t>Costo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30552"/>
            <a:ext cx="320954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Non solo il broker: anche compute, storage, traffico in uscita e tempo del team dedicato alla gestione.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50876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5087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7282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Segoe UI"/>
              </a:rPr>
              <a:t>Scalabilita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130552"/>
            <a:ext cx="320954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Il volume di eventi CDC puo crescere: serve poter scalare orizzontalmente senza ripensare l'architettura.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50876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1508760"/>
            <a:ext cx="3611880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7282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Segoe UI"/>
              </a:rPr>
              <a:t>Semplicita operativa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30552"/>
            <a:ext cx="320954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Operator maturi, upgrade prevedibili e osservabilita pronta all'uso, senza richiedere nuove competenze.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69079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069079"/>
            <a:ext cx="361188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28853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Segoe UI"/>
              </a:rPr>
              <a:t>Compatibilita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690871"/>
            <a:ext cx="320954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Protocollo Kafka, Debezium e connettori Flink: da questo dipende quanto lavoro di migrazione servira.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536" y="4069079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88536" y="4069079"/>
            <a:ext cx="361188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9704" y="428853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Segoe UI"/>
              </a:rPr>
              <a:t>Affidabilita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4690871"/>
            <a:ext cx="320954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Durabilita, replica e semantica di consegna, almeno at-least-once.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4152" y="4069079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74152" y="4069079"/>
            <a:ext cx="3611880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428853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Segoe UI"/>
              </a:rPr>
              <a:t>Footprint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690871"/>
            <a:ext cx="320954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Risorse extra richieste oltre a JobManager e ai due TaskManager gia previsti.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OPZIONE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AWS MSK (baseline attuale)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Kafka managed su AWS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SQL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5505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1225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Debezium Connect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8091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3D9"/>
          </a:solidFill>
          <a:ln w="279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3811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92640E"/>
                </a:solidFill>
                <a:latin typeface="Segoe UI"/>
              </a:rPr>
              <a:t>AWS MSK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8091" y="2514600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Segoe UI"/>
              </a:rPr>
              <a:t>CODA / BROKER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0677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6398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Flink (EKS)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13263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8984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Aurora PG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75688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78273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80859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83446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971800"/>
            <a:ext cx="82296" cy="344728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Segoe UI"/>
              </a:rPr>
              <a:t>Perche sceglierla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AWS MSK e la versione Kafka completamente gestita da Amazon: patching, alta disponibilita e integrazione IAM/PrivateLink a carico del provider.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Il team infrastrutturale non deve occuparsi della gestione dei broker; l'integrazione con il resto dell'ecosistema AWS e naturale.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Resta un'opzione sensata se in futuro servissero SLA molto stringenti con un team infrastrutturale piccolo.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3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04203" y="2971800"/>
            <a:ext cx="82296" cy="344728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Attenzione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Il costo e alto: si pagano i nodi broker in tripla replica, lo storage EBS e il traffico cross-AZ, anche a bassi volumi.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Per messaggi CDC che vivono sulla coda pochi secondi, questo costo fisso e sproporzionato rispetto al valore che offre.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Non e la scelta piu efficiente per il Pilot attuale.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OPZIONE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Strimzi (Kafka self-managed su 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Stesso Kafka, gestito con operator Kubernetes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SQL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5505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1225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Debezium Connect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8091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3D9"/>
          </a:solidFill>
          <a:ln w="279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3811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92640E"/>
                </a:solidFill>
                <a:latin typeface="Segoe UI"/>
              </a:rPr>
              <a:t>Kafka Strimzi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8091" y="2514600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Segoe UI"/>
              </a:rPr>
              <a:t>CODA / BROKER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0677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6398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Flink (EKS)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13263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8984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Aurora PG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75688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78273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80859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83446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971800"/>
            <a:ext cx="82296" cy="344728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Segoe UI"/>
              </a:rPr>
              <a:t>Perche sceglierla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Kafka gira sul cluster EKS gia esistente, gestito da un operator Kubernetes invece che da un servizio cloud a pagamento.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Debezium e i connettori Flink restano invariati: zero refactor, zero licenze aggiuntive.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Gestione dichiarativa via CRD (Kafka, KafkaTopic, KafkaUser) con upgrade rolling automatici.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3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04203" y="2971800"/>
            <a:ext cx="82296" cy="344728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Attenzione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Il team infrastrutturale si assume broker, consenso KRaft/ZooKeeper e tuning JVM: un lavoro prima delegato ad AWS.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Si paga solo compute EKS + storage, con un risparmio stimato del 50-70% rispetto a MSK.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Effort di setup medio, che si riduce a regime grazie all'operator.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OPZIONE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Redpanda (Kafka-compatible, senza JVM)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Broker C++ single-binary, protocollo Kafka nativo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SQL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5505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1225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Debezium Connect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8091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3D9"/>
          </a:solidFill>
          <a:ln w="279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3811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92640E"/>
                </a:solidFill>
                <a:latin typeface="Segoe UI"/>
              </a:rPr>
              <a:t>Redpanda Operator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8091" y="2514600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Segoe UI"/>
              </a:rPr>
              <a:t>CODA / BROKER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0677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6398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Flink (EKS)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13263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8984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Aurora PG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75688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78273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80859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83446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971800"/>
            <a:ext cx="82296" cy="344728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Segoe UI"/>
              </a:rPr>
              <a:t>Perche sceglierla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Riscrive il broker Kafka in C++, eliminando JVM e ZooKeeper, ma mantenendo piena compatibilita con l'API Kafka.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Bastano circa un terzo delle risorse di un broker Kafka tradizionale, con latenze piu basse e meno tuning.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La Community Edition (BSL) e open source e piu che sufficiente per i volumi del Pilot.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3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04203" y="2971800"/>
            <a:ext cx="82296" cy="344728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Attenzione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Ecosistema piu piccolo di Kafka: alcune feature enterprise (tiered storage, RBAC avanzato) sono a pagamento.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La maggiore densita dei broker permette pero di usare meno nodi EKS, abbassando ulteriormente il costo.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Effort basso: operator semplice e documentazione lineare.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OPZIONE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NATS JetStream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Messaging leggero cloud-native, non Kafka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SQL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5505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1225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Debezium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8091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3D9"/>
          </a:solidFill>
          <a:ln w="279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3811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92640E"/>
                </a:solidFill>
                <a:latin typeface="Segoe UI"/>
              </a:rPr>
              <a:t>NATS JetStream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8091" y="2514600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Segoe UI"/>
              </a:rPr>
              <a:t>CODA / BROKER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0677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6398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Flink (EKS)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13263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8984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Aurora PG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75688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78273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80859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83446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971800"/>
            <a:ext cx="82296" cy="344728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Segoe UI"/>
              </a:rPr>
              <a:t>Perche sceglierla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Abbandona il protocollo Kafka per un pub/sub nativo cloud: singolo binario Go, footprint minimo (&lt;100 MB RAM/nodo).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Scaling orizzontale semplice, replica RAFT integrata e retention ideale per messaggi a vita brevissima.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Operativita quotidiana molto semplice, con osservabilita Prometheus nativa.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3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04203" y="2971800"/>
            <a:ext cx="82296" cy="344728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Attenzione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Non parla Kafka: serve sostituire il sink Debezium e la sorgente Flink con connettori nuovi.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Ecosistema CDC meno maturo: spesso richiede un connettore custom o Debezium Server.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Costo minimo della lista, ma effort di migrazione alto (gestione poi molto semplice).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OPZIONE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RabbitMQ Cluster Operator (opzionale)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Message broker maturo, protocollo AMQP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SQL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5505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1225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Debezium Connect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8091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3D9"/>
          </a:solidFill>
          <a:ln w="279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3811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92640E"/>
                </a:solidFill>
                <a:latin typeface="Segoe UI"/>
              </a:rPr>
              <a:t>RabbitMQ Operator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8091" y="2514600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Segoe UI"/>
              </a:rPr>
              <a:t>CODA / BROKER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0677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6398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Flink (EKS)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13263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8984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Aurora PG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75688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78273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80859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83446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971800"/>
            <a:ext cx="82296" cy="344728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Segoe UI"/>
              </a:rPr>
              <a:t>Perche sceglierla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Broker maturo su AMQP, distribuibile su EKS con il Cluster Operator ufficiale.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Il plugin Streams introduce code append-only vicine alla semantica Kafka, con retention breve.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Buona scelta per messaggi transitori, gestione semplice tramite custom resource.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3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04203" y="2971800"/>
            <a:ext cx="82296" cy="344728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Attenzione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Non compatibile Kafka: richiede comunque un refactoring di Debezium e dei connettori Flink.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Su volumi molto alti il throughput resta inferiore a Kafka o Redpanda.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Costo basso e footprint contenuto, ma sforzo medio per riscrivere i connettori.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OPZIONE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Connessione diretta, nessuna coda in mezzo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Flink CDC Connector con Debezium embedded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SQL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0055" y="1508760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5" y="17830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Flink CDC Connector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7192" y="1508760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2912" y="17830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Aurora PG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16352" y="1508760"/>
            <a:ext cx="2039111" cy="96012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1856231"/>
            <a:ext cx="2039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1">
                <a:solidFill>
                  <a:srgbClr val="64748B"/>
                </a:solidFill>
                <a:latin typeface="Segoe UI"/>
              </a:rPr>
              <a:t>nessuna coda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1988819"/>
            <a:ext cx="2368295" cy="0"/>
          </a:xfrm>
          <a:prstGeom prst="line">
            <a:avLst/>
          </a:prstGeom>
          <a:ln w="381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51760" y="2514600"/>
            <a:ext cx="2368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563EB"/>
                </a:solidFill>
                <a:latin typeface="Segoe UI"/>
              </a:rPr>
              <a:t>DIRETTO - NO BROKER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68896" y="1988819"/>
            <a:ext cx="2368296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971800"/>
            <a:ext cx="82296" cy="344728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Segoe UI"/>
              </a:rPr>
              <a:t>Perche sceglierla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Il connettore Flink CDC integra un motore Debezium nel job stesso e legge il transaction log senza alcun broker intermedio.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Costo minimo assoluto: nessuna infrastruttura di messaggistica da gestire o pagare.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Architettura essenziale: meno componenti da monitorare, meno hop di rete, latenza end-to-end piu bassa.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4203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4203" y="2971800"/>
            <a:ext cx="82296" cy="344728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Attenzione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Nessun disaccoppiamento: un rallentamento di Flink scarica pressione diretta sul transaction log di SQL Server.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Nessun fan-out: un solo consumer per stream, niente replay indipendente ne piu consumatori.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Il lag di coda sparisce dall'osservabilita; adatto solo a flussi non critici e a basso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OPZIONE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Amazon Kinesis Data Streams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Streaming AWS-native, alternativa gestita ma non Kafka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SQL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5505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1225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Debezium (Kinesis sink)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8091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3D9"/>
          </a:solidFill>
          <a:ln w="279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3811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92640E"/>
                </a:solidFill>
                <a:latin typeface="Segoe UI"/>
              </a:rPr>
              <a:t>Kinesis Data Streams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8091" y="2514600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Segoe UI"/>
              </a:rPr>
              <a:t>CODA / BROKER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0677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6398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Flink (EKS)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13263" y="150876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8984" y="178308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1F3A"/>
                </a:solidFill>
                <a:latin typeface="Segoe UI"/>
              </a:rPr>
              <a:t>Aurora PG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75688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78273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80859" y="1988819"/>
            <a:ext cx="829818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83446" y="1988819"/>
            <a:ext cx="829817" cy="0"/>
          </a:xfrm>
          <a:prstGeom prst="line">
            <a:avLst/>
          </a:prstGeom>
          <a:ln w="190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971800"/>
            <a:ext cx="82296" cy="344728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Segoe UI"/>
              </a:rPr>
              <a:t>Perche sceglierla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Amazon Kinesis Data Streams e completamente gestito da AWS: nessun cluster da patchare, si paga solo per shard-hour e dati trasferiti.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Il connettore Kinesis di Flink e maturo e nativo, e la retention (fino a 365 giorni) puo essere impostata bassa per messaggi CDC di vita breve.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16A34A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Puo costare meno di MSK a bassi volumi, perche non servono broker dedicati ma solo shard proporzionati al throughput.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4203" y="2971800"/>
            <a:ext cx="5481827" cy="34472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04203" y="2971800"/>
            <a:ext cx="82296" cy="344728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3118104"/>
            <a:ext cx="50246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Attenzione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3502152"/>
            <a:ext cx="5024627" cy="2734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Non parla il protocollo Kafka: Debezium non scrive nativamente su Kinesis, serve un sink dedicato (Kafka Connect Kinesis o produttore custom).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La capacita scala a shard: resharding e limiti di velocita richiedono pianificazione, e il fan-out avanzato per piu consumer ha un costo extra.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●  </a:t>
            </a:r>
            <a:r>
              <a:rPr sz="1250" b="0">
                <a:solidFill>
                  <a:srgbClr val="111827"/>
                </a:solidFill>
                <a:latin typeface="Segoe UI"/>
              </a:rPr>
              <a:t>Resta un servizio AWS a consumo: utile per chi vuole restare nell'ecosistema AWS, meno se l'obiettivo e uscire dai costi variabili cloud.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SINTESI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Matrice di confronto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Le sette opzioni fianco a fianco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08760"/>
          <a:ext cx="1118311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194560"/>
                <a:gridCol w="2194560"/>
                <a:gridCol w="1856231"/>
              </a:tblGrid>
              <a:tr h="51435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Opzione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Costo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Effort infra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Compat. Kafka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Disaccoppiamento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AWS MSK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Molto basso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Totale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Strimzi su EKS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Segoe UI"/>
                        </a:rPr>
                        <a:t>Medio-basso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Medio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Totale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Si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Redpanda 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Segoe UI"/>
                        </a:rPr>
                        <a:t>Basso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Basso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Kafka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NATS JetStream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Molto basso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Alto (migr.)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Non-Kafka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Si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RabbitMQ 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Segoe UI"/>
                        </a:rPr>
                        <a:t>Basso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Non-Kafka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Kinesis Data Streams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Segoe UI"/>
                        </a:rPr>
                        <a:t>Basso-medio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Medio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Non-Kafka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Si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Connessione diretta (F)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Minimo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Alto (migr.)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No broker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669280"/>
            <a:ext cx="11183112" cy="713232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815584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Miglior rapporto valore/rischio: Strimzi (quick win) o Redpanda (piu densita); la connessione diretta solo se il rischio di accoppiamento e accettabile.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PIANO D'AZIONE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Raccomandazione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Percorso a due passi, piu un'opzione radicale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6002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61848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Segoe UI"/>
              </a:rPr>
              <a:t>Quick win: Strimzi su 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020824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Stesso protocollo Kafka, nessun refactor Debezium/Flink: riduzione costi quasi immediata, sforzo concentrato nel setup iniziale.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1883664"/>
            <a:ext cx="5056631" cy="0"/>
          </a:xfrm>
          <a:prstGeom prst="line">
            <a:avLst/>
          </a:prstGeom>
          <a:ln w="254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126479" y="16002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1600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61848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Segoe UI"/>
              </a:rPr>
              <a:t>Evoluzione: Redpanda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2020824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Stesso client Kafka, meno risorse, upgrade non piu disruptivi: da valutare per densificare ulteriormente i broker.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10972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50">
                <a:solidFill>
                  <a:srgbClr val="F59E0B"/>
                </a:solidFill>
                <a:latin typeface="Segoe UI"/>
              </a:rPr>
              <a:t>●  </a:t>
            </a:r>
            <a:r>
              <a:rPr sz="1350" b="0">
                <a:solidFill>
                  <a:srgbClr val="111827"/>
                </a:solidFill>
                <a:latin typeface="Segoe UI"/>
              </a:rPr>
              <a:t>NATS e RabbitMQ restano opzioni valide solo se in futuro si decidesse di uscire completamente dall'ecosistema Kafka.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F59E0B"/>
                </a:solidFill>
                <a:latin typeface="Segoe UI"/>
              </a:rPr>
              <a:t>●  </a:t>
            </a:r>
            <a:r>
              <a:rPr sz="1350" b="0">
                <a:solidFill>
                  <a:srgbClr val="111827"/>
                </a:solidFill>
                <a:latin typeface="Segoe UI"/>
              </a:rPr>
              <a:t>Kinesis Data Streams e un'alternativa da considerare se si vuole restare nell'ecosistema AWS senza gestire cluster, accettando un modello a consumo e un sink dedicato per Debezium.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F59E0B"/>
                </a:solidFill>
                <a:latin typeface="Segoe UI"/>
              </a:rPr>
              <a:t>●  </a:t>
            </a:r>
            <a:r>
              <a:rPr sz="1350" b="0">
                <a:solidFill>
                  <a:srgbClr val="111827"/>
                </a:solidFill>
                <a:latin typeface="Segoe UI"/>
              </a:rPr>
              <a:t>La connessione diretta (Opzione F) va considerata solo per flussi non critici e a basso volume, dove il costo zero della coda vale il rischio di accoppiamento con la sorgente.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69280"/>
            <a:ext cx="11183112" cy="713232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15584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Prossima azione: PoC Strimzi nel namespace del Pilot | benchmark throughput/latenza | stima costi 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tt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6318504"/>
            <a:ext cx="914400" cy="2651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PROSSIMI PASSI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Segoe UI"/>
              </a:rPr>
              <a:t>Dubbi aperti e verifiche necessarie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3385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Da confermare prima della decisione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Legacy Data Bridge - Pilot Apache Flink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92608" cy="292608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4533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11827"/>
                </a:solidFill>
                <a:latin typeface="Segoe UI"/>
              </a:rPr>
              <a:t>Volumi reali di eventi CDC al secondo e dimensione media dei messaggi.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13432"/>
            <a:ext cx="292608" cy="292608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5856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11827"/>
                </a:solidFill>
                <a:latin typeface="Segoe UI"/>
              </a:rPr>
              <a:t>Retention richiesta, SLO di disponibilita del broker e vincoli di sicurezza/compliance (patching, audit).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26664"/>
            <a:ext cx="292608" cy="292608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718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11827"/>
                </a:solidFill>
                <a:latin typeface="Segoe UI"/>
              </a:rPr>
              <a:t>Compatibilita tra la versione di Debezium/Kafka Connect in uso e Redpanda.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39896"/>
            <a:ext cx="292608" cy="292608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850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11827"/>
                </a:solidFill>
                <a:latin typeface="Segoe UI"/>
              </a:rPr>
              <a:t>Costo effettivo su EKS: nodi dedicati o condivisi, storage EBS necessario.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53128"/>
            <a:ext cx="292608" cy="292608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982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11827"/>
                </a:solidFill>
                <a:latin typeface="Segoe UI"/>
              </a:rPr>
              <a:t>Integrazione del nuovo broker con l'osservabilita Splunk gia in uso.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66360"/>
            <a:ext cx="292608" cy="292608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114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11827"/>
                </a:solidFill>
                <a:latin typeface="Segoe UI"/>
              </a:rPr>
              <a:t>Per la connessione diretta: tolleranza al rischio di accoppiamento e capacita del transaction log SQL Server.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64748B"/>
                </a:solidFill>
                <a:latin typeface="Segoe UI"/>
              </a:rPr>
              <a:t>Owner: Team Infrastruttura - Pilot Legacy Data Bridge MVP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