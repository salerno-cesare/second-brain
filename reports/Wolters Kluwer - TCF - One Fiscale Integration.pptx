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5" r:id="rId4"/>
    <p:sldMasterId id="2147484182" r:id="rId5"/>
  </p:sldMasterIdLst>
  <p:notesMasterIdLst>
    <p:notesMasterId r:id="rId14"/>
  </p:notesMasterIdLst>
  <p:handoutMasterIdLst>
    <p:handoutMasterId r:id="rId15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5" orient="horz" pos="3984" userDrawn="1">
          <p15:clr>
            <a:srgbClr val="A4A3A4"/>
          </p15:clr>
        </p15:guide>
        <p15:guide id="6" orient="horz" pos="18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  <p15:guide id="8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95404C-A7BE-FC70-EE89-EBE36D82CF8E}" name="Renschi Marais" initials="RM" userId="S::renschi.marais@global.ntt::befb9f5c-78bf-4e8d-a329-fcef54fe93f4" providerId="AD"/>
  <p188:author id="{C6EAA887-68B4-5E96-11E6-5DB70CE6BCF9}" name="Melissa Davidson" initials="MD" userId="S::melissa.davidson@global.ntt::90ab4fa7-413d-4469-8f01-6d10a7ee0b31" providerId="AD"/>
  <p188:author id="{50799EA2-0F81-D86B-14DA-20F47A76FAF5}" name="Henrietta Lacey-Gutsell" initials="HL" userId="70b1f3bbeff9bb74" providerId="Windows Live"/>
  <p188:author id="{553198A8-AE1E-AD66-F4A6-3FED38F96F75}" name="Ellen Hassett Cahill" initials="EH" userId="S::259272@NTTDATA.COM::f846f2b2-854b-45df-bd03-b20186d9fb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  <a:srgbClr val="050D24"/>
    <a:srgbClr val="E5E5E5"/>
    <a:srgbClr val="19A3FC"/>
    <a:srgbClr val="000000"/>
    <a:srgbClr val="FFFFFF"/>
    <a:srgbClr val="0072BC"/>
    <a:srgbClr val="009AA4"/>
    <a:srgbClr val="007076"/>
    <a:srgbClr val="2E4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1837"/>
        <p:guide pos="3840"/>
        <p:guide pos="240"/>
        <p:guide pos="7440"/>
        <p:guide orient="horz" pos="3984"/>
        <p:guide orient="horz" pos="182"/>
        <p:guide orient="horz" pos="864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USMANNO" userId="e5f53ad3-e5e2-4f6c-826c-f2124de6d8f0" providerId="ADAL" clId="{B7A41415-7B14-4626-A9DF-4F23A07B893D}"/>
    <pc:docChg chg="undo custSel addSld delSld modSld sldOrd modMainMaster addSection delSection modSection">
      <pc:chgData name="FRANCESCO MUSMANNO" userId="e5f53ad3-e5e2-4f6c-826c-f2124de6d8f0" providerId="ADAL" clId="{B7A41415-7B14-4626-A9DF-4F23A07B893D}" dt="2026-07-03T10:52:55.337" v="10371" actId="108"/>
      <pc:docMkLst>
        <pc:docMk/>
      </pc:docMkLst>
      <pc:sldMasterChg chg="addSldLayout">
        <pc:chgData name="FRANCESCO MUSMANNO" userId="e5f53ad3-e5e2-4f6c-826c-f2124de6d8f0" providerId="ADAL" clId="{B7A41415-7B14-4626-A9DF-4F23A07B893D}" dt="2026-07-03T10:32:54.886" v="10053"/>
        <pc:sldMasterMkLst>
          <pc:docMk/>
          <pc:sldMasterMk cId="674052129" sldId="2147484182"/>
        </pc:sldMasterMkLst>
        <pc:sldLayoutChg chg="add">
          <pc:chgData name="FRANCESCO MUSMANNO" userId="e5f53ad3-e5e2-4f6c-826c-f2124de6d8f0" providerId="ADAL" clId="{B7A41415-7B14-4626-A9DF-4F23A07B893D}" dt="2026-07-03T10:32:54.886" v="10053"/>
          <pc:sldLayoutMkLst>
            <pc:docMk/>
            <pc:sldMasterMk cId="674052129" sldId="2147484182"/>
            <pc:sldLayoutMk cId="1888250806" sldId="2147484249"/>
          </pc:sldLayoutMkLst>
        </pc:sldLayoutChg>
      </pc:sldMasterChg>
    </pc:docChg>
  </pc:docChgLst>
  <pc:docChgLst>
    <pc:chgData name="CESARE SALERNO" userId="22e026cd-c4e1-4231-8421-045c06cc7edf" providerId="ADAL" clId="{99F8FF1A-A72A-4619-A85F-6E0162BE768F}"/>
    <pc:docChg chg="custSel addSld delSld modSld delMainMaster">
      <pc:chgData name="CESARE SALERNO" userId="22e026cd-c4e1-4231-8421-045c06cc7edf" providerId="ADAL" clId="{99F8FF1A-A72A-4619-A85F-6E0162BE768F}" dt="2026-07-28T07:23:18.493" v="5" actId="20577"/>
      <pc:docMkLst>
        <pc:docMk/>
      </pc:docMkLst>
      <pc:sldChg chg="addSp delSp modSp new mod modClrScheme chgLayout">
        <pc:chgData name="CESARE SALERNO" userId="22e026cd-c4e1-4231-8421-045c06cc7edf" providerId="ADAL" clId="{99F8FF1A-A72A-4619-A85F-6E0162BE768F}" dt="2026-07-27T14:52:58.994" v="4" actId="478"/>
        <pc:sldMkLst>
          <pc:docMk/>
          <pc:sldMk cId="1129850153" sldId="256"/>
        </pc:sldMkLst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2" creationId="{88393A0F-3B75-7621-8436-CDFBBFCC19E3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3" creationId="{8D209979-3E2B-A650-A2EF-C6C23BCE2A79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4" creationId="{549CE79A-FF84-DEC4-7881-C5244D3B02EC}"/>
          </ac:spMkLst>
        </pc:spChg>
        <pc:spChg chg="del mod ord">
          <ac:chgData name="CESARE SALERNO" userId="22e026cd-c4e1-4231-8421-045c06cc7edf" providerId="ADAL" clId="{99F8FF1A-A72A-4619-A85F-6E0162BE768F}" dt="2026-07-27T14:52:58.994" v="4" actId="478"/>
          <ac:spMkLst>
            <pc:docMk/>
            <pc:sldMk cId="1129850153" sldId="256"/>
            <ac:spMk id="5" creationId="{99443ACA-C5C4-33FA-745C-F4BF1091AFB9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6" creationId="{3E29238D-38BD-6221-73F9-F3222C611ACD}"/>
          </ac:spMkLst>
        </pc:spChg>
        <pc:spChg chg="del 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7" creationId="{8AD9D2B4-1F2D-A48D-7D2E-6F01C30DED56}"/>
          </ac:spMkLst>
        </pc:spChg>
        <pc:spChg chg="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8" creationId="{3507F62F-095F-D5F9-1172-9E93D1C76E30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9" creationId="{A1021ED9-DB76-84A3-C26C-8575ACB8D3F3}"/>
          </ac:spMkLst>
        </pc:spChg>
        <pc:spChg chg="add 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10" creationId="{2768F9C7-4868-1BC1-BC47-850490988E28}"/>
          </ac:spMkLst>
        </pc:spChg>
      </pc:sldChg>
      <pc:sldChg chg="modSp mod">
        <pc:chgData name="CESARE SALERNO" userId="22e026cd-c4e1-4231-8421-045c06cc7edf" providerId="ADAL" clId="{99F8FF1A-A72A-4619-A85F-6E0162BE768F}" dt="2026-07-28T07:23:18.493" v="5" actId="20577"/>
        <pc:sldMkLst>
          <pc:docMk/>
          <pc:sldMk cId="0" sldId="261"/>
        </pc:sldMkLst>
        <pc:spChg chg="mod">
          <ac:chgData name="CESARE SALERNO" userId="22e026cd-c4e1-4231-8421-045c06cc7edf" providerId="ADAL" clId="{99F8FF1A-A72A-4619-A85F-6E0162BE768F}" dt="2026-07-28T07:23:18.493" v="5" actId="20577"/>
          <ac:spMkLst>
            <pc:docMk/>
            <pc:sldMk cId="0" sldId="261"/>
            <ac:spMk id="25" creationId="{00000000-0000-0000-0000-000000000000}"/>
          </ac:spMkLst>
        </pc:spChg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834611257" sldId="214748145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839392924" sldId="2147481480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790377977" sldId="2147481507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1049135652" sldId="214748152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2276783885" sldId="2147481525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1179644405" sldId="2147481552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2713954083" sldId="214748155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4251454100" sldId="2147481555"/>
        </pc:sldMkLst>
      </pc:sld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2498085871" sldId="2147484150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1009628004" sldId="2147484151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2253760580" sldId="2147484152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2890114633" sldId="2147484153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2386717904" sldId="2147484154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386717904" sldId="2147484154"/>
            <pc:sldLayoutMk cId="3203369701" sldId="214748415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386717904" sldId="2147484154"/>
            <pc:sldLayoutMk cId="2264892987" sldId="2147484156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3145033548" sldId="2147484234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226102931" sldId="214748423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1509900586" sldId="2147484236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320286689" sldId="2147484237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941592152" sldId="2147484238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772856872" sldId="2147484239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955557687" sldId="2147484240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15904372" sldId="2147484241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331040790" sldId="2147484242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2893347289" sldId="2147484243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009121893" sldId="2147484244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255241190" sldId="214748424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339516353" sldId="2147484246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884000370" sldId="2147484247"/>
          </pc:sldLayoutMkLst>
        </pc:sldLayoutChg>
        <pc:sldLayoutChg chg="del">
          <pc:chgData name="CESARE SALERNO" userId="22e026cd-c4e1-4231-8421-045c06cc7edf" providerId="ADAL" clId="{99F8FF1A-A72A-4619-A85F-6E0162BE768F}" dt="2026-07-27T14:52:42.160" v="0" actId="47"/>
          <pc:sldLayoutMkLst>
            <pc:docMk/>
            <pc:sldMasterMk cId="772856872" sldId="2147484239"/>
            <pc:sldLayoutMk cId="1888250806" sldId="214748424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7/28/2026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‹N›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</a:t>
            </a:r>
            <a:br>
              <a:rPr lang="en-US" noProof="0"/>
            </a:br>
            <a:r>
              <a:rPr lang="en-US" noProof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DE1F7-62EC-6D2E-396B-811A5053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539496"/>
            <a:ext cx="8305800" cy="55778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1BD431-D4B4-298C-982D-B1EB3888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365760"/>
            <a:ext cx="4284979" cy="1280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Case study | Company | Region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E3891F-6B5F-192A-B2B0-E4C4CF22FB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295400"/>
            <a:ext cx="2743200" cy="48768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01DE9E-5F31-F140-2E87-C0B1212E08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0" y="5076970"/>
            <a:ext cx="5822138" cy="5549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3716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8288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324C1C-4229-7DE2-097E-ED90CB5E4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1" y="5729432"/>
            <a:ext cx="4800600" cy="131763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chemeClr val="bg2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Arial Bold name, Arial Regular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B176-3B35-FC26-E2B3-21D63E555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SG" smtClean="0"/>
              <a:pPr algn="ctr"/>
              <a:t>‹N›</a:t>
            </a:fld>
            <a:endParaRPr lang="en-SG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37E874D-75E8-4A65-C90D-674F6952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DB47B5C7-E0CF-2B9F-0F4C-261A16FD7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AF3DAB-9739-B787-806C-58C158A4019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1000" y="539496"/>
            <a:ext cx="2743200" cy="557784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Client logo: Ensure no clipping occurs on insert</a:t>
            </a:r>
          </a:p>
        </p:txBody>
      </p:sp>
    </p:spTree>
    <p:extLst>
      <p:ext uri="{BB962C8B-B14F-4D97-AF65-F5344CB8AC3E}">
        <p14:creationId xmlns:p14="http://schemas.microsoft.com/office/powerpoint/2010/main" val="188825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/>
              <a:t>February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0"/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noProof="0" smtClean="0"/>
              <a:pPr/>
              <a:t>‹N›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4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164592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" y="2377440"/>
            <a:ext cx="137160" cy="2377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6400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1F5FA8"/>
                </a:solidFill>
                <a:latin typeface="Calibri"/>
              </a:rPr>
              <a:t>PROPOSTA DI INTEGRAZIONE  •  LUGLIO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3800" b="1" dirty="0">
                <a:solidFill>
                  <a:srgbClr val="0F3B66"/>
                </a:solidFill>
                <a:latin typeface="Calibri"/>
              </a:rPr>
              <a:t>Integrazione One Fiscale su TCF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7315200" cy="2011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400" b="0" dirty="0">
                <a:solidFill>
                  <a:srgbClr val="1A1A1A"/>
                </a:solidFill>
                <a:latin typeface="Calibri"/>
              </a:rPr>
              <a:t>Estensione del Tax Control Framework con capacità AI di Wolters Kluwer One Fiscale: sei assistenti dedicati, orchestrati su FAB, per gap analysis, driver assistant, impact analysis, drafting, Q&amp;A contestuale e briefing periodici direttamente nell’ambiente TCF del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200" b="1" dirty="0">
                <a:solidFill>
                  <a:srgbClr val="5A6672"/>
                </a:solidFill>
                <a:latin typeface="Calibri"/>
              </a:rPr>
              <a:t>Wolters Kluwer  ·  NTT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60807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0095" y="6080760"/>
            <a:ext cx="10972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600" b="1" dirty="0">
                <a:solidFill>
                  <a:srgbClr val="FFFFFF"/>
                </a:solidFill>
                <a:latin typeface="Calibri"/>
              </a:rPr>
              <a:t>NTT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Contesto e Sfida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Il Tax Control Framework deve evolvere per stare al passo con normativa e operatività fiscale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1428" y="137160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1428" y="13716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1428" y="1508760"/>
            <a:ext cx="3657600" cy="320040"/>
          </a:xfrm>
          <a:prstGeom prst="rect">
            <a:avLst/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27148" y="141732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Valorizzare la banca dati One Fiscale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8588" y="192024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One Fiscale è una base normativa qualificata e continuamente aggiornata: integrarla nel TCF rende ogni funzionalità immediatamente contestualizzata.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6188" y="137160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76188" y="13716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6188" y="1508760"/>
            <a:ext cx="3657600" cy="320040"/>
          </a:xfrm>
          <a:prstGeom prst="rect">
            <a:avLst/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1908" y="141732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Opportunità di trasformazione operativa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192024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Sei agenti AI dedicati abilitano il salto da compilazione documentale a supporto decisionale continuo, con drafting, briefing periodico e Q&amp;A contestuale sempre disponibili.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Framework fiscale sempre più articolato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Il TCF combina wizard secondo Ag. Entrate, RCM, fattispecie interpretative e strategia fiscale: mantenere allineamento e completezza è oneroso senza un supporto intelligente.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880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7880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7880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2452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Rischi non mappati e valutazioni soggettive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La configurazione di driver di probabilità e impatto è oggi manuale e discrezionale, esponendo il cliente a rischi non intercettati e a valutazioni disomogenee tra periodi.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7356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7356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Novità normative da tradurre in azioni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Ogni circolare o articolo di One Fiscale può impattare la RCM: serve un meccanismo automatico che colleghi la novità normativa ai rischi specifici del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2 /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Obiettivo &amp; Casi d’Uso in Dettaglio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Sei assistenti AI dedicati che coprono l’intero ciclo di vita del TCF — input, cosa fanno,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325880"/>
            <a:ext cx="11430000" cy="822960"/>
          </a:xfrm>
          <a:prstGeom prst="roundRect">
            <a:avLst>
              <a:gd name="adj" fmla="val 4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8288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50" b="1" dirty="0">
                <a:solidFill>
                  <a:srgbClr val="E8F1FB"/>
                </a:solidFill>
                <a:latin typeface="Calibri"/>
              </a:rPr>
              <a:t>OBIETTIVO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6217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Portare l’intelligenza di One Fiscale dentro il TCF, mantenendo i dati cliente in Azure e la banca dati fiscale nell’ecosistema WK.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488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6 agenti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645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45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Doppio indice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802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6802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API · One ID Legal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9959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9959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EU · GDPR · AI 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5488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Confronta la RCM cliente con le linee guida Ag. Entrate (art. 25/11) e segnala rischi non mappati.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Wizard di compilazione TCF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Elenco strutturato di gap con riferimento normativo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1104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52544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Driver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Suggerisce driver, pesi e valori (basso/medio/alto) per probabilità e impatto coerenti con la metodologia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Config. rischio + Tax Compliance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Set di driver proposti, con razionale motivato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29600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Impact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Individua i rischi della RCM impattati da nuove norme, circolari e prassi e propone azioni di aggiornamento.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Novità normative (One Fiscale · circolari)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Rischi impattati + delta di configurazione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4048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5488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Drafting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Propone driver, soglie di materialità e verifiche qualitative/quantitative per compilare la fattispecie.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Fattispecie in lavorazione (es. fusione cross-border)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Bozza strutturata con giustificazione normativa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1104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261104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4352544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Q&amp;A Contestuale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98264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Risponde su corpus normativo One Fiscale e sul contesto cliente (documenti caricati), con citazioni tracciabili.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8264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19472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Domanda libera dell’utente TCF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98264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9472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Risposta discorsiva con fonti tracciabili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38160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8229600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Periodic Briefing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Estrae mensilmente le novità fiscali rilevanti filtrate sui processi e rischi specifici del cliente.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8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Config. cliente (processi · rischi · sottoscrizioni)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96528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Report PDF con highlight e approfondimenti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3 / 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Architettura di Integrazione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TCF Application (Azure) ↔ Workspace One Fiscale (FAB · WK Legal) — ingestion &amp; trigger schedulati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417320"/>
            <a:ext cx="5029200" cy="4206240"/>
          </a:xfrm>
          <a:prstGeom prst="roundRect">
            <a:avLst>
              <a:gd name="adj" fmla="val 3000"/>
            </a:avLst>
          </a:prstGeom>
          <a:solidFill>
            <a:srgbClr val="F4F8FD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440680" cy="4206240"/>
          </a:xfrm>
          <a:prstGeom prst="roundRect">
            <a:avLst>
              <a:gd name="adj" fmla="val 3000"/>
            </a:avLst>
          </a:prstGeom>
          <a:solidFill>
            <a:srgbClr val="F3FBF6"/>
          </a:solidFill>
          <a:ln w="190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700016" cy="36576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700016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AZURE CLOUD  ·  Cliente TCF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1508760"/>
            <a:ext cx="5111496" cy="36576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508760"/>
            <a:ext cx="5111496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WK LEGAL ENVIRONMENT  ·  FAB  (Workspace One Fiscale)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DB TCF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3230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Database applicativo — RCM · driver · wizard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7228" y="201168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7228" y="210312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Storage Documentale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6956" y="243230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Documenti privati cifrati del cliente TCF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3B66"/>
                </a:solidFill>
                <a:latin typeface="Calibri"/>
              </a:rPr>
              <a:t>TCF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3814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Web app cliente — wizard · RCM · fattispecie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7228" y="301752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67228" y="310896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3B66"/>
                </a:solidFill>
                <a:latin typeface="Calibri"/>
              </a:rPr>
              <a:t>Integration 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6956" y="343814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Gateway API — JSON · mTLS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4700016" cy="1005840"/>
          </a:xfrm>
          <a:prstGeom prst="roundRect">
            <a:avLst>
              <a:gd name="adj" fmla="val 5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4700016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SCHEDULER JOB  (Azure)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4334256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FFFFFF"/>
                </a:solidFill>
                <a:latin typeface="Calibri"/>
              </a:rPr>
              <a:t>Job schedulato mensile che invoca il Periodic Briefing Agent per generare il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2011680"/>
            <a:ext cx="248716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103120"/>
            <a:ext cx="248716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8A3A"/>
                </a:solidFill>
                <a:latin typeface="Calibri"/>
              </a:rPr>
              <a:t>Indice TCF 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432304"/>
            <a:ext cx="226771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Documenti vettorizzati (aggiornati via ingestion)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011680"/>
            <a:ext cx="248716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2103120"/>
            <a:ext cx="248716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8A3A"/>
                </a:solidFill>
                <a:latin typeface="Calibri"/>
              </a:rPr>
              <a:t>Indice One Fiscale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2432304"/>
            <a:ext cx="226771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Banca dati normativa WK (aggiornata continuamente)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3017520"/>
            <a:ext cx="5111496" cy="822960"/>
          </a:xfrm>
          <a:prstGeom prst="roundRect">
            <a:avLst>
              <a:gd name="adj" fmla="val 6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3108960"/>
            <a:ext cx="5111496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Calibri"/>
              </a:rPr>
              <a:t>ORCHESTRATOR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456432"/>
            <a:ext cx="5111496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50" b="0" dirty="0">
                <a:solidFill>
                  <a:srgbClr val="E8F1FB"/>
                </a:solidFill>
                <a:latin typeface="Calibri"/>
              </a:rPr>
              <a:t>Routing verso i 6 agenti · retrieval dai due indici · policy &amp;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9672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FFFFFF"/>
                </a:solidFill>
                <a:latin typeface="Calibri"/>
              </a:rPr>
              <a:t>Periodic Briefing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3780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3780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Gap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7888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Driver Assistant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1996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11996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Impact Analysis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76104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76104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Drafting Assistant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40212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840212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Q&amp;A Contestuale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89354" y="2834640"/>
            <a:ext cx="0" cy="182880"/>
          </a:xfrm>
          <a:prstGeom prst="line">
            <a:avLst/>
          </a:prstGeom>
          <a:ln w="15240">
            <a:solidFill>
              <a:srgbClr val="5A667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30068" y="3429000"/>
            <a:ext cx="137160" cy="0"/>
          </a:xfrm>
          <a:prstGeom prst="line">
            <a:avLst/>
          </a:prstGeom>
          <a:ln w="1524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830068" y="2834640"/>
            <a:ext cx="935659" cy="182880"/>
          </a:xfrm>
          <a:prstGeom prst="line">
            <a:avLst/>
          </a:prstGeom>
          <a:ln w="1524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63256" y="2834640"/>
            <a:ext cx="0" cy="182880"/>
          </a:xfrm>
          <a:prstGeom prst="line">
            <a:avLst/>
          </a:prstGeom>
          <a:ln w="13970">
            <a:solidFill>
              <a:srgbClr val="0F8A3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387584" y="2834640"/>
            <a:ext cx="0" cy="182880"/>
          </a:xfrm>
          <a:prstGeom prst="line">
            <a:avLst/>
          </a:prstGeom>
          <a:ln w="13970">
            <a:solidFill>
              <a:srgbClr val="0F8A3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15150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79258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643366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07474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371582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35690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48656" y="3429000"/>
            <a:ext cx="1271016" cy="0"/>
          </a:xfrm>
          <a:prstGeom prst="line">
            <a:avLst/>
          </a:prstGeom>
          <a:ln w="38100">
            <a:solidFill>
              <a:srgbClr val="1F5FA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49824" y="3200400"/>
            <a:ext cx="8686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49824" y="3200400"/>
            <a:ext cx="86868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HTTPS
mTLS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248656" y="2423160"/>
            <a:ext cx="1271016" cy="0"/>
          </a:xfrm>
          <a:prstGeom prst="line">
            <a:avLst/>
          </a:prstGeom>
          <a:ln w="20320">
            <a:solidFill>
              <a:srgbClr val="5A66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289804" y="2075688"/>
            <a:ext cx="118872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1" dirty="0">
                <a:solidFill>
                  <a:srgbClr val="5A6672"/>
                </a:solidFill>
                <a:latin typeface="Calibri"/>
              </a:rPr>
              <a:t>Ingestion Job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248656" y="4709160"/>
            <a:ext cx="1271016" cy="0"/>
          </a:xfrm>
          <a:prstGeom prst="line">
            <a:avLst/>
          </a:prstGeom>
          <a:ln w="22860">
            <a:solidFill>
              <a:srgbClr val="E07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98364" y="4361688"/>
            <a:ext cx="13716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1" dirty="0">
                <a:solidFill>
                  <a:srgbClr val="E07B00"/>
                </a:solidFill>
                <a:latin typeface="Calibri"/>
              </a:rPr>
              <a:t>Monthly Trigger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5806440"/>
            <a:ext cx="114300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0" dirty="0">
                <a:solidFill>
                  <a:srgbClr val="5A6672"/>
                </a:solidFill>
                <a:latin typeface="Calibri"/>
              </a:rPr>
              <a:t>Legenda:   ▬▬  HTTPS · mTLS bidirezionale        ▬ ▬  Ingestion (batch)        ▬ ▬  Monthly Trigger (scheduled)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4 / 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Accesso &amp; Governance dell’Identità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Un unico modello di identità coerente tra TCF e ambiente WK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56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70088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Modello di Identità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88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88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L’accesso ai servizi One Fiscale è basato su utenze One ID Legal come identità di riferimento, coerentemente con lo stack di autenticazione già adottato in ambito WK Legal.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Il TCF propaga l’identità dell’utente all’Orchestrator Agent tramite token firmato, mantenendo la tracciabilità puntuale di ogni chiamata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4136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716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Razionale della Scelta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136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136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Riutilizzare One ID Legal evita integrazioni SSO custom e centralizza la gestione delle abilitazioni sui servizi One Fiscale.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Il cliente TCF beneficia di onboarding rapido, revoca immediata e audit completo delle interazioni con gli assistenti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8184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64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Prerequisiti di Accesso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184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184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Ogni utente TCF che utilizza le funzionalità AI deve essere censito in One ID Legal con profilo attivo e abilitato alla workspace One Fiscale.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È richiesta una sottoscrizione a One Fiscale coerente con i casi d’uso previsti (banca dati, fattispecie, novità normative).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5 /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Proposta di Approccio – Proof of Concept (PoC)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Percorso in due fasi focalizzato sul solo caso d’uso Gap Analysis per validare l’integrazione TCF ↔ FAB One Fiscale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55448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32004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E07B00"/>
                </a:solidFill>
                <a:latin typeface="Calibri"/>
              </a:rPr>
              <a:t>PREREQUISITO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10881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Il cliente TCF fornisce un set di documenti di esempio (RCM, policy interne, linee guida) e un set di domande &amp; risposte attese da usare come benchmark di valutazione del caso d’uso Gap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51460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" y="251460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2834640"/>
            <a:ext cx="5532120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2648" y="2651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600" b="1" dirty="0">
                <a:solidFill>
                  <a:srgbClr val="1F5FA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14600"/>
            <a:ext cx="44348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FFFFFF"/>
                </a:solidFill>
                <a:latin typeface="Calibri"/>
              </a:rPr>
              <a:t>Fase 1 – Setup Integrazione &amp; Agente Gap Analysis su FAB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29000"/>
            <a:ext cx="498348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Configurazione workspace FAB dedicata al progetto TCF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Creazione del solo agente Gap Analysis con system prompt dedicato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Predisposizione connettore TCF ↔ FAB (One ID Legal, JSON I/O, HTTPS · mTLS)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Caricamento del set di documenti di esempio sull’indice TCF privato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29200"/>
            <a:ext cx="4983480" cy="502920"/>
          </a:xfrm>
          <a:prstGeom prst="roundRect">
            <a:avLst>
              <a:gd name="adj" fmla="val 1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5029200"/>
            <a:ext cx="4617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950" b="1" dirty="0">
                <a:solidFill>
                  <a:srgbClr val="0F3B66"/>
                </a:solidFill>
                <a:latin typeface="Calibri"/>
              </a:rPr>
              <a:t>Output → API Gap Analysis attiva e richiamabile dal backend TCF sul set di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51460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1928" y="251460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81928" y="2834640"/>
            <a:ext cx="5532120" cy="45720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10528" y="2651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600" b="1" dirty="0">
                <a:solidFill>
                  <a:srgbClr val="0F8A3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514600"/>
            <a:ext cx="44348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FFFFFF"/>
                </a:solidFill>
                <a:latin typeface="Calibri"/>
              </a:rPr>
              <a:t>Fase 2 – Test end-to-end &amp; Confronto Risposte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29000"/>
            <a:ext cx="498348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•  Esecuzione backend del set di domande sul caso d’uso Gap Analysis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Generazione delle risposte combinando One Fiscale + documenti cliente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Confronto tra le risposte dell’agente e le risposte attese fornite dal cliente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Raccolta feedback strutturato: accuratezza, rilevanza, actionability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6248" y="5029200"/>
            <a:ext cx="4983480" cy="502920"/>
          </a:xfrm>
          <a:prstGeom prst="roundRect">
            <a:avLst>
              <a:gd name="adj" fmla="val 1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5029200"/>
            <a:ext cx="4617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950" b="1" dirty="0">
                <a:solidFill>
                  <a:srgbClr val="0F3B66"/>
                </a:solidFill>
                <a:latin typeface="Calibri"/>
              </a:rPr>
              <a:t>Output → Report di valutazione su Gap Analysis + roadmap di estensione agli altri 5 agenti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852160"/>
            <a:ext cx="11430000" cy="457200"/>
          </a:xfrm>
          <a:prstGeom prst="roundRect">
            <a:avLst>
              <a:gd name="adj" fmla="val 15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942260"/>
            <a:ext cx="11109960" cy="27699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Calibri"/>
              </a:rPr>
              <a:t>Durata complessiva:  8 settimane        Costo totale PoC: 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6 /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Modello Costi della Soluzione TCF + One Fiscale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Voci di costo identificate — valori economici da definire in fase di scoping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17320"/>
            <a:ext cx="114300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0F3B66"/>
                </a:solidFill>
                <a:latin typeface="Calibri"/>
              </a:rPr>
              <a:t>COSTI DI PROGETTO NTT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09928"/>
            <a:ext cx="11430000" cy="18288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" y="1810512"/>
            <a:ext cx="91440" cy="192024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Sviluppo TCF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0F3B66"/>
                </a:solidFill>
                <a:latin typeface="Calibri"/>
              </a:rPr>
              <a:t>€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Sviluppo del connettore, adattamento wizard/RCM, integrazione UI e orchestrazione lato TCF per i casi d’uso.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00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500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92168" y="1810512"/>
            <a:ext cx="91440" cy="19202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648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Sviluppo Legal (FAB)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648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1F5FA8"/>
                </a:solidFill>
                <a:latin typeface="Calibri"/>
              </a:rPr>
              <a:t>€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648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Configurazione workspace FAB, creazione degli agenti, ingegneria dei system prompt e allineamento indici.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596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2596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63128" y="1810512"/>
            <a:ext cx="91440" cy="192024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744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Manutenzione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744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0F8A3A"/>
                </a:solidFill>
                <a:latin typeface="Calibri"/>
              </a:rPr>
              <a:t>€ ? / anno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744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Manutenzione evolutiva, tuning dei prompt, aggiornamento dataset e monitoraggio qualità delle risposte.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886200"/>
            <a:ext cx="114300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E07B00"/>
                </a:solidFill>
                <a:latin typeface="Calibri"/>
              </a:rPr>
              <a:t>COSTI PIATTAFORMA FAB · WK LEGAL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78808"/>
            <a:ext cx="11430000" cy="18288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4048" y="4279392"/>
            <a:ext cx="553212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4048" y="4279392"/>
            <a:ext cx="228600" cy="169164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1208" y="4279392"/>
            <a:ext cx="91440" cy="169164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416552"/>
            <a:ext cx="4983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Costo Variabile per utilizzo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782312"/>
            <a:ext cx="4983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E07B00"/>
                </a:solidFill>
                <a:latin typeface="Calibri"/>
              </a:rPr>
              <a:t>€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376672"/>
            <a:ext cx="49834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Quota variabile in funzione del volume di chiamate agli agenti / token consumati.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279392"/>
            <a:ext cx="553212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81928" y="4279392"/>
            <a:ext cx="228600" cy="1691640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19088" y="4279392"/>
            <a:ext cx="91440" cy="16916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93408" y="4416552"/>
            <a:ext cx="4983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Costo fisso TCF Index FAB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782312"/>
            <a:ext cx="4983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1F5FA8"/>
                </a:solidFill>
                <a:latin typeface="Calibri"/>
              </a:rPr>
              <a:t>€ ? / mese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376672"/>
            <a:ext cx="49834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Costo fisso di piattaforma per l’indice TCF Cliente dedicato sulla workspace FAB.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080760"/>
            <a:ext cx="114300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Tutte le cifre sono da definire in fase di scoping contrattuale; escluso costi infrastrutturali Azure lato cliente.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7 /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194560"/>
            <a:ext cx="1143000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6000" b="1" dirty="0">
                <a:solidFill>
                  <a:srgbClr val="FFFFFF"/>
                </a:solidFill>
                <a:latin typeface="Calibri"/>
              </a:rP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566160"/>
            <a:ext cx="114300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2000" b="0" dirty="0">
                <a:solidFill>
                  <a:srgbClr val="FFFFFF"/>
                </a:solidFill>
                <a:latin typeface="Calibri"/>
              </a:rPr>
              <a:t>Integrazione One Fiscale su TCF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206240"/>
            <a:ext cx="114300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300" b="0" dirty="0">
                <a:solidFill>
                  <a:srgbClr val="E8F1FB"/>
                </a:solidFill>
                <a:latin typeface="Calibri"/>
              </a:rPr>
              <a:t>Wolters Kluwer · NTT DATA – Luglio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9224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E8F1FB"/>
                </a:solidFill>
                <a:latin typeface="Calibri"/>
              </a:rPr>
              <a:t>© 2026 NTT DATA, Inc.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608076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080760"/>
            <a:ext cx="10972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600" b="1" dirty="0">
                <a:solidFill>
                  <a:srgbClr val="FFFFFF"/>
                </a:solidFill>
                <a:latin typeface="Calibri"/>
              </a:rPr>
              <a:t>NTT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7192D6A3-1225-40F5-AF57-6D44B1DCB40E}"/>
    </a:ext>
  </a:extLst>
</a:theme>
</file>

<file path=ppt/theme/theme2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1DEA-153F-44F0-9AE9-2DDD60AC32F7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6ab99508-049d-47af-ae6f-c6d0631fa20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29ea8-5e12-4c1d-b57f-8ae13a0788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07DAC9CC306A43B0EEB8DE80339185" ma:contentTypeVersion="10" ma:contentTypeDescription="Create a new document." ma:contentTypeScope="" ma:versionID="e13820e62a67a6ab11a7e72533a671b6">
  <xsd:schema xmlns:xsd="http://www.w3.org/2001/XMLSchema" xmlns:xs="http://www.w3.org/2001/XMLSchema" xmlns:p="http://schemas.microsoft.com/office/2006/metadata/properties" xmlns:ns2="43d29ea8-5e12-4c1d-b57f-8ae13a0788f8" targetNamespace="http://schemas.microsoft.com/office/2006/metadata/properties" ma:root="true" ma:fieldsID="c1f83d0835f26e552975c7b2333498ec" ns2:_="">
    <xsd:import namespace="43d29ea8-5e12-4c1d-b57f-8ae13a0788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29ea8-5e12-4c1d-b57f-8ae13a0788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881030-3065-4398-A86F-D475B50CD5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FFB92-0B66-4B19-8B52-37427F84575C}">
  <ds:schemaRefs>
    <ds:schemaRef ds:uri="43d29ea8-5e12-4c1d-b57f-8ae13a0788f8"/>
    <ds:schemaRef ds:uri="e8cafdd4-4528-4476-ab16-00a5750ab81c"/>
    <ds:schemaRef ds:uri="f9e5c6ed-a414-487d-8643-813a0aafc4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13D2197-B98F-43AF-B5B8-F29623158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29ea8-5e12-4c1d-b57f-8ae13a078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DATA_Inc_PowerPoint_Template</Template>
  <TotalTime>0</TotalTime>
  <Words>1342</Words>
  <Application>Microsoft Office PowerPoint</Application>
  <PresentationFormat>Widescreen</PresentationFormat>
  <Paragraphs>168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Light Covers - Partial Images</vt:lpstr>
      <vt:lpstr>Light Body Slides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DATA, Inc. Corporate Overview</dc:title>
  <dc:subject>NTT DATA, Inc. Corporate Overview Presentation</dc:subject>
  <dc:creator>NTT DATA, Inc. Marketing</dc:creator>
  <cp:keywords>NTT DATA, Inc.;PowerPoint Template</cp:keywords>
  <dc:description>July 2025 Update</dc:description>
  <cp:lastModifiedBy>CESARE SALERNO</cp:lastModifiedBy>
  <cp:revision>1</cp:revision>
  <dcterms:created xsi:type="dcterms:W3CDTF">2024-11-25T12:27:17Z</dcterms:created>
  <dcterms:modified xsi:type="dcterms:W3CDTF">2026-07-28T07:23:22Z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0x0101005D07DAC9CC306A43B0EEB8DE80339185</vt:lpwstr>
  </property>
  <property fmtid="{D5CDD505-2E9C-101B-9397-08002B2CF9AE}" pid="3" name="MSIP_Label_4637e5cc-ed1f-4ad6-a881-35c0f1c6f3d8_Enabled">
    <vt:lpwstr>true</vt:lpwstr>
  </property>
  <property fmtid="{D5CDD505-2E9C-101B-9397-08002B2CF9AE}" pid="4" name="MSIP_Label_4637e5cc-ed1f-4ad6-a881-35c0f1c6f3d8_SetDate">
    <vt:lpwstr>2025-02-11T17:29:51Z</vt:lpwstr>
  </property>
  <property fmtid="{D5CDD505-2E9C-101B-9397-08002B2CF9AE}" pid="5" name="MSIP_Label_4637e5cc-ed1f-4ad6-a881-35c0f1c6f3d8_Method">
    <vt:lpwstr>Standard</vt:lpwstr>
  </property>
  <property fmtid="{D5CDD505-2E9C-101B-9397-08002B2CF9AE}" pid="6" name="MSIP_Label_4637e5cc-ed1f-4ad6-a881-35c0f1c6f3d8_Name">
    <vt:lpwstr>General</vt:lpwstr>
  </property>
  <property fmtid="{D5CDD505-2E9C-101B-9397-08002B2CF9AE}" pid="7" name="MSIP_Label_4637e5cc-ed1f-4ad6-a881-35c0f1c6f3d8_SiteId">
    <vt:lpwstr>e3cf3c98-a978-465f-8254-9d541eeea73c</vt:lpwstr>
  </property>
  <property fmtid="{D5CDD505-2E9C-101B-9397-08002B2CF9AE}" pid="8" name="MSIP_Label_4637e5cc-ed1f-4ad6-a881-35c0f1c6f3d8_ActionId">
    <vt:lpwstr>dba746bd-02fe-4b4d-bc89-8a3bf1054ea7</vt:lpwstr>
  </property>
  <property fmtid="{D5CDD505-2E9C-101B-9397-08002B2CF9AE}" pid="9" name="MSIP_Label_4637e5cc-ed1f-4ad6-a881-35c0f1c6f3d8_ContentBits">
    <vt:lpwstr>2</vt:lpwstr>
  </property>
  <property fmtid="{D5CDD505-2E9C-101B-9397-08002B2CF9AE}" pid="10" name="ClassificationContentMarkingFooterLocations">
    <vt:lpwstr>Light Covers - Partial Images:7\Light Covers - No Image:7\Light Body Slides:8\Light Body Slides - Small Title, Large Subtitle:8\Light Dividers:6\Light Blank Slides:4\Dark Covers - Partial Images:7\Dark Covers - No Image:5\Dark Body Slides:9\Dark Body Slides - Small Title, Large Subtitle:9\Dark Dividers:8\Dark Blank Slides:4\1_Back Covers:3</vt:lpwstr>
  </property>
  <property fmtid="{D5CDD505-2E9C-101B-9397-08002B2CF9AE}" pid="11" name="ClassificationContentMarkingFooterText">
    <vt:lpwstr>Sensitivity Label: General</vt:lpwstr>
  </property>
  <property fmtid="{D5CDD505-2E9C-101B-9397-08002B2CF9AE}" pid="12" name="MediaServiceImageTags">
    <vt:lpwstr/>
  </property>
  <property fmtid="{D5CDD505-2E9C-101B-9397-08002B2CF9AE}" pid="13" name="T2KCategory">
    <vt:lpwstr>3;#Brand|832b67cf-1f4d-4e03-97fa-b9a01cdb780b</vt:lpwstr>
  </property>
  <property fmtid="{D5CDD505-2E9C-101B-9397-08002B2CF9AE}" pid="14" name="TogoLocations">
    <vt:lpwstr/>
  </property>
  <property fmtid="{D5CDD505-2E9C-101B-9397-08002B2CF9AE}" pid="15" name="a01feae194714aa882aedc460c3c0dc2">
    <vt:lpwstr/>
  </property>
  <property fmtid="{D5CDD505-2E9C-101B-9397-08002B2CF9AE}" pid="16" name="TogoDepartments">
    <vt:lpwstr/>
  </property>
  <property fmtid="{D5CDD505-2E9C-101B-9397-08002B2CF9AE}" pid="17" name="TogoDocumentsCategory">
    <vt:lpwstr/>
  </property>
  <property fmtid="{D5CDD505-2E9C-101B-9397-08002B2CF9AE}" pid="18" name="TogoTags">
    <vt:lpwstr/>
  </property>
  <property fmtid="{D5CDD505-2E9C-101B-9397-08002B2CF9AE}" pid="19" name="Order">
    <vt:lpwstr>7755500.00000000</vt:lpwstr>
  </property>
  <property fmtid="{D5CDD505-2E9C-101B-9397-08002B2CF9AE}" pid="20" name="ComplianceAssetId">
    <vt:lpwstr/>
  </property>
  <property fmtid="{D5CDD505-2E9C-101B-9397-08002B2CF9AE}" pid="21" name="_ExtendedDescription">
    <vt:lpwstr/>
  </property>
  <property fmtid="{D5CDD505-2E9C-101B-9397-08002B2CF9AE}" pid="22" name="TriggerFlowInfo">
    <vt:lpwstr/>
  </property>
</Properties>
</file>